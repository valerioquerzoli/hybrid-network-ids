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438"/>
                </a:solidFill>
                <a:latin typeface="Georgia"/>
              </a:defRPr>
            </a:pPr>
            <a:r>
              <a:rPr sz="1300" b="0" i="0" u="none" strike="noStrike">
                <a:solidFill>
                  <a:srgbClr val="0B2438"/>
                </a:solidFill>
                <a:latin typeface="Georgia"/>
              </a:rPr>
              <a:t>Recall per famiglia esclusa dal training (test set)</a:t>
            </a:r>
          </a:p>
        </c:rich>
      </c:tx>
      <c:layout/>
      <c:overlay val="0"/>
    </c:title>
    <c:autoTitleDeleted val="0"/>
    <c:plotArea>
      <c:layout/>
      <c:barChart>
        <c:barDir val="bar"/>
        <c:grouping val="clustered"/>
        <c:varyColors val="0"/>
        <c:ser>
          <c:idx val="0"/>
          <c:order val="0"/>
          <c:tx>
            <c:strRef>
              <c:f>Sheet1!$B$1</c:f>
              <c:strCache>
                <c:ptCount val="1"/>
                <c:pt idx="0">
                  <c:v>XGBoost (famiglia mai vista)</c:v>
                </c:pt>
              </c:strCache>
            </c:strRef>
          </c:tx>
          <c:spPr>
            <a:solidFill>
              <a:srgbClr val="C98A3E"/>
            </a:solidFill>
            <a:effectLst/>
          </c:spPr>
          <c:invertIfNegative val="0"/>
          <c:dLbls>
            <c:numFmt formatCode="0.0%" sourceLinked="0"/>
            <c:txPr>
              <a:bodyPr/>
              <a:lstStyle/>
              <a:p>
                <a:pPr>
                  <a:defRPr b="0" i="0" strike="noStrike" sz="900" u="none">
                    <a:solidFill>
                      <a:srgbClr val="0B2438"/>
                    </a:solidFill>
                    <a:latin typeface="Arial"/>
                  </a:defRPr>
                </a:pPr>
              </a:p>
            </c:txPr>
            <c:showLegendKey val="0"/>
            <c:showVal val="1"/>
            <c:showCatName val="0"/>
            <c:showSerName val="0"/>
            <c:showPercent val="0"/>
            <c:showBubbleSize val="0"/>
            <c:showLeaderLines val="0"/>
          </c:dLbls>
          <c:cat>
            <c:strRef>
              <c:f>Sheet1!$A$2:$A$8</c:f>
              <c:strCache>
                <c:ptCount val="7"/>
                <c:pt idx="0">
                  <c:v>Brute force (1.829)</c:v>
                </c:pt>
                <c:pt idx="1">
                  <c:v>PortScan (391)</c:v>
                </c:pt>
                <c:pt idx="2">
                  <c:v>Web attack (428)</c:v>
                </c:pt>
                <c:pt idx="3">
                  <c:v>Bot (287)</c:v>
                </c:pt>
                <c:pt idx="4">
                  <c:v>Infiltration (7)*</c:v>
                </c:pt>
                <c:pt idx="5">
                  <c:v>Heartbleed (1)*</c:v>
                </c:pt>
                <c:pt idx="6">
                  <c:v>DoS (64.317)</c:v>
                </c:pt>
              </c:strCache>
            </c:strRef>
          </c:cat>
          <c:val>
            <c:numRef>
              <c:f>Sheet1!$B$2:$B$8</c:f>
              <c:numCache>
                <c:formatCode>0.0%</c:formatCode>
                <c:ptCount val="7"/>
                <c:pt idx="0">
                  <c:v>0.003</c:v>
                </c:pt>
                <c:pt idx="1">
                  <c:v>0.128</c:v>
                </c:pt>
                <c:pt idx="2">
                  <c:v>0.617</c:v>
                </c:pt>
                <c:pt idx="3">
                  <c:v>0.0</c:v>
                </c:pt>
                <c:pt idx="4">
                  <c:v>0.0</c:v>
                </c:pt>
                <c:pt idx="5">
                  <c:v>0.0</c:v>
                </c:pt>
                <c:pt idx="6">
                  <c:v>0.181</c:v>
                </c:pt>
              </c:numCache>
            </c:numRef>
          </c:val>
        </c:ser>
        <c:ser>
          <c:idx val="1"/>
          <c:order val="1"/>
          <c:tx>
            <c:strRef>
              <c:f>Sheet1!$C$1</c:f>
              <c:strCache>
                <c:ptCount val="1"/>
                <c:pt idx="0">
                  <c:v>XGBoost + autoencoder</c:v>
                </c:pt>
              </c:strCache>
            </c:strRef>
          </c:tx>
          <c:spPr>
            <a:solidFill>
              <a:srgbClr val="0C649C"/>
            </a:solidFill>
            <a:effectLst/>
          </c:spPr>
          <c:invertIfNegative val="0"/>
          <c:dLbls>
            <c:numFmt formatCode="0.0%" sourceLinked="0"/>
            <c:txPr>
              <a:bodyPr/>
              <a:lstStyle/>
              <a:p>
                <a:pPr>
                  <a:defRPr b="0" i="0" strike="noStrike" sz="900" u="none">
                    <a:solidFill>
                      <a:srgbClr val="0B2438"/>
                    </a:solidFill>
                    <a:latin typeface="Arial"/>
                  </a:defRPr>
                </a:pPr>
              </a:p>
            </c:txPr>
            <c:showLegendKey val="0"/>
            <c:showVal val="1"/>
            <c:showCatName val="0"/>
            <c:showSerName val="0"/>
            <c:showPercent val="0"/>
            <c:showBubbleSize val="0"/>
            <c:showLeaderLines val="0"/>
          </c:dLbls>
          <c:cat>
            <c:strRef>
              <c:f>Sheet1!$A$2:$A$8</c:f>
              <c:strCache>
                <c:ptCount val="7"/>
                <c:pt idx="0">
                  <c:v>Brute force (1.829)</c:v>
                </c:pt>
                <c:pt idx="1">
                  <c:v>PortScan (391)</c:v>
                </c:pt>
                <c:pt idx="2">
                  <c:v>Web attack (428)</c:v>
                </c:pt>
                <c:pt idx="3">
                  <c:v>Bot (287)</c:v>
                </c:pt>
                <c:pt idx="4">
                  <c:v>Infiltration (7)*</c:v>
                </c:pt>
                <c:pt idx="5">
                  <c:v>Heartbleed (1)*</c:v>
                </c:pt>
                <c:pt idx="6">
                  <c:v>DoS (64.317)</c:v>
                </c:pt>
              </c:strCache>
            </c:strRef>
          </c:cat>
          <c:val>
            <c:numRef>
              <c:f>Sheet1!$C$2:$C$8</c:f>
              <c:numCache>
                <c:formatCode>0.0%</c:formatCode>
                <c:ptCount val="7"/>
                <c:pt idx="0">
                  <c:v>0.004</c:v>
                </c:pt>
                <c:pt idx="1">
                  <c:v>0.128</c:v>
                </c:pt>
                <c:pt idx="2">
                  <c:v>0.617</c:v>
                </c:pt>
                <c:pt idx="3">
                  <c:v>0.038</c:v>
                </c:pt>
                <c:pt idx="4">
                  <c:v>0.429</c:v>
                </c:pt>
                <c:pt idx="5">
                  <c:v>1.0</c:v>
                </c:pt>
                <c:pt idx="6">
                  <c:v>0.747</c:v>
                </c:pt>
              </c:numCache>
            </c:numRef>
          </c:val>
        </c:ser>
        <c:dLbls>
          <c:numFmt formatCode="0.0%" sourceLinked="0"/>
          <c:txPr>
            <a:bodyPr/>
            <a:lstStyle/>
            <a:p>
              <a:pPr>
                <a:defRPr b="0" i="0" strike="noStrike" sz="900" u="none">
                  <a:solidFill>
                    <a:srgbClr val="0B2438"/>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0B2438"/>
                </a:solidFill>
                <a:latin typeface="Segoe UI"/>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6350" cap="flat">
              <a:solidFill>
                <a:srgbClr val="D6E3EC"/>
              </a:solidFill>
              <a:prstDash val="solid"/>
              <a:round/>
            </a:ln>
          </c:spPr>
        </c:majorGridlines>
        <c:numFmt formatCode="0%" sourceLinked="0"/>
        <c:majorTickMark val="out"/>
        <c:minorTickMark val="none"/>
        <c:tickLblPos val="low"/>
        <c:spPr>
          <a:ln w="12700" cap="flat">
            <a:noFill/>
            <a:prstDash val="solid"/>
            <a:round/>
          </a:ln>
        </c:spPr>
        <c:txPr>
          <a:bodyPr/>
          <a:lstStyle/>
          <a:p>
            <a:pPr>
              <a:defRPr sz="900" b="0" i="0" u="none" strike="noStrike">
                <a:solidFill>
                  <a:srgbClr val="84A0B4"/>
                </a:solidFill>
                <a:latin typeface="Arial"/>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solidFill>
                <a:srgbClr val="4A6478"/>
              </a:solidFill>
              <a:latin typeface="Segoe UI"/>
              <a:cs typeface="Segoe U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un IDS, un sistema che riconosce attacchi guardando il traffico di rete.
Il problema di partenza: un classificatore supervisionato riconosce solo gli attacchi che ha già visto in addestramento. Un attacco nuovo, uno zero-day, rischia di passare in silenzio.
Obiettivi: primo, riconoscere bene gli attacchi noti. Secondo, aggiungere un livello che segnali anche quelli mai visti. Terzo, misurare onestamente quanto aiuta questo secondo livello, anche dove non funziona.
Non voglio dimostrare che una rete neurale batte gli alberi: voglio capire dove aggiunge sicurezza.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dati sono CIC-IDS2017: traffico registrato in una rete di laboratorio, con attacchi noti come DoS, scansioni, brute force, bot e web attack.
Il traffico non viene letto pacchetto per pacchetto: CICFlowMeter raggruppa i pacchetti in flussi, cioè conversazioni, e per ognuno calcola 77 numeri, mai il contenuto. Le famiglie principali: tempi, come durata e intervalli tra pacchetti; volumi e dimensioni; velocità, cioè byte e pacchetti al secondo; flag TCP.
Prima di allenare ho pulito due difetti reali: 2.143 etichette con encoding corrotto, normalizzate, e 2.843 righe con valori negativi impossibili, rimosse.
Poi split 60/20/20: 1.386.580 flussi di training, 462.193 di validazione, 462.194 di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 usato tre modelli.
Random Forest: tanti alberi di decisione che votano. Nel progetto è la baseline di confronto.
XGBoost: alberi in sequenza, ognuno corregge gli errori dei precedenti. È il classificatore della soluzione finale.
Autoencoder: rete neurale che comprime le 77 feature fino a 16 numeri e poi le ricostruisce, allenata solo su traffico normale. Se un flusso si ricostruisce male, è anomalo. Ne uso due: uno sulle feature grezze, uno sulle feature in scala logaritmica; il punteggio finale è la media dei due errori.
Differenza chiave: i primi due imparano gli attacchi, l'autoencoder impara solo il normale.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soluzione è una cascata, come nella funzione pipeline_ibrida del notebook.
Ogni flusso passa prima da XGBoost, allenato a distinguere attacco da normale. Se dice attacco, parte l'allarme. Se dice normale, il flusso passa all'autoencoder: se l'errore di ricostruzione supera la soglia, parte un allarme di anomalia da verificare.
La soglia è il 99° percentile dell'errore sul traffico normale di validazione, quindi circa l'1% di falsi allarmi.
In una rete reale il sistema girerebbe su un server separato, alimentato da una copia del traffico, senza rallentare la rete. Nel progetto però l'analisi è offline, su flussi già registrati: CIC-IDS2017 e la cattura al router della simulazione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test: escludo dal training un'intera famiglia di attacchi e poi la cerco nel test set, che non ho mai usato per scegliere niente: le soglie le ho decise sul validation. È così che simulo uno zero-day.
Numero centrale: con tutta la famiglia DoS esclusa, sui 64.317 casi del test XGBoost da solo ne riconosce il 18,1%. Con l'autoencoder in cascata la pipeline arriva al 74,7%, al costo di 3.944 falsi allarmi in più su 394.934 flussi normali, cioè l'1%: la soglia scelta sul validation tiene anche sul test.
Ho ripetuto l'allenamento degli autoencoder con 5 seed diversi: la recall sul DoS resta 74,1% più o meno 0,5 punti, quindi il risultato è stabile.
Il grafico mostra tutte le famiglie: il guadagno è sul DoS. Infiltration e Heartbleed hanno 7 casi e 1 caso, quindi sono solo indicative. Su Bot, brute force, PortScan e web attack l'autoencoder non aggiunge quasi nulla.
Controllo: se XGBoost ha visto tutte le classi, l'autoencoder porta la recall solo da 97,9% a 98,4%. Serve per lo zero-day.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bilancio.
Pro: recupera attacchi mai visti quando sono volumetrici, come le DoS lente; l'autoencoder è leggero, sulla GPU del mio PC valuta circa 94 milioni di flussi al secondo, anche se l'estrazione delle feature non l'ho misurata; la soglia si regola in base a quanti allarmi si possono gestire.
Contro: circa l'1% di falsi allarmi in più, 3.944 su quasi 395 mila flussi normali del test; l'autoencoder non aggiunge quasi nulla su scan, brute force e bot; va allenato sulla rete dove si usa.
Difficoltà: bug nel dataset, un bug nella versione Python di CICFlowMeter che contava due volte il primo pacchetto, una cattura duplicata nella simulazione, e classi molto sbilanciate.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IDS di rete come questo vede il traffico da fuori: tempi, dimensioni, flag. Non vede il contenuto dei pacchetti, quindi attacchi che stanno solo nel payload sono fuori portata, a maggior ragione se il traffico è cifrato.
Un EDR, come CrowdStrike, SentinelOne o Defender, mette un agente su ogni host e vede processi e payload decifrato.
Ho anche costruito una simulazione Docker di una rete aziendale: 31 container, 28 episodi d'attacco, 39.781 flussi, catturati sul router. È un buon banco di prova, ma non è traffico reale: 14 feature restano costanti.
E anche tra due dataset diversi, da CIC-2017 a CIC-2018, gli autoencoder allenati sul 2017, con le loro soglie, segnalano come anomalo il 37% del traffico normale del 2018: vanno allenati sulla rete dove si usano.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cose da dire chiaramente sugli zero-day. L'autoencoder non li risolve, li rende visibili: diventano un allarme da verificare. E rileva anomalie, non attacchi: un servizio legittimo mai visto farebbe scattare lo stesso allarme.
Limiti: i modelli non si trasferiscono bene tra reti; ogni flusso è valutato da solo, quindi non vedo pattern nel tempo come il beaconing di un bot; lavoro solo a livello di rete.
Conclusione: un secondo livello non supervisionato non sostituisce il classificatore. Recupera minacce specifiche che il classificatore manca quando non le ha mai viste, a un costo di falsi allarmi misurato. Grazie.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chart" Target="../charts/chart1.xm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Image 0" descr="Logo Unimore">    </p:cNvPr>
          <p:cNvPicPr>
            <a:picLocks noChangeAspect="1"/>
          </p:cNvPicPr>
          <p:nvPr/>
        </p:nvPicPr>
        <p:blipFill>
          <a:blip r:embed="rId2"/>
          <a:stretch>
            <a:fillRect/>
          </a:stretch>
        </p:blipFill>
        <p:spPr>
          <a:xfrm>
            <a:off x="11023092" y="274320"/>
            <a:ext cx="566014" cy="640080"/>
          </a:xfrm>
          <a:prstGeom prst="rect">
            <a:avLst/>
          </a:prstGeom>
        </p:spPr>
      </p:pic>
      <p:sp>
        <p:nvSpPr>
          <p:cNvPr id="6" name="Text 2"/>
          <p:cNvSpPr/>
          <p:nvPr/>
        </p:nvSpPr>
        <p:spPr>
          <a:xfrm>
            <a:off x="4765396" y="384048"/>
            <a:ext cx="2660904"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PROJECT-WORK · CORSO AI/CV</a:t>
            </a:r>
            <a:endParaRPr lang="en-US" sz="1050" dirty="0"/>
          </a:p>
        </p:txBody>
      </p:sp>
      <p:sp>
        <p:nvSpPr>
          <p:cNvPr id="7" name="Text 3"/>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1000" dirty="0">
                <a:solidFill>
                  <a:srgbClr val="BCD1DE"/>
                </a:solidFill>
                <a:latin typeface="Segoe UI" pitchFamily="34" charset="0"/>
                <a:ea typeface="Segoe UI" pitchFamily="34" charset="-122"/>
                <a:cs typeface="Segoe UI" pitchFamily="34" charset="-120"/>
              </a:rPr>
              <a:t>01 / 08</a:t>
            </a:r>
            <a:endParaRPr lang="en-US" sz="1000" dirty="0"/>
          </a:p>
        </p:txBody>
      </p:sp>
      <p:sp>
        <p:nvSpPr>
          <p:cNvPr id="8" name="Text 4"/>
          <p:cNvSpPr txBox="1"/>
          <p:nvPr/>
        </p:nvSpPr>
        <p:spPr>
          <a:xfrm>
            <a:off x="822960" y="1005840"/>
            <a:ext cx="10545775" cy="1143000"/>
          </a:xfrm>
          <a:prstGeom prst="rect">
            <a:avLst/>
          </a:prstGeom>
          <a:noFill/>
          <a:ln/>
        </p:spPr>
        <p:txBody>
          <a:bodyPr wrap="square" lIns="0" tIns="0" rIns="0" bIns="0" rtlCol="0" anchor="ctr"/>
          <a:lstStyle/>
          <a:p>
            <a:pPr algn="ctr" indent="0" marL="0">
              <a:buNone/>
            </a:pPr>
            <a:r>
              <a:rPr lang="en-US" sz="5000" dirty="0">
                <a:solidFill>
                  <a:srgbClr val="FFFFFF"/>
                </a:solidFill>
                <a:latin typeface="Georgia" pitchFamily="34" charset="0"/>
                <a:ea typeface="Georgia" pitchFamily="34" charset="-122"/>
                <a:cs typeface="Georgia" pitchFamily="34" charset="-120"/>
              </a:rPr>
              <a:t>Un IDS </a:t>
            </a:r>
            <a:pPr algn="ctr" indent="0" marL="0">
              <a:buNone/>
            </a:pPr>
            <a:r>
              <a:rPr lang="en-US" sz="5000" i="1" dirty="0">
                <a:solidFill>
                  <a:srgbClr val="BCD1DE"/>
                </a:solidFill>
                <a:latin typeface="Georgia" pitchFamily="34" charset="0"/>
                <a:ea typeface="Georgia" pitchFamily="34" charset="-122"/>
                <a:cs typeface="Georgia" pitchFamily="34" charset="-120"/>
              </a:rPr>
              <a:t>ibrido</a:t>
            </a:r>
            <a:pPr algn="ctr" indent="0" marL="0">
              <a:buNone/>
            </a:pPr>
            <a:r>
              <a:rPr lang="en-US" sz="5000" dirty="0">
                <a:solidFill>
                  <a:srgbClr val="FFFFFF"/>
                </a:solidFill>
                <a:latin typeface="Georgia" pitchFamily="34" charset="0"/>
                <a:ea typeface="Georgia" pitchFamily="34" charset="-122"/>
                <a:cs typeface="Georgia" pitchFamily="34" charset="-120"/>
              </a:rPr>
              <a:t> per il traffico di rete</a:t>
            </a:r>
            <a:endParaRPr lang="en-US" sz="5000" dirty="0"/>
          </a:p>
        </p:txBody>
      </p:sp>
      <p:sp>
        <p:nvSpPr>
          <p:cNvPr id="9" name="Text 5"/>
          <p:cNvSpPr txBox="1"/>
          <p:nvPr/>
        </p:nvSpPr>
        <p:spPr>
          <a:xfrm>
            <a:off x="822960" y="2240280"/>
            <a:ext cx="10545775" cy="411480"/>
          </a:xfrm>
          <a:prstGeom prst="rect">
            <a:avLst/>
          </a:prstGeom>
          <a:noFill/>
          <a:ln/>
        </p:spPr>
        <p:txBody>
          <a:bodyPr wrap="square" lIns="0" tIns="0" rIns="0" bIns="0" rtlCol="0" anchor="t"/>
          <a:lstStyle/>
          <a:p>
            <a:pPr algn="ctr" indent="0" marL="0">
              <a:buNone/>
            </a:pPr>
            <a:r>
              <a:rPr lang="en-US" sz="2000" dirty="0">
                <a:solidFill>
                  <a:srgbClr val="BCD1DE"/>
                </a:solidFill>
                <a:latin typeface="Segoe UI Light" pitchFamily="34" charset="0"/>
                <a:ea typeface="Segoe UI Light" pitchFamily="34" charset="-122"/>
                <a:cs typeface="Segoe UI Light" pitchFamily="34" charset="-120"/>
              </a:rPr>
              <a:t>Classificazione supervisionata + autoencoder</a:t>
            </a:r>
            <a:endParaRPr lang="en-US" sz="2000" dirty="0"/>
          </a:p>
        </p:txBody>
      </p:sp>
      <p:sp>
        <p:nvSpPr>
          <p:cNvPr id="10" name="Text 6"/>
          <p:cNvSpPr txBox="1"/>
          <p:nvPr/>
        </p:nvSpPr>
        <p:spPr>
          <a:xfrm>
            <a:off x="822960" y="3063240"/>
            <a:ext cx="10545775" cy="237744"/>
          </a:xfrm>
          <a:prstGeom prst="rect">
            <a:avLst/>
          </a:prstGeom>
          <a:noFill/>
          <a:ln/>
        </p:spPr>
        <p:txBody>
          <a:bodyPr wrap="square" lIns="0" tIns="0" rIns="0" bIns="0" rtlCol="0" anchor="t"/>
          <a:lstStyle/>
          <a:p>
            <a:pPr algn="ctr" indent="0" marL="0">
              <a:buNone/>
            </a:pPr>
            <a:r>
              <a:rPr lang="en-US" sz="1050" spc="150" kern="0" dirty="0">
                <a:solidFill>
                  <a:srgbClr val="84B4CC"/>
                </a:solidFill>
                <a:latin typeface="Segoe UI Semibold" pitchFamily="34" charset="0"/>
                <a:ea typeface="Segoe UI Semibold" pitchFamily="34" charset="-122"/>
                <a:cs typeface="Segoe UI Semibold" pitchFamily="34" charset="-120"/>
              </a:rPr>
              <a:t>IL PROBLEMA</a:t>
            </a:r>
            <a:endParaRPr lang="en-US" sz="1050" dirty="0"/>
          </a:p>
        </p:txBody>
      </p:sp>
      <p:sp>
        <p:nvSpPr>
          <p:cNvPr id="11" name="Text 7"/>
          <p:cNvSpPr txBox="1"/>
          <p:nvPr/>
        </p:nvSpPr>
        <p:spPr>
          <a:xfrm>
            <a:off x="822960" y="3337560"/>
            <a:ext cx="10545775" cy="457200"/>
          </a:xfrm>
          <a:prstGeom prst="rect">
            <a:avLst/>
          </a:prstGeom>
          <a:noFill/>
          <a:ln/>
        </p:spPr>
        <p:txBody>
          <a:bodyPr wrap="square" lIns="0" tIns="0" rIns="0" bIns="0" rtlCol="0" anchor="t"/>
          <a:lstStyle/>
          <a:p>
            <a:pPr algn="ctr" indent="0" marL="0">
              <a:buNone/>
            </a:pPr>
            <a:r>
              <a:rPr lang="en-US" sz="2200" i="1" dirty="0">
                <a:solidFill>
                  <a:srgbClr val="FFFFFF"/>
                </a:solidFill>
                <a:latin typeface="Georgia" pitchFamily="34" charset="0"/>
                <a:ea typeface="Georgia" pitchFamily="34" charset="-122"/>
                <a:cs typeface="Georgia" pitchFamily="34" charset="-120"/>
              </a:rPr>
              <a:t>Un classificatore riconosce solo gli attacchi che ha già visto.</a:t>
            </a:r>
            <a:endParaRPr lang="en-US" sz="2200" dirty="0"/>
          </a:p>
        </p:txBody>
      </p:sp>
      <p:sp>
        <p:nvSpPr>
          <p:cNvPr id="12" name="Text 8"/>
          <p:cNvSpPr txBox="1"/>
          <p:nvPr/>
        </p:nvSpPr>
        <p:spPr>
          <a:xfrm>
            <a:off x="822960" y="4251960"/>
            <a:ext cx="10545775" cy="237744"/>
          </a:xfrm>
          <a:prstGeom prst="rect">
            <a:avLst/>
          </a:prstGeom>
          <a:noFill/>
          <a:ln/>
        </p:spPr>
        <p:txBody>
          <a:bodyPr wrap="square" lIns="0" tIns="0" rIns="0" bIns="0" rtlCol="0" anchor="t"/>
          <a:lstStyle/>
          <a:p>
            <a:pPr algn="ctr" indent="0" marL="0">
              <a:buNone/>
            </a:pPr>
            <a:r>
              <a:rPr lang="en-US" sz="1050" spc="150" kern="0" dirty="0">
                <a:solidFill>
                  <a:srgbClr val="84B4CC"/>
                </a:solidFill>
                <a:latin typeface="Segoe UI Semibold" pitchFamily="34" charset="0"/>
                <a:ea typeface="Segoe UI Semibold" pitchFamily="34" charset="-122"/>
                <a:cs typeface="Segoe UI Semibold" pitchFamily="34" charset="-120"/>
              </a:rPr>
              <a:t>OBIETTIVI</a:t>
            </a:r>
            <a:endParaRPr lang="en-US" sz="1050" dirty="0"/>
          </a:p>
        </p:txBody>
      </p:sp>
      <p:sp>
        <p:nvSpPr>
          <p:cNvPr id="13" name="Shape 9"/>
          <p:cNvSpPr/>
          <p:nvPr/>
        </p:nvSpPr>
        <p:spPr>
          <a:xfrm>
            <a:off x="952348" y="4572000"/>
            <a:ext cx="3246120" cy="1325880"/>
          </a:xfrm>
          <a:prstGeom prst="roundRect">
            <a:avLst>
              <a:gd name="adj" fmla="val 13793"/>
            </a:avLst>
          </a:prstGeom>
          <a:solidFill>
            <a:srgbClr val="FFFFFF">
              <a:alpha val="14000"/>
            </a:srgbClr>
          </a:solidFill>
          <a:ln w="9525">
            <a:solidFill>
              <a:srgbClr val="FFFFFF">
                <a:alpha val="45000"/>
              </a:srgbClr>
            </a:solidFill>
            <a:prstDash val="solid"/>
          </a:ln>
        </p:spPr>
      </p:sp>
      <p:sp>
        <p:nvSpPr>
          <p:cNvPr id="14" name="Text 10"/>
          <p:cNvSpPr txBox="1"/>
          <p:nvPr/>
        </p:nvSpPr>
        <p:spPr>
          <a:xfrm>
            <a:off x="1226668" y="4572000"/>
            <a:ext cx="548640" cy="1325880"/>
          </a:xfrm>
          <a:prstGeom prst="rect">
            <a:avLst/>
          </a:prstGeom>
          <a:noFill/>
          <a:ln/>
        </p:spPr>
        <p:txBody>
          <a:bodyPr wrap="square" lIns="0" tIns="0" rIns="0" bIns="0" rtlCol="0" anchor="ctr"/>
          <a:lstStyle/>
          <a:p>
            <a:pPr indent="0" marL="0">
              <a:buNone/>
            </a:pPr>
            <a:r>
              <a:rPr lang="en-US" sz="3400" i="1" dirty="0">
                <a:solidFill>
                  <a:srgbClr val="BCD1DE"/>
                </a:solidFill>
                <a:latin typeface="Georgia" pitchFamily="34" charset="0"/>
                <a:ea typeface="Georgia" pitchFamily="34" charset="-122"/>
                <a:cs typeface="Georgia" pitchFamily="34" charset="-120"/>
              </a:rPr>
              <a:t>1</a:t>
            </a:r>
            <a:endParaRPr lang="en-US" sz="3400" dirty="0"/>
          </a:p>
        </p:txBody>
      </p:sp>
      <p:sp>
        <p:nvSpPr>
          <p:cNvPr id="15" name="Text 11"/>
          <p:cNvSpPr txBox="1"/>
          <p:nvPr/>
        </p:nvSpPr>
        <p:spPr>
          <a:xfrm>
            <a:off x="1821028" y="4572000"/>
            <a:ext cx="2148840" cy="1325880"/>
          </a:xfrm>
          <a:prstGeom prst="rect">
            <a:avLst/>
          </a:prstGeom>
          <a:noFill/>
          <a:ln/>
        </p:spPr>
        <p:txBody>
          <a:bodyPr wrap="square" lIns="0" tIns="0" rIns="0" bIns="0" rtlCol="0" anchor="ct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Riconoscere gli attacchi noti</a:t>
            </a:r>
            <a:endParaRPr lang="en-US" sz="1400" dirty="0"/>
          </a:p>
        </p:txBody>
      </p:sp>
      <p:sp>
        <p:nvSpPr>
          <p:cNvPr id="16" name="Shape 12"/>
          <p:cNvSpPr/>
          <p:nvPr/>
        </p:nvSpPr>
        <p:spPr>
          <a:xfrm>
            <a:off x="4472788" y="4572000"/>
            <a:ext cx="3246120" cy="1325880"/>
          </a:xfrm>
          <a:prstGeom prst="roundRect">
            <a:avLst>
              <a:gd name="adj" fmla="val 13793"/>
            </a:avLst>
          </a:prstGeom>
          <a:solidFill>
            <a:srgbClr val="FFFFFF">
              <a:alpha val="14000"/>
            </a:srgbClr>
          </a:solidFill>
          <a:ln w="9525">
            <a:solidFill>
              <a:srgbClr val="FFFFFF">
                <a:alpha val="45000"/>
              </a:srgbClr>
            </a:solidFill>
            <a:prstDash val="solid"/>
          </a:ln>
        </p:spPr>
      </p:sp>
      <p:sp>
        <p:nvSpPr>
          <p:cNvPr id="17" name="Text 13"/>
          <p:cNvSpPr txBox="1"/>
          <p:nvPr/>
        </p:nvSpPr>
        <p:spPr>
          <a:xfrm>
            <a:off x="4747108" y="4572000"/>
            <a:ext cx="548640" cy="1325880"/>
          </a:xfrm>
          <a:prstGeom prst="rect">
            <a:avLst/>
          </a:prstGeom>
          <a:noFill/>
          <a:ln/>
        </p:spPr>
        <p:txBody>
          <a:bodyPr wrap="square" lIns="0" tIns="0" rIns="0" bIns="0" rtlCol="0" anchor="ctr"/>
          <a:lstStyle/>
          <a:p>
            <a:pPr indent="0" marL="0">
              <a:buNone/>
            </a:pPr>
            <a:r>
              <a:rPr lang="en-US" sz="3400" i="1" dirty="0">
                <a:solidFill>
                  <a:srgbClr val="BCD1DE"/>
                </a:solidFill>
                <a:latin typeface="Georgia" pitchFamily="34" charset="0"/>
                <a:ea typeface="Georgia" pitchFamily="34" charset="-122"/>
                <a:cs typeface="Georgia" pitchFamily="34" charset="-120"/>
              </a:rPr>
              <a:t>2</a:t>
            </a:r>
            <a:endParaRPr lang="en-US" sz="3400" dirty="0"/>
          </a:p>
        </p:txBody>
      </p:sp>
      <p:sp>
        <p:nvSpPr>
          <p:cNvPr id="18" name="Text 14"/>
          <p:cNvSpPr txBox="1"/>
          <p:nvPr/>
        </p:nvSpPr>
        <p:spPr>
          <a:xfrm>
            <a:off x="5341468" y="4572000"/>
            <a:ext cx="2148840" cy="1325880"/>
          </a:xfrm>
          <a:prstGeom prst="rect">
            <a:avLst/>
          </a:prstGeom>
          <a:noFill/>
          <a:ln/>
        </p:spPr>
        <p:txBody>
          <a:bodyPr wrap="square" lIns="0" tIns="0" rIns="0" bIns="0" rtlCol="0" anchor="ct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Segnalare quelli mai visti</a:t>
            </a:r>
            <a:endParaRPr lang="en-US" sz="1400" dirty="0"/>
          </a:p>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(zero-day)</a:t>
            </a:r>
            <a:endParaRPr lang="en-US" sz="1400" dirty="0"/>
          </a:p>
        </p:txBody>
      </p:sp>
      <p:sp>
        <p:nvSpPr>
          <p:cNvPr id="19" name="Shape 15"/>
          <p:cNvSpPr/>
          <p:nvPr/>
        </p:nvSpPr>
        <p:spPr>
          <a:xfrm>
            <a:off x="7993228" y="4572000"/>
            <a:ext cx="3246120" cy="1325880"/>
          </a:xfrm>
          <a:prstGeom prst="roundRect">
            <a:avLst>
              <a:gd name="adj" fmla="val 13793"/>
            </a:avLst>
          </a:prstGeom>
          <a:solidFill>
            <a:srgbClr val="FFFFFF">
              <a:alpha val="14000"/>
            </a:srgbClr>
          </a:solidFill>
          <a:ln w="9525">
            <a:solidFill>
              <a:srgbClr val="FFFFFF">
                <a:alpha val="45000"/>
              </a:srgbClr>
            </a:solidFill>
            <a:prstDash val="solid"/>
          </a:ln>
        </p:spPr>
      </p:sp>
      <p:sp>
        <p:nvSpPr>
          <p:cNvPr id="20" name="Text 16"/>
          <p:cNvSpPr txBox="1"/>
          <p:nvPr/>
        </p:nvSpPr>
        <p:spPr>
          <a:xfrm>
            <a:off x="8267548" y="4572000"/>
            <a:ext cx="548640" cy="1325880"/>
          </a:xfrm>
          <a:prstGeom prst="rect">
            <a:avLst/>
          </a:prstGeom>
          <a:noFill/>
          <a:ln/>
        </p:spPr>
        <p:txBody>
          <a:bodyPr wrap="square" lIns="0" tIns="0" rIns="0" bIns="0" rtlCol="0" anchor="ctr"/>
          <a:lstStyle/>
          <a:p>
            <a:pPr indent="0" marL="0">
              <a:buNone/>
            </a:pPr>
            <a:r>
              <a:rPr lang="en-US" sz="3400" i="1" dirty="0">
                <a:solidFill>
                  <a:srgbClr val="BCD1DE"/>
                </a:solidFill>
                <a:latin typeface="Georgia" pitchFamily="34" charset="0"/>
                <a:ea typeface="Georgia" pitchFamily="34" charset="-122"/>
                <a:cs typeface="Georgia" pitchFamily="34" charset="-120"/>
              </a:rPr>
              <a:t>3</a:t>
            </a:r>
            <a:endParaRPr lang="en-US" sz="3400" dirty="0"/>
          </a:p>
        </p:txBody>
      </p:sp>
      <p:sp>
        <p:nvSpPr>
          <p:cNvPr id="21" name="Text 17"/>
          <p:cNvSpPr txBox="1"/>
          <p:nvPr/>
        </p:nvSpPr>
        <p:spPr>
          <a:xfrm>
            <a:off x="8861908" y="4572000"/>
            <a:ext cx="2148840" cy="1325880"/>
          </a:xfrm>
          <a:prstGeom prst="rect">
            <a:avLst/>
          </a:prstGeom>
          <a:noFill/>
          <a:ln/>
        </p:spPr>
        <p:txBody>
          <a:bodyPr wrap="square" lIns="0" tIns="0" rIns="0" bIns="0" rtlCol="0" anchor="ct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Misurare onestamente quanto aiuta il secondo livello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Image 0" descr="Logo Unimore">    </p:cNvPr>
          <p:cNvPicPr>
            <a:picLocks noChangeAspect="1"/>
          </p:cNvPicPr>
          <p:nvPr/>
        </p:nvPicPr>
        <p:blipFill>
          <a:blip r:embed="rId2"/>
          <a:stretch>
            <a:fillRect/>
          </a:stretch>
        </p:blipFill>
        <p:spPr>
          <a:xfrm>
            <a:off x="11023092" y="274320"/>
            <a:ext cx="566014" cy="640080"/>
          </a:xfrm>
          <a:prstGeom prst="rect">
            <a:avLst/>
          </a:prstGeom>
        </p:spPr>
      </p:pic>
      <p:sp>
        <p:nvSpPr>
          <p:cNvPr id="6" name="Text 2"/>
          <p:cNvSpPr/>
          <p:nvPr/>
        </p:nvSpPr>
        <p:spPr>
          <a:xfrm>
            <a:off x="5426050" y="384048"/>
            <a:ext cx="1339596"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01 · DATI</a:t>
            </a:r>
            <a:endParaRPr lang="en-US" sz="1050" dirty="0"/>
          </a:p>
        </p:txBody>
      </p:sp>
      <p:sp>
        <p:nvSpPr>
          <p:cNvPr id="7" name="Text 3"/>
          <p:cNvSpPr txBox="1"/>
          <p:nvPr/>
        </p:nvSpPr>
        <p:spPr>
          <a:xfrm>
            <a:off x="822960" y="868680"/>
            <a:ext cx="10545775" cy="822960"/>
          </a:xfrm>
          <a:prstGeom prst="rect">
            <a:avLst/>
          </a:prstGeom>
          <a:noFill/>
          <a:ln/>
        </p:spPr>
        <p:txBody>
          <a:bodyPr wrap="square" lIns="0" tIns="0" rIns="0" bIns="0" rtlCol="0" anchor="ctr"/>
          <a:lstStyle/>
          <a:p>
            <a:pPr algn="ctr" indent="0" marL="0">
              <a:buNone/>
            </a:pPr>
            <a:r>
              <a:rPr lang="en-US" sz="3600" dirty="0">
                <a:solidFill>
                  <a:srgbClr val="FFFFFF"/>
                </a:solidFill>
                <a:latin typeface="Georgia" pitchFamily="34" charset="0"/>
                <a:ea typeface="Georgia" pitchFamily="34" charset="-122"/>
                <a:cs typeface="Georgia" pitchFamily="34" charset="-120"/>
              </a:rPr>
              <a:t>Dati: CIC-IDS2017 e </a:t>
            </a:r>
            <a:pPr algn="ctr" indent="0" marL="0">
              <a:buNone/>
            </a:pPr>
            <a:r>
              <a:rPr lang="en-US" sz="3600" i="1" dirty="0">
                <a:solidFill>
                  <a:srgbClr val="BCD1DE"/>
                </a:solidFill>
                <a:latin typeface="Georgia" pitchFamily="34" charset="0"/>
                <a:ea typeface="Georgia" pitchFamily="34" charset="-122"/>
                <a:cs typeface="Georgia" pitchFamily="34" charset="-120"/>
              </a:rPr>
              <a:t>pulizia</a:t>
            </a:r>
            <a:endParaRPr lang="en-US" sz="3600" dirty="0"/>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 6"/>
          <p:cNvSpPr txBox="1"/>
          <p:nvPr/>
        </p:nvSpPr>
        <p:spPr>
          <a:xfrm>
            <a:off x="9997135" y="6473952"/>
            <a:ext cx="1097280" cy="228600"/>
          </a:xfrm>
          <a:prstGeom prst="rect">
            <a:avLst/>
          </a:prstGeom>
          <a:noFill/>
          <a:ln/>
        </p:spPr>
        <p:txBody>
          <a:bodyPr wrap="square" lIns="0" tIns="0" rIns="0" bIns="0" rtlCol="0" anchor="t"/>
          <a:lstStyle/>
          <a:p>
            <a:pPr algn="r" indent="0" marL="0">
              <a:buNone/>
            </a:pPr>
            <a:r>
              <a:rPr lang="en-US" sz="1000" dirty="0">
                <a:solidFill>
                  <a:srgbClr val="84A0B4"/>
                </a:solidFill>
                <a:latin typeface="Segoe UI" pitchFamily="34" charset="0"/>
                <a:ea typeface="Segoe UI" pitchFamily="34" charset="-122"/>
                <a:cs typeface="Segoe UI" pitchFamily="34" charset="-120"/>
              </a:rPr>
              <a:t>02 / 08</a:t>
            </a:r>
            <a:endParaRPr lang="en-US" sz="1000" dirty="0"/>
          </a:p>
        </p:txBody>
      </p:sp>
      <p:sp>
        <p:nvSpPr>
          <p:cNvPr id="11" name="Text 7"/>
          <p:cNvSpPr txBox="1"/>
          <p:nvPr/>
        </p:nvSpPr>
        <p:spPr>
          <a:xfrm>
            <a:off x="1234440" y="2286000"/>
            <a:ext cx="1828800" cy="237744"/>
          </a:xfrm>
          <a:prstGeom prst="rect">
            <a:avLst/>
          </a:prstGeom>
          <a:noFill/>
          <a:ln/>
        </p:spPr>
        <p:txBody>
          <a:bodyPr wrap="square" lIns="0" tIns="0" rIns="0" bIns="0" rtlCol="0" anchor="t"/>
          <a:lstStyle/>
          <a:p>
            <a:pPr indent="0" marL="0">
              <a:buNone/>
            </a:pPr>
            <a:r>
              <a:rPr lang="en-US" sz="1050" spc="150" kern="0" dirty="0">
                <a:solidFill>
                  <a:srgbClr val="4A6478"/>
                </a:solidFill>
                <a:latin typeface="Segoe UI Semibold" pitchFamily="34" charset="0"/>
                <a:ea typeface="Segoe UI Semibold" pitchFamily="34" charset="-122"/>
                <a:cs typeface="Segoe UI Semibold" pitchFamily="34" charset="-120"/>
              </a:rPr>
              <a:t>PACCHETTI</a:t>
            </a:r>
            <a:endParaRPr lang="en-US" sz="1050" dirty="0"/>
          </a:p>
        </p:txBody>
      </p:sp>
      <p:sp>
        <p:nvSpPr>
          <p:cNvPr id="12" name="Shape 8"/>
          <p:cNvSpPr/>
          <p:nvPr/>
        </p:nvSpPr>
        <p:spPr>
          <a:xfrm>
            <a:off x="1234440" y="2560320"/>
            <a:ext cx="237744" cy="411480"/>
          </a:xfrm>
          <a:prstGeom prst="roundRect">
            <a:avLst>
              <a:gd name="adj" fmla="val 19231"/>
            </a:avLst>
          </a:prstGeom>
          <a:solidFill>
            <a:srgbClr val="FFFFFF"/>
          </a:solidFill>
          <a:ln w="9525">
            <a:solidFill>
              <a:srgbClr val="84A0B4"/>
            </a:solidFill>
            <a:prstDash val="solid"/>
          </a:ln>
        </p:spPr>
      </p:sp>
      <p:sp>
        <p:nvSpPr>
          <p:cNvPr id="13" name="Shape 9"/>
          <p:cNvSpPr/>
          <p:nvPr/>
        </p:nvSpPr>
        <p:spPr>
          <a:xfrm>
            <a:off x="1563624" y="2560320"/>
            <a:ext cx="237744" cy="411480"/>
          </a:xfrm>
          <a:prstGeom prst="roundRect">
            <a:avLst>
              <a:gd name="adj" fmla="val 19231"/>
            </a:avLst>
          </a:prstGeom>
          <a:solidFill>
            <a:srgbClr val="FFFFFF"/>
          </a:solidFill>
          <a:ln w="9525">
            <a:solidFill>
              <a:srgbClr val="84A0B4"/>
            </a:solidFill>
            <a:prstDash val="solid"/>
          </a:ln>
        </p:spPr>
      </p:sp>
      <p:sp>
        <p:nvSpPr>
          <p:cNvPr id="14" name="Shape 10"/>
          <p:cNvSpPr/>
          <p:nvPr/>
        </p:nvSpPr>
        <p:spPr>
          <a:xfrm>
            <a:off x="1892808" y="2560320"/>
            <a:ext cx="237744" cy="411480"/>
          </a:xfrm>
          <a:prstGeom prst="roundRect">
            <a:avLst>
              <a:gd name="adj" fmla="val 19231"/>
            </a:avLst>
          </a:prstGeom>
          <a:solidFill>
            <a:srgbClr val="FFFFFF"/>
          </a:solidFill>
          <a:ln w="9525">
            <a:solidFill>
              <a:srgbClr val="84A0B4"/>
            </a:solidFill>
            <a:prstDash val="solid"/>
          </a:ln>
        </p:spPr>
      </p:sp>
      <p:sp>
        <p:nvSpPr>
          <p:cNvPr id="15" name="Shape 11"/>
          <p:cNvSpPr/>
          <p:nvPr/>
        </p:nvSpPr>
        <p:spPr>
          <a:xfrm>
            <a:off x="2221992" y="2560320"/>
            <a:ext cx="237744" cy="411480"/>
          </a:xfrm>
          <a:prstGeom prst="roundRect">
            <a:avLst>
              <a:gd name="adj" fmla="val 19231"/>
            </a:avLst>
          </a:prstGeom>
          <a:solidFill>
            <a:srgbClr val="FFFFFF"/>
          </a:solidFill>
          <a:ln w="9525">
            <a:solidFill>
              <a:srgbClr val="84A0B4"/>
            </a:solidFill>
            <a:prstDash val="solid"/>
          </a:ln>
        </p:spPr>
      </p:sp>
      <p:sp>
        <p:nvSpPr>
          <p:cNvPr id="16" name="Shape 12"/>
          <p:cNvSpPr/>
          <p:nvPr/>
        </p:nvSpPr>
        <p:spPr>
          <a:xfrm>
            <a:off x="2551176" y="2560320"/>
            <a:ext cx="237744" cy="411480"/>
          </a:xfrm>
          <a:prstGeom prst="roundRect">
            <a:avLst>
              <a:gd name="adj" fmla="val 19231"/>
            </a:avLst>
          </a:prstGeom>
          <a:solidFill>
            <a:srgbClr val="FFFFFF"/>
          </a:solidFill>
          <a:ln w="9525">
            <a:solidFill>
              <a:srgbClr val="84A0B4"/>
            </a:solidFill>
            <a:prstDash val="solid"/>
          </a:ln>
        </p:spPr>
      </p:sp>
      <p:sp>
        <p:nvSpPr>
          <p:cNvPr id="17" name="Shape 13"/>
          <p:cNvSpPr/>
          <p:nvPr/>
        </p:nvSpPr>
        <p:spPr>
          <a:xfrm>
            <a:off x="2880360" y="2560320"/>
            <a:ext cx="237744" cy="411480"/>
          </a:xfrm>
          <a:prstGeom prst="roundRect">
            <a:avLst>
              <a:gd name="adj" fmla="val 19231"/>
            </a:avLst>
          </a:prstGeom>
          <a:solidFill>
            <a:srgbClr val="FFFFFF"/>
          </a:solidFill>
          <a:ln w="9525">
            <a:solidFill>
              <a:srgbClr val="84A0B4"/>
            </a:solidFill>
            <a:prstDash val="solid"/>
          </a:ln>
        </p:spPr>
      </p:sp>
      <p:sp>
        <p:nvSpPr>
          <p:cNvPr id="18" name="Text 14"/>
          <p:cNvSpPr/>
          <p:nvPr/>
        </p:nvSpPr>
        <p:spPr>
          <a:xfrm>
            <a:off x="3360420" y="2587752"/>
            <a:ext cx="1600200" cy="365760"/>
          </a:xfrm>
          <a:prstGeom prst="roundRect">
            <a:avLst>
              <a:gd name="adj" fmla="val 50000"/>
            </a:avLst>
          </a:prstGeom>
          <a:solidFill>
            <a:srgbClr val="0C649C"/>
          </a:solidFill>
          <a:ln w="9525">
            <a:solidFill>
              <a:srgbClr val="0C649C"/>
            </a:solidFill>
          </a:ln>
        </p:spPr>
        <p:txBody>
          <a:bodyPr wrap="square" lIns="0" tIns="0" rIns="0" bIns="0" rtlCol="0" anchor="ctr"/>
          <a:lstStyle/>
          <a:p>
            <a:pPr algn="ctr" indent="0" marL="0">
              <a:buNone/>
            </a:pPr>
            <a:r>
              <a:rPr lang="en-US" sz="1100" dirty="0">
                <a:solidFill>
                  <a:srgbClr val="FFFFFF"/>
                </a:solidFill>
                <a:latin typeface="Segoe UI Semibold" pitchFamily="34" charset="0"/>
                <a:ea typeface="Segoe UI Semibold" pitchFamily="34" charset="-122"/>
                <a:cs typeface="Segoe UI Semibold" pitchFamily="34" charset="-120"/>
              </a:rPr>
              <a:t>CICFlowMeter →</a:t>
            </a:r>
            <a:endParaRPr lang="en-US" sz="1100" dirty="0"/>
          </a:p>
        </p:txBody>
      </p:sp>
      <p:sp>
        <p:nvSpPr>
          <p:cNvPr id="19" name="Text 15"/>
          <p:cNvSpPr txBox="1"/>
          <p:nvPr/>
        </p:nvSpPr>
        <p:spPr>
          <a:xfrm>
            <a:off x="5074920" y="2286000"/>
            <a:ext cx="4572000" cy="237744"/>
          </a:xfrm>
          <a:prstGeom prst="rect">
            <a:avLst/>
          </a:prstGeom>
          <a:noFill/>
          <a:ln/>
        </p:spPr>
        <p:txBody>
          <a:bodyPr wrap="square" lIns="0" tIns="0" rIns="0" bIns="0" rtlCol="0" anchor="t"/>
          <a:lstStyle/>
          <a:p>
            <a:pPr indent="0" marL="0">
              <a:buNone/>
            </a:pPr>
            <a:r>
              <a:rPr lang="en-US" sz="1050" spc="150" kern="0" dirty="0">
                <a:solidFill>
                  <a:srgbClr val="4A6478"/>
                </a:solidFill>
                <a:latin typeface="Segoe UI Semibold" pitchFamily="34" charset="0"/>
                <a:ea typeface="Segoe UI Semibold" pitchFamily="34" charset="-122"/>
                <a:cs typeface="Segoe UI Semibold" pitchFamily="34" charset="-120"/>
              </a:rPr>
              <a:t>UN FLUSSO = UNA RIGA DI NUMERI</a:t>
            </a:r>
            <a:endParaRPr lang="en-US" sz="1050" dirty="0"/>
          </a:p>
        </p:txBody>
      </p:sp>
      <p:sp>
        <p:nvSpPr>
          <p:cNvPr id="20" name="Shape 16"/>
          <p:cNvSpPr/>
          <p:nvPr/>
        </p:nvSpPr>
        <p:spPr>
          <a:xfrm>
            <a:off x="5074920" y="2560320"/>
            <a:ext cx="685800" cy="411480"/>
          </a:xfrm>
          <a:prstGeom prst="roundRect">
            <a:avLst>
              <a:gd name="adj" fmla="val 31111"/>
            </a:avLst>
          </a:prstGeom>
          <a:solidFill>
            <a:srgbClr val="FFFFFF"/>
          </a:solidFill>
          <a:ln w="9525">
            <a:solidFill>
              <a:srgbClr val="D6E3EC"/>
            </a:solidFill>
            <a:prstDash val="solid"/>
          </a:ln>
        </p:spPr>
      </p:sp>
      <p:sp>
        <p:nvSpPr>
          <p:cNvPr id="21" name="Text 17"/>
          <p:cNvSpPr txBox="1"/>
          <p:nvPr/>
        </p:nvSpPr>
        <p:spPr>
          <a:xfrm>
            <a:off x="5074920" y="2560320"/>
            <a:ext cx="685800" cy="411480"/>
          </a:xfrm>
          <a:prstGeom prst="rect">
            <a:avLst/>
          </a:prstGeom>
          <a:noFill/>
          <a:ln/>
        </p:spPr>
        <p:txBody>
          <a:bodyPr wrap="square" lIns="508" tIns="508" rIns="508" bIns="508"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durata</a:t>
            </a:r>
            <a:endParaRPr lang="en-US" sz="1300" dirty="0"/>
          </a:p>
        </p:txBody>
      </p:sp>
      <p:sp>
        <p:nvSpPr>
          <p:cNvPr id="22" name="Shape 18"/>
          <p:cNvSpPr/>
          <p:nvPr/>
        </p:nvSpPr>
        <p:spPr>
          <a:xfrm>
            <a:off x="5797296" y="2560320"/>
            <a:ext cx="640080" cy="411480"/>
          </a:xfrm>
          <a:prstGeom prst="roundRect">
            <a:avLst>
              <a:gd name="adj" fmla="val 31111"/>
            </a:avLst>
          </a:prstGeom>
          <a:solidFill>
            <a:srgbClr val="FFFFFF"/>
          </a:solidFill>
          <a:ln w="9525">
            <a:solidFill>
              <a:srgbClr val="D6E3EC"/>
            </a:solidFill>
            <a:prstDash val="solid"/>
          </a:ln>
        </p:spPr>
      </p:sp>
      <p:sp>
        <p:nvSpPr>
          <p:cNvPr id="23" name="Text 19"/>
          <p:cNvSpPr txBox="1"/>
          <p:nvPr/>
        </p:nvSpPr>
        <p:spPr>
          <a:xfrm>
            <a:off x="5797296" y="2560320"/>
            <a:ext cx="640080" cy="411480"/>
          </a:xfrm>
          <a:prstGeom prst="rect">
            <a:avLst/>
          </a:prstGeom>
          <a:noFill/>
          <a:ln/>
        </p:spPr>
        <p:txBody>
          <a:bodyPr wrap="square" lIns="508" tIns="508" rIns="508" bIns="508"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byte →</a:t>
            </a:r>
            <a:endParaRPr lang="en-US" sz="1300" dirty="0"/>
          </a:p>
        </p:txBody>
      </p:sp>
      <p:sp>
        <p:nvSpPr>
          <p:cNvPr id="24" name="Shape 20"/>
          <p:cNvSpPr/>
          <p:nvPr/>
        </p:nvSpPr>
        <p:spPr>
          <a:xfrm>
            <a:off x="6473952" y="2560320"/>
            <a:ext cx="640080" cy="411480"/>
          </a:xfrm>
          <a:prstGeom prst="roundRect">
            <a:avLst>
              <a:gd name="adj" fmla="val 31111"/>
            </a:avLst>
          </a:prstGeom>
          <a:solidFill>
            <a:srgbClr val="FFFFFF"/>
          </a:solidFill>
          <a:ln w="9525">
            <a:solidFill>
              <a:srgbClr val="D6E3EC"/>
            </a:solidFill>
            <a:prstDash val="solid"/>
          </a:ln>
        </p:spPr>
      </p:sp>
      <p:sp>
        <p:nvSpPr>
          <p:cNvPr id="25" name="Text 21"/>
          <p:cNvSpPr txBox="1"/>
          <p:nvPr/>
        </p:nvSpPr>
        <p:spPr>
          <a:xfrm>
            <a:off x="6473952" y="2560320"/>
            <a:ext cx="640080" cy="411480"/>
          </a:xfrm>
          <a:prstGeom prst="rect">
            <a:avLst/>
          </a:prstGeom>
          <a:noFill/>
          <a:ln/>
        </p:spPr>
        <p:txBody>
          <a:bodyPr wrap="square" lIns="508" tIns="508" rIns="508" bIns="508"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byte ←</a:t>
            </a:r>
            <a:endParaRPr lang="en-US" sz="1300" dirty="0"/>
          </a:p>
        </p:txBody>
      </p:sp>
      <p:sp>
        <p:nvSpPr>
          <p:cNvPr id="26" name="Shape 22"/>
          <p:cNvSpPr/>
          <p:nvPr/>
        </p:nvSpPr>
        <p:spPr>
          <a:xfrm>
            <a:off x="7150608" y="2560320"/>
            <a:ext cx="1691640" cy="411480"/>
          </a:xfrm>
          <a:prstGeom prst="roundRect">
            <a:avLst>
              <a:gd name="adj" fmla="val 31111"/>
            </a:avLst>
          </a:prstGeom>
          <a:solidFill>
            <a:srgbClr val="FFFFFF"/>
          </a:solidFill>
          <a:ln w="9525">
            <a:solidFill>
              <a:srgbClr val="D6E3EC"/>
            </a:solidFill>
            <a:prstDash val="solid"/>
          </a:ln>
        </p:spPr>
      </p:sp>
      <p:sp>
        <p:nvSpPr>
          <p:cNvPr id="27" name="Text 23"/>
          <p:cNvSpPr txBox="1"/>
          <p:nvPr/>
        </p:nvSpPr>
        <p:spPr>
          <a:xfrm>
            <a:off x="7150608" y="2560320"/>
            <a:ext cx="1691640" cy="411480"/>
          </a:xfrm>
          <a:prstGeom prst="rect">
            <a:avLst/>
          </a:prstGeom>
          <a:noFill/>
          <a:ln/>
        </p:spPr>
        <p:txBody>
          <a:bodyPr wrap="square" lIns="508" tIns="508" rIns="508" bIns="508"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tempo tra pacchetti</a:t>
            </a:r>
            <a:endParaRPr lang="en-US" sz="1300" dirty="0"/>
          </a:p>
        </p:txBody>
      </p:sp>
      <p:sp>
        <p:nvSpPr>
          <p:cNvPr id="28" name="Shape 24"/>
          <p:cNvSpPr/>
          <p:nvPr/>
        </p:nvSpPr>
        <p:spPr>
          <a:xfrm>
            <a:off x="8878824" y="2560320"/>
            <a:ext cx="749808" cy="411480"/>
          </a:xfrm>
          <a:prstGeom prst="roundRect">
            <a:avLst>
              <a:gd name="adj" fmla="val 31111"/>
            </a:avLst>
          </a:prstGeom>
          <a:solidFill>
            <a:srgbClr val="FFFFFF"/>
          </a:solidFill>
          <a:ln w="9525">
            <a:solidFill>
              <a:srgbClr val="D6E3EC"/>
            </a:solidFill>
            <a:prstDash val="solid"/>
          </a:ln>
        </p:spPr>
      </p:sp>
      <p:sp>
        <p:nvSpPr>
          <p:cNvPr id="29" name="Text 25"/>
          <p:cNvSpPr txBox="1"/>
          <p:nvPr/>
        </p:nvSpPr>
        <p:spPr>
          <a:xfrm>
            <a:off x="8878824" y="2560320"/>
            <a:ext cx="749808" cy="411480"/>
          </a:xfrm>
          <a:prstGeom prst="rect">
            <a:avLst/>
          </a:prstGeom>
          <a:noFill/>
          <a:ln/>
        </p:spPr>
        <p:txBody>
          <a:bodyPr wrap="square" lIns="508" tIns="508" rIns="508" bIns="508"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flag SYN</a:t>
            </a:r>
            <a:endParaRPr lang="en-US" sz="1300" dirty="0"/>
          </a:p>
        </p:txBody>
      </p:sp>
      <p:sp>
        <p:nvSpPr>
          <p:cNvPr id="30" name="Shape 26"/>
          <p:cNvSpPr/>
          <p:nvPr/>
        </p:nvSpPr>
        <p:spPr>
          <a:xfrm>
            <a:off x="9665208" y="2560320"/>
            <a:ext cx="365760" cy="411480"/>
          </a:xfrm>
          <a:prstGeom prst="roundRect">
            <a:avLst>
              <a:gd name="adj" fmla="val 35000"/>
            </a:avLst>
          </a:prstGeom>
          <a:solidFill>
            <a:srgbClr val="FFFFFF"/>
          </a:solidFill>
          <a:ln w="9525">
            <a:solidFill>
              <a:srgbClr val="D6E3EC"/>
            </a:solidFill>
            <a:prstDash val="solid"/>
          </a:ln>
        </p:spPr>
      </p:sp>
      <p:sp>
        <p:nvSpPr>
          <p:cNvPr id="31" name="Text 27"/>
          <p:cNvSpPr txBox="1"/>
          <p:nvPr/>
        </p:nvSpPr>
        <p:spPr>
          <a:xfrm>
            <a:off x="9665208" y="2560320"/>
            <a:ext cx="365760" cy="411480"/>
          </a:xfrm>
          <a:prstGeom prst="rect">
            <a:avLst/>
          </a:prstGeom>
          <a:noFill/>
          <a:ln/>
        </p:spPr>
        <p:txBody>
          <a:bodyPr wrap="square" lIns="508" tIns="508" rIns="508" bIns="508"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a:t>
            </a:r>
            <a:endParaRPr lang="en-US" sz="1300" dirty="0"/>
          </a:p>
        </p:txBody>
      </p:sp>
      <p:sp>
        <p:nvSpPr>
          <p:cNvPr id="32" name="Shape 28"/>
          <p:cNvSpPr/>
          <p:nvPr/>
        </p:nvSpPr>
        <p:spPr>
          <a:xfrm>
            <a:off x="10067544" y="2560320"/>
            <a:ext cx="868680" cy="411480"/>
          </a:xfrm>
          <a:prstGeom prst="roundRect">
            <a:avLst>
              <a:gd name="adj" fmla="val 31111"/>
            </a:avLst>
          </a:prstGeom>
          <a:solidFill>
            <a:srgbClr val="FFFFFF"/>
          </a:solidFill>
          <a:ln w="9525">
            <a:solidFill>
              <a:srgbClr val="D6E3EC"/>
            </a:solidFill>
            <a:prstDash val="solid"/>
          </a:ln>
        </p:spPr>
      </p:sp>
      <p:sp>
        <p:nvSpPr>
          <p:cNvPr id="33" name="Text 29"/>
          <p:cNvSpPr txBox="1"/>
          <p:nvPr/>
        </p:nvSpPr>
        <p:spPr>
          <a:xfrm>
            <a:off x="10067544" y="2560320"/>
            <a:ext cx="868680" cy="411480"/>
          </a:xfrm>
          <a:prstGeom prst="rect">
            <a:avLst/>
          </a:prstGeom>
          <a:noFill/>
          <a:ln/>
        </p:spPr>
        <p:txBody>
          <a:bodyPr wrap="square" lIns="508" tIns="508" rIns="508" bIns="508" rtlCol="0" anchor="ctr"/>
          <a:lstStyle/>
          <a:p>
            <a:pPr algn="ctr" indent="0" marL="0">
              <a:buNone/>
            </a:pPr>
            <a:r>
              <a:rPr lang="en-US" sz="1300" dirty="0">
                <a:solidFill>
                  <a:srgbClr val="0C649C"/>
                </a:solidFill>
                <a:latin typeface="Segoe UI Semibold" pitchFamily="34" charset="0"/>
                <a:ea typeface="Segoe UI Semibold" pitchFamily="34" charset="-122"/>
                <a:cs typeface="Segoe UI Semibold" pitchFamily="34" charset="-120"/>
              </a:rPr>
              <a:t>etichetta</a:t>
            </a:r>
            <a:endParaRPr lang="en-US" sz="1300" dirty="0"/>
          </a:p>
        </p:txBody>
      </p:sp>
      <p:sp>
        <p:nvSpPr>
          <p:cNvPr id="34" name="Text 30"/>
          <p:cNvSpPr txBox="1"/>
          <p:nvPr/>
        </p:nvSpPr>
        <p:spPr>
          <a:xfrm>
            <a:off x="1234440" y="3291840"/>
            <a:ext cx="9692640" cy="237744"/>
          </a:xfrm>
          <a:prstGeom prst="rect">
            <a:avLst/>
          </a:prstGeom>
          <a:noFill/>
          <a:ln/>
        </p:spPr>
        <p:txBody>
          <a:bodyPr wrap="square" lIns="0" tIns="0" rIns="0" bIns="0" rtlCol="0" anchor="t"/>
          <a:lstStyle/>
          <a:p>
            <a:pPr indent="0" marL="0">
              <a:buNone/>
            </a:pPr>
            <a:r>
              <a:rPr lang="en-US" sz="1050" spc="150" kern="0" dirty="0">
                <a:solidFill>
                  <a:srgbClr val="4A6478"/>
                </a:solidFill>
                <a:latin typeface="Segoe UI Semibold" pitchFamily="34" charset="0"/>
                <a:ea typeface="Segoe UI Semibold" pitchFamily="34" charset="-122"/>
                <a:cs typeface="Segoe UI Semibold" pitchFamily="34" charset="-120"/>
              </a:rPr>
              <a:t>FLUSSI PER FAMIGLIA, PRIMA DELLA PULIZIA · LUNGHEZZA IN SCALA LOG</a:t>
            </a:r>
            <a:endParaRPr lang="en-US" sz="1050" dirty="0"/>
          </a:p>
        </p:txBody>
      </p:sp>
      <p:sp>
        <p:nvSpPr>
          <p:cNvPr id="35" name="Text 39"/>
          <p:cNvSpPr txBox="1"/>
          <p:nvPr/>
        </p:nvSpPr>
        <p:spPr>
          <a:xfrm>
            <a:off x="1234440" y="5029200"/>
            <a:ext cx="3058058" cy="237744"/>
          </a:xfrm>
          <a:prstGeom prst="rect">
            <a:avLst/>
          </a:prstGeom>
          <a:noFill/>
          <a:ln/>
        </p:spPr>
        <p:txBody>
          <a:bodyPr wrap="square" lIns="0" tIns="0" rIns="0" bIns="0" rtlCol="0" anchor="t"/>
          <a:lstStyle/>
          <a:p>
            <a:pPr indent="0" marL="0">
              <a:buNone/>
            </a:pPr>
            <a:r>
              <a:rPr lang="en-US" sz="1050" spc="150" kern="0" dirty="0">
                <a:solidFill>
                  <a:srgbClr val="4A6478"/>
                </a:solidFill>
                <a:latin typeface="Segoe UI Semibold" pitchFamily="34" charset="0"/>
                <a:ea typeface="Segoe UI Semibold" pitchFamily="34" charset="-122"/>
                <a:cs typeface="Segoe UI Semibold" pitchFamily="34" charset="-120"/>
              </a:rPr>
              <a:t>DATASET</a:t>
            </a:r>
            <a:endParaRPr lang="en-US" sz="1050" dirty="0"/>
          </a:p>
        </p:txBody>
      </p:sp>
      <p:sp>
        <p:nvSpPr>
          <p:cNvPr id="36" name="Text 40"/>
          <p:cNvSpPr txBox="1"/>
          <p:nvPr/>
        </p:nvSpPr>
        <p:spPr>
          <a:xfrm>
            <a:off x="1234440" y="5257800"/>
            <a:ext cx="3058058" cy="640080"/>
          </a:xfrm>
          <a:prstGeom prst="rect">
            <a:avLst/>
          </a:prstGeom>
          <a:noFill/>
          <a:ln/>
        </p:spPr>
        <p:txBody>
          <a:bodyPr wrap="square" lIns="0" tIns="0" rIns="0" bIns="0" rtlCol="0" anchor="t"/>
          <a:lstStyle/>
          <a:p>
            <a:pPr indent="0" marL="0">
              <a:buNone/>
            </a:pPr>
            <a:r>
              <a:rPr lang="en-US" sz="3400" dirty="0">
                <a:solidFill>
                  <a:srgbClr val="045991"/>
                </a:solidFill>
                <a:latin typeface="Georgia" pitchFamily="34" charset="0"/>
                <a:ea typeface="Georgia" pitchFamily="34" charset="-122"/>
                <a:cs typeface="Georgia" pitchFamily="34" charset="-120"/>
              </a:rPr>
              <a:t>2,3 milioni</a:t>
            </a:r>
            <a:endParaRPr lang="en-US" sz="3400" dirty="0"/>
          </a:p>
        </p:txBody>
      </p:sp>
      <p:sp>
        <p:nvSpPr>
          <p:cNvPr id="37" name="Text 41"/>
          <p:cNvSpPr txBox="1"/>
          <p:nvPr/>
        </p:nvSpPr>
        <p:spPr>
          <a:xfrm>
            <a:off x="1234440" y="5943600"/>
            <a:ext cx="3058058" cy="274320"/>
          </a:xfrm>
          <a:prstGeom prst="rect">
            <a:avLst/>
          </a:prstGeom>
          <a:noFill/>
          <a:ln/>
        </p:spPr>
        <p:txBody>
          <a:bodyPr wrap="square" lIns="0" tIns="0" rIns="0" bIns="0" rtlCol="0" anchor="t"/>
          <a:lstStyle/>
          <a:p>
            <a:pPr indent="0" marL="0">
              <a:buNone/>
            </a:pPr>
            <a:r>
              <a:rPr lang="en-US" sz="1200" dirty="0">
                <a:solidFill>
                  <a:srgbClr val="4A6478"/>
                </a:solidFill>
                <a:latin typeface="Segoe UI" pitchFamily="34" charset="0"/>
                <a:ea typeface="Segoe UI" pitchFamily="34" charset="-122"/>
                <a:cs typeface="Segoe UI" pitchFamily="34" charset="-120"/>
              </a:rPr>
              <a:t>flussi, rete di laboratorio</a:t>
            </a:r>
            <a:endParaRPr lang="en-US" sz="1200" dirty="0"/>
          </a:p>
        </p:txBody>
      </p:sp>
      <p:sp>
        <p:nvSpPr>
          <p:cNvPr id="38" name="Text 42"/>
          <p:cNvSpPr txBox="1"/>
          <p:nvPr/>
        </p:nvSpPr>
        <p:spPr>
          <a:xfrm>
            <a:off x="4566818" y="5029200"/>
            <a:ext cx="3058058" cy="237744"/>
          </a:xfrm>
          <a:prstGeom prst="rect">
            <a:avLst/>
          </a:prstGeom>
          <a:noFill/>
          <a:ln/>
        </p:spPr>
        <p:txBody>
          <a:bodyPr wrap="square" lIns="0" tIns="0" rIns="0" bIns="0" rtlCol="0" anchor="t"/>
          <a:lstStyle/>
          <a:p>
            <a:pPr indent="0" marL="0">
              <a:buNone/>
            </a:pPr>
            <a:r>
              <a:rPr lang="en-US" sz="1050" spc="150" kern="0" dirty="0">
                <a:solidFill>
                  <a:srgbClr val="4A6478"/>
                </a:solidFill>
                <a:latin typeface="Segoe UI Semibold" pitchFamily="34" charset="0"/>
                <a:ea typeface="Segoe UI Semibold" pitchFamily="34" charset="-122"/>
                <a:cs typeface="Segoe UI Semibold" pitchFamily="34" charset="-120"/>
              </a:rPr>
              <a:t>PULIZIA</a:t>
            </a:r>
            <a:endParaRPr lang="en-US" sz="1050" dirty="0"/>
          </a:p>
        </p:txBody>
      </p:sp>
      <p:sp>
        <p:nvSpPr>
          <p:cNvPr id="39" name="Text 43"/>
          <p:cNvSpPr txBox="1"/>
          <p:nvPr/>
        </p:nvSpPr>
        <p:spPr>
          <a:xfrm>
            <a:off x="4566818" y="5257800"/>
            <a:ext cx="3058058" cy="640080"/>
          </a:xfrm>
          <a:prstGeom prst="rect">
            <a:avLst/>
          </a:prstGeom>
          <a:noFill/>
          <a:ln/>
        </p:spPr>
        <p:txBody>
          <a:bodyPr wrap="square" lIns="0" tIns="0" rIns="0" bIns="0" rtlCol="0" anchor="t"/>
          <a:lstStyle/>
          <a:p>
            <a:pPr indent="0" marL="0">
              <a:buNone/>
            </a:pPr>
            <a:r>
              <a:rPr lang="en-US" sz="3400" dirty="0">
                <a:solidFill>
                  <a:srgbClr val="045991"/>
                </a:solidFill>
                <a:latin typeface="Georgia" pitchFamily="34" charset="0"/>
                <a:ea typeface="Georgia" pitchFamily="34" charset="-122"/>
                <a:cs typeface="Georgia" pitchFamily="34" charset="-120"/>
              </a:rPr>
              <a:t>2.843</a:t>
            </a:r>
            <a:endParaRPr lang="en-US" sz="3400" dirty="0"/>
          </a:p>
        </p:txBody>
      </p:sp>
      <p:sp>
        <p:nvSpPr>
          <p:cNvPr id="40" name="Text 44"/>
          <p:cNvSpPr txBox="1"/>
          <p:nvPr/>
        </p:nvSpPr>
        <p:spPr>
          <a:xfrm>
            <a:off x="4566818" y="5943600"/>
            <a:ext cx="3058058" cy="274320"/>
          </a:xfrm>
          <a:prstGeom prst="rect">
            <a:avLst/>
          </a:prstGeom>
          <a:noFill/>
          <a:ln/>
        </p:spPr>
        <p:txBody>
          <a:bodyPr wrap="square" lIns="0" tIns="0" rIns="0" bIns="0" rtlCol="0" anchor="t"/>
          <a:lstStyle/>
          <a:p>
            <a:pPr indent="0" marL="0">
              <a:buNone/>
            </a:pPr>
            <a:r>
              <a:rPr lang="en-US" sz="1200" dirty="0">
                <a:solidFill>
                  <a:srgbClr val="4A6478"/>
                </a:solidFill>
                <a:latin typeface="Segoe UI" pitchFamily="34" charset="0"/>
                <a:ea typeface="Segoe UI" pitchFamily="34" charset="-122"/>
                <a:cs typeface="Segoe UI" pitchFamily="34" charset="-120"/>
              </a:rPr>
              <a:t>righe rimosse · 2.143 etichette corrette</a:t>
            </a:r>
            <a:endParaRPr lang="en-US" sz="1200" dirty="0"/>
          </a:p>
        </p:txBody>
      </p:sp>
      <p:sp>
        <p:nvSpPr>
          <p:cNvPr id="41" name="Text 45"/>
          <p:cNvSpPr txBox="1"/>
          <p:nvPr/>
        </p:nvSpPr>
        <p:spPr>
          <a:xfrm>
            <a:off x="7899197" y="5029200"/>
            <a:ext cx="3058058" cy="237744"/>
          </a:xfrm>
          <a:prstGeom prst="rect">
            <a:avLst/>
          </a:prstGeom>
          <a:noFill/>
          <a:ln/>
        </p:spPr>
        <p:txBody>
          <a:bodyPr wrap="square" lIns="0" tIns="0" rIns="0" bIns="0" rtlCol="0" anchor="t"/>
          <a:lstStyle/>
          <a:p>
            <a:pPr indent="0" marL="0">
              <a:buNone/>
            </a:pPr>
            <a:r>
              <a:rPr lang="en-US" sz="1050" spc="150" kern="0" dirty="0">
                <a:solidFill>
                  <a:srgbClr val="4A6478"/>
                </a:solidFill>
                <a:latin typeface="Segoe UI Semibold" pitchFamily="34" charset="0"/>
                <a:ea typeface="Segoe UI Semibold" pitchFamily="34" charset="-122"/>
                <a:cs typeface="Segoe UI Semibold" pitchFamily="34" charset="-120"/>
              </a:rPr>
              <a:t>SPLIT CASUALE 60 / 20 / 20</a:t>
            </a:r>
            <a:endParaRPr lang="en-US" sz="1050" dirty="0"/>
          </a:p>
        </p:txBody>
      </p:sp>
      <p:sp>
        <p:nvSpPr>
          <p:cNvPr id="42" name="Text 46"/>
          <p:cNvSpPr txBox="1"/>
          <p:nvPr/>
        </p:nvSpPr>
        <p:spPr>
          <a:xfrm>
            <a:off x="7899197" y="5257800"/>
            <a:ext cx="3058058" cy="640080"/>
          </a:xfrm>
          <a:prstGeom prst="rect">
            <a:avLst/>
          </a:prstGeom>
          <a:noFill/>
          <a:ln/>
        </p:spPr>
        <p:txBody>
          <a:bodyPr wrap="square" lIns="0" tIns="0" rIns="0" bIns="0" rtlCol="0" anchor="t"/>
          <a:lstStyle/>
          <a:p>
            <a:pPr indent="0" marL="0">
              <a:buNone/>
            </a:pPr>
            <a:r>
              <a:rPr lang="en-US" sz="3400" dirty="0">
                <a:solidFill>
                  <a:srgbClr val="045991"/>
                </a:solidFill>
                <a:latin typeface="Georgia" pitchFamily="34" charset="0"/>
                <a:ea typeface="Georgia" pitchFamily="34" charset="-122"/>
                <a:cs typeface="Georgia" pitchFamily="34" charset="-120"/>
              </a:rPr>
              <a:t>1.386.580</a:t>
            </a:r>
            <a:endParaRPr lang="en-US" sz="3400" dirty="0"/>
          </a:p>
        </p:txBody>
      </p:sp>
      <p:sp>
        <p:nvSpPr>
          <p:cNvPr id="43" name="Text 47"/>
          <p:cNvSpPr txBox="1"/>
          <p:nvPr/>
        </p:nvSpPr>
        <p:spPr>
          <a:xfrm>
            <a:off x="7899197" y="5943600"/>
            <a:ext cx="3058058" cy="274320"/>
          </a:xfrm>
          <a:prstGeom prst="rect">
            <a:avLst/>
          </a:prstGeom>
          <a:noFill/>
          <a:ln/>
        </p:spPr>
        <p:txBody>
          <a:bodyPr wrap="square" lIns="0" tIns="0" rIns="0" bIns="0" rtlCol="0" anchor="t"/>
          <a:lstStyle/>
          <a:p>
            <a:pPr indent="0" marL="0">
              <a:buNone/>
            </a:pPr>
            <a:r>
              <a:rPr lang="en-US" sz="1200" dirty="0">
                <a:solidFill>
                  <a:srgbClr val="4A6478"/>
                </a:solidFill>
                <a:latin typeface="Segoe UI" pitchFamily="34" charset="0"/>
                <a:ea typeface="Segoe UI" pitchFamily="34" charset="-122"/>
                <a:cs typeface="Segoe UI" pitchFamily="34" charset="-120"/>
              </a:rPr>
              <a:t>train · 462.193 val · 462.194 test</a:t>
            </a:r>
            <a:endParaRPr lang="en-US" sz="1200" dirty="0"/>
          </a:p>
        </p:txBody>
      </p:sp>
      <p:sp>
        <p:nvSpPr>
          <p:cNvPr id="44" name="TextBox 51"/>
          <p:cNvSpPr txBox="1"/>
          <p:nvPr/>
        </p:nvSpPr>
        <p:spPr>
          <a:xfrm>
            <a:off x="1234440" y="3584448"/>
            <a:ext cx="1554480" cy="169164"/>
          </a:xfrm>
          <a:prstGeom prst="rect">
            <a:avLst/>
          </a:prstGeom>
          <a:noFill/>
        </p:spPr>
        <p:txBody>
          <a:bodyPr wrap="square" lIns="0" rIns="0" tIns="0" bIns="0" anchor="ctr">
            <a:spAutoFit/>
          </a:bodyPr>
          <a:lstStyle/>
          <a:p>
            <a:pPr algn="r"/>
            <a:r>
              <a:rPr sz="1000" b="0" i="0">
                <a:solidFill>
                  <a:srgbClr val="0B2438"/>
                </a:solidFill>
                <a:latin typeface="Segoe UI"/>
              </a:rPr>
              <a:t>Benign</a:t>
            </a:r>
          </a:p>
        </p:txBody>
      </p:sp>
      <p:sp>
        <p:nvSpPr>
          <p:cNvPr id="45" name="Rectangle 52"/>
          <p:cNvSpPr/>
          <p:nvPr/>
        </p:nvSpPr>
        <p:spPr>
          <a:xfrm>
            <a:off x="2880360" y="3616452"/>
            <a:ext cx="5482087" cy="10515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53"/>
          <p:cNvSpPr txBox="1"/>
          <p:nvPr/>
        </p:nvSpPr>
        <p:spPr>
          <a:xfrm>
            <a:off x="8426455" y="3584448"/>
            <a:ext cx="1005840" cy="169164"/>
          </a:xfrm>
          <a:prstGeom prst="rect">
            <a:avLst/>
          </a:prstGeom>
          <a:noFill/>
        </p:spPr>
        <p:txBody>
          <a:bodyPr wrap="square" lIns="0" rIns="0" tIns="0" bIns="0" anchor="ctr">
            <a:spAutoFit/>
          </a:bodyPr>
          <a:lstStyle/>
          <a:p>
            <a:pPr algn="l"/>
            <a:r>
              <a:rPr sz="950" b="0" i="0">
                <a:solidFill>
                  <a:srgbClr val="4A6478"/>
                </a:solidFill>
                <a:latin typeface="Segoe UI"/>
              </a:rPr>
              <a:t>1.977.318</a:t>
            </a:r>
          </a:p>
        </p:txBody>
      </p:sp>
      <p:sp>
        <p:nvSpPr>
          <p:cNvPr id="47" name="TextBox 54"/>
          <p:cNvSpPr txBox="1"/>
          <p:nvPr/>
        </p:nvSpPr>
        <p:spPr>
          <a:xfrm>
            <a:off x="1234440" y="3753612"/>
            <a:ext cx="1554480" cy="169164"/>
          </a:xfrm>
          <a:prstGeom prst="rect">
            <a:avLst/>
          </a:prstGeom>
          <a:noFill/>
        </p:spPr>
        <p:txBody>
          <a:bodyPr wrap="square" lIns="0" rIns="0" tIns="0" bIns="0" anchor="ctr">
            <a:spAutoFit/>
          </a:bodyPr>
          <a:lstStyle/>
          <a:p>
            <a:pPr algn="r"/>
            <a:r>
              <a:rPr sz="1000" b="0" i="0">
                <a:solidFill>
                  <a:srgbClr val="0B2438"/>
                </a:solidFill>
                <a:latin typeface="Segoe UI"/>
              </a:rPr>
              <a:t>DoS / DDoS</a:t>
            </a:r>
          </a:p>
        </p:txBody>
      </p:sp>
      <p:sp>
        <p:nvSpPr>
          <p:cNvPr id="48" name="Rectangle 55"/>
          <p:cNvSpPr/>
          <p:nvPr/>
        </p:nvSpPr>
        <p:spPr>
          <a:xfrm>
            <a:off x="2880360" y="3785616"/>
            <a:ext cx="4795488" cy="105156"/>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56"/>
          <p:cNvSpPr txBox="1"/>
          <p:nvPr/>
        </p:nvSpPr>
        <p:spPr>
          <a:xfrm>
            <a:off x="7739856" y="3753612"/>
            <a:ext cx="1005840" cy="169164"/>
          </a:xfrm>
          <a:prstGeom prst="rect">
            <a:avLst/>
          </a:prstGeom>
          <a:noFill/>
        </p:spPr>
        <p:txBody>
          <a:bodyPr wrap="square" lIns="0" rIns="0" tIns="0" bIns="0" anchor="ctr">
            <a:spAutoFit/>
          </a:bodyPr>
          <a:lstStyle/>
          <a:p>
            <a:pPr algn="l"/>
            <a:r>
              <a:rPr sz="950" b="0" i="0">
                <a:solidFill>
                  <a:srgbClr val="4A6478"/>
                </a:solidFill>
                <a:latin typeface="Segoe UI"/>
              </a:rPr>
              <a:t>321.759</a:t>
            </a:r>
          </a:p>
        </p:txBody>
      </p:sp>
      <p:sp>
        <p:nvSpPr>
          <p:cNvPr id="50" name="TextBox 57"/>
          <p:cNvSpPr txBox="1"/>
          <p:nvPr/>
        </p:nvSpPr>
        <p:spPr>
          <a:xfrm>
            <a:off x="1234440" y="3922776"/>
            <a:ext cx="1554480" cy="169164"/>
          </a:xfrm>
          <a:prstGeom prst="rect">
            <a:avLst/>
          </a:prstGeom>
          <a:noFill/>
        </p:spPr>
        <p:txBody>
          <a:bodyPr wrap="square" lIns="0" rIns="0" tIns="0" bIns="0" anchor="ctr">
            <a:spAutoFit/>
          </a:bodyPr>
          <a:lstStyle/>
          <a:p>
            <a:pPr algn="r"/>
            <a:r>
              <a:rPr sz="1000" b="0" i="0">
                <a:solidFill>
                  <a:srgbClr val="0B2438"/>
                </a:solidFill>
                <a:latin typeface="Segoe UI"/>
              </a:rPr>
              <a:t>Brute force</a:t>
            </a:r>
          </a:p>
        </p:txBody>
      </p:sp>
      <p:sp>
        <p:nvSpPr>
          <p:cNvPr id="51" name="Rectangle 58"/>
          <p:cNvSpPr/>
          <p:nvPr/>
        </p:nvSpPr>
        <p:spPr>
          <a:xfrm>
            <a:off x="2880360" y="3954780"/>
            <a:ext cx="3449268" cy="105156"/>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9"/>
          <p:cNvSpPr txBox="1"/>
          <p:nvPr/>
        </p:nvSpPr>
        <p:spPr>
          <a:xfrm>
            <a:off x="6393636" y="3922776"/>
            <a:ext cx="1005840" cy="169164"/>
          </a:xfrm>
          <a:prstGeom prst="rect">
            <a:avLst/>
          </a:prstGeom>
          <a:noFill/>
        </p:spPr>
        <p:txBody>
          <a:bodyPr wrap="square" lIns="0" rIns="0" tIns="0" bIns="0" anchor="ctr">
            <a:spAutoFit/>
          </a:bodyPr>
          <a:lstStyle/>
          <a:p>
            <a:pPr algn="l"/>
            <a:r>
              <a:rPr sz="950" b="0" i="0">
                <a:solidFill>
                  <a:srgbClr val="4A6478"/>
                </a:solidFill>
                <a:latin typeface="Segoe UI"/>
              </a:rPr>
              <a:t>9.150</a:t>
            </a:r>
          </a:p>
        </p:txBody>
      </p:sp>
      <p:sp>
        <p:nvSpPr>
          <p:cNvPr id="53" name="TextBox 60"/>
          <p:cNvSpPr txBox="1"/>
          <p:nvPr/>
        </p:nvSpPr>
        <p:spPr>
          <a:xfrm>
            <a:off x="1234440" y="4091940"/>
            <a:ext cx="1554480" cy="169164"/>
          </a:xfrm>
          <a:prstGeom prst="rect">
            <a:avLst/>
          </a:prstGeom>
          <a:noFill/>
        </p:spPr>
        <p:txBody>
          <a:bodyPr wrap="square" lIns="0" rIns="0" tIns="0" bIns="0" anchor="ctr">
            <a:spAutoFit/>
          </a:bodyPr>
          <a:lstStyle/>
          <a:p>
            <a:pPr algn="r"/>
            <a:r>
              <a:rPr sz="1000" b="0" i="0">
                <a:solidFill>
                  <a:srgbClr val="0B2438"/>
                </a:solidFill>
                <a:latin typeface="Segoe UI"/>
              </a:rPr>
              <a:t>Web attack</a:t>
            </a:r>
          </a:p>
        </p:txBody>
      </p:sp>
      <p:sp>
        <p:nvSpPr>
          <p:cNvPr id="54" name="Rectangle 61"/>
          <p:cNvSpPr/>
          <p:nvPr/>
        </p:nvSpPr>
        <p:spPr>
          <a:xfrm>
            <a:off x="2880360" y="4123944"/>
            <a:ext cx="2900370" cy="105156"/>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62"/>
          <p:cNvSpPr txBox="1"/>
          <p:nvPr/>
        </p:nvSpPr>
        <p:spPr>
          <a:xfrm>
            <a:off x="5844738" y="4091940"/>
            <a:ext cx="1005840" cy="169164"/>
          </a:xfrm>
          <a:prstGeom prst="rect">
            <a:avLst/>
          </a:prstGeom>
          <a:noFill/>
        </p:spPr>
        <p:txBody>
          <a:bodyPr wrap="square" lIns="0" rIns="0" tIns="0" bIns="0" anchor="ctr">
            <a:spAutoFit/>
          </a:bodyPr>
          <a:lstStyle/>
          <a:p>
            <a:pPr algn="l"/>
            <a:r>
              <a:rPr sz="950" b="0" i="0">
                <a:solidFill>
                  <a:srgbClr val="4A6478"/>
                </a:solidFill>
                <a:latin typeface="Segoe UI"/>
              </a:rPr>
              <a:t>2.143</a:t>
            </a:r>
          </a:p>
        </p:txBody>
      </p:sp>
      <p:sp>
        <p:nvSpPr>
          <p:cNvPr id="56" name="TextBox 63"/>
          <p:cNvSpPr txBox="1"/>
          <p:nvPr/>
        </p:nvSpPr>
        <p:spPr>
          <a:xfrm>
            <a:off x="1234440" y="4261104"/>
            <a:ext cx="1554480" cy="169164"/>
          </a:xfrm>
          <a:prstGeom prst="rect">
            <a:avLst/>
          </a:prstGeom>
          <a:noFill/>
        </p:spPr>
        <p:txBody>
          <a:bodyPr wrap="square" lIns="0" rIns="0" tIns="0" bIns="0" anchor="ctr">
            <a:spAutoFit/>
          </a:bodyPr>
          <a:lstStyle/>
          <a:p>
            <a:pPr algn="r"/>
            <a:r>
              <a:rPr sz="1000" b="0" i="0">
                <a:solidFill>
                  <a:srgbClr val="0B2438"/>
                </a:solidFill>
                <a:latin typeface="Segoe UI"/>
              </a:rPr>
              <a:t>PortScan</a:t>
            </a:r>
          </a:p>
        </p:txBody>
      </p:sp>
      <p:sp>
        <p:nvSpPr>
          <p:cNvPr id="57" name="Rectangle 64"/>
          <p:cNvSpPr/>
          <p:nvPr/>
        </p:nvSpPr>
        <p:spPr>
          <a:xfrm>
            <a:off x="2880360" y="4293108"/>
            <a:ext cx="2865844" cy="105156"/>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65"/>
          <p:cNvSpPr txBox="1"/>
          <p:nvPr/>
        </p:nvSpPr>
        <p:spPr>
          <a:xfrm>
            <a:off x="5810212" y="4261104"/>
            <a:ext cx="1005840" cy="169164"/>
          </a:xfrm>
          <a:prstGeom prst="rect">
            <a:avLst/>
          </a:prstGeom>
          <a:noFill/>
        </p:spPr>
        <p:txBody>
          <a:bodyPr wrap="square" lIns="0" rIns="0" tIns="0" bIns="0" anchor="ctr">
            <a:spAutoFit/>
          </a:bodyPr>
          <a:lstStyle/>
          <a:p>
            <a:pPr algn="l"/>
            <a:r>
              <a:rPr sz="950" b="0" i="0">
                <a:solidFill>
                  <a:srgbClr val="4A6478"/>
                </a:solidFill>
                <a:latin typeface="Segoe UI"/>
              </a:rPr>
              <a:t>1.956</a:t>
            </a:r>
          </a:p>
        </p:txBody>
      </p:sp>
      <p:sp>
        <p:nvSpPr>
          <p:cNvPr id="59" name="TextBox 66"/>
          <p:cNvSpPr txBox="1"/>
          <p:nvPr/>
        </p:nvSpPr>
        <p:spPr>
          <a:xfrm>
            <a:off x="1234440" y="4430268"/>
            <a:ext cx="1554480" cy="169164"/>
          </a:xfrm>
          <a:prstGeom prst="rect">
            <a:avLst/>
          </a:prstGeom>
          <a:noFill/>
        </p:spPr>
        <p:txBody>
          <a:bodyPr wrap="square" lIns="0" rIns="0" tIns="0" bIns="0" anchor="ctr">
            <a:spAutoFit/>
          </a:bodyPr>
          <a:lstStyle/>
          <a:p>
            <a:pPr algn="r"/>
            <a:r>
              <a:rPr sz="1000" b="0" i="0">
                <a:solidFill>
                  <a:srgbClr val="0B2438"/>
                </a:solidFill>
                <a:latin typeface="Segoe UI"/>
              </a:rPr>
              <a:t>Bot</a:t>
            </a:r>
          </a:p>
        </p:txBody>
      </p:sp>
      <p:sp>
        <p:nvSpPr>
          <p:cNvPr id="60" name="Rectangle 67"/>
          <p:cNvSpPr/>
          <p:nvPr/>
        </p:nvSpPr>
        <p:spPr>
          <a:xfrm>
            <a:off x="2880360" y="4462272"/>
            <a:ext cx="2749244" cy="105156"/>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8"/>
          <p:cNvSpPr txBox="1"/>
          <p:nvPr/>
        </p:nvSpPr>
        <p:spPr>
          <a:xfrm>
            <a:off x="5693612" y="4430268"/>
            <a:ext cx="1005840" cy="169164"/>
          </a:xfrm>
          <a:prstGeom prst="rect">
            <a:avLst/>
          </a:prstGeom>
          <a:noFill/>
        </p:spPr>
        <p:txBody>
          <a:bodyPr wrap="square" lIns="0" rIns="0" tIns="0" bIns="0" anchor="ctr">
            <a:spAutoFit/>
          </a:bodyPr>
          <a:lstStyle/>
          <a:p>
            <a:pPr algn="l"/>
            <a:r>
              <a:rPr sz="950" b="0" i="0">
                <a:solidFill>
                  <a:srgbClr val="4A6478"/>
                </a:solidFill>
                <a:latin typeface="Segoe UI"/>
              </a:rPr>
              <a:t>1.437</a:t>
            </a:r>
          </a:p>
        </p:txBody>
      </p:sp>
      <p:sp>
        <p:nvSpPr>
          <p:cNvPr id="62" name="TextBox 69"/>
          <p:cNvSpPr txBox="1"/>
          <p:nvPr/>
        </p:nvSpPr>
        <p:spPr>
          <a:xfrm>
            <a:off x="1234440" y="4599432"/>
            <a:ext cx="1554480" cy="169164"/>
          </a:xfrm>
          <a:prstGeom prst="rect">
            <a:avLst/>
          </a:prstGeom>
          <a:noFill/>
        </p:spPr>
        <p:txBody>
          <a:bodyPr wrap="square" lIns="0" rIns="0" tIns="0" bIns="0" anchor="ctr">
            <a:spAutoFit/>
          </a:bodyPr>
          <a:lstStyle/>
          <a:p>
            <a:pPr algn="r"/>
            <a:r>
              <a:rPr sz="1000" b="0" i="0">
                <a:solidFill>
                  <a:srgbClr val="0B2438"/>
                </a:solidFill>
                <a:latin typeface="Segoe UI"/>
              </a:rPr>
              <a:t>Infiltration</a:t>
            </a:r>
          </a:p>
        </p:txBody>
      </p:sp>
      <p:sp>
        <p:nvSpPr>
          <p:cNvPr id="63" name="Rectangle 70"/>
          <p:cNvSpPr/>
          <p:nvPr/>
        </p:nvSpPr>
        <p:spPr>
          <a:xfrm>
            <a:off x="2880360" y="4631436"/>
            <a:ext cx="1355096" cy="105156"/>
          </a:xfrm>
          <a:prstGeom prst="rect">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71"/>
          <p:cNvSpPr txBox="1"/>
          <p:nvPr/>
        </p:nvSpPr>
        <p:spPr>
          <a:xfrm>
            <a:off x="4299464" y="4599432"/>
            <a:ext cx="1005840" cy="169164"/>
          </a:xfrm>
          <a:prstGeom prst="rect">
            <a:avLst/>
          </a:prstGeom>
          <a:noFill/>
        </p:spPr>
        <p:txBody>
          <a:bodyPr wrap="square" lIns="0" rIns="0" tIns="0" bIns="0" anchor="ctr">
            <a:spAutoFit/>
          </a:bodyPr>
          <a:lstStyle/>
          <a:p>
            <a:pPr algn="l"/>
            <a:r>
              <a:rPr sz="950" b="0" i="0">
                <a:solidFill>
                  <a:srgbClr val="4A6478"/>
                </a:solidFill>
                <a:latin typeface="Segoe UI"/>
              </a:rPr>
              <a:t>36</a:t>
            </a:r>
          </a:p>
        </p:txBody>
      </p:sp>
      <p:sp>
        <p:nvSpPr>
          <p:cNvPr id="65" name="TextBox 72"/>
          <p:cNvSpPr txBox="1"/>
          <p:nvPr/>
        </p:nvSpPr>
        <p:spPr>
          <a:xfrm>
            <a:off x="1234440" y="4768596"/>
            <a:ext cx="1554480" cy="169164"/>
          </a:xfrm>
          <a:prstGeom prst="rect">
            <a:avLst/>
          </a:prstGeom>
          <a:noFill/>
        </p:spPr>
        <p:txBody>
          <a:bodyPr wrap="square" lIns="0" rIns="0" tIns="0" bIns="0" anchor="ctr">
            <a:spAutoFit/>
          </a:bodyPr>
          <a:lstStyle/>
          <a:p>
            <a:pPr algn="r"/>
            <a:r>
              <a:rPr sz="1000" b="0" i="0">
                <a:solidFill>
                  <a:srgbClr val="0B2438"/>
                </a:solidFill>
                <a:latin typeface="Segoe UI"/>
              </a:rPr>
              <a:t>Heartbleed</a:t>
            </a:r>
          </a:p>
        </p:txBody>
      </p:sp>
      <p:sp>
        <p:nvSpPr>
          <p:cNvPr id="66" name="Rectangle 73"/>
          <p:cNvSpPr/>
          <p:nvPr/>
        </p:nvSpPr>
        <p:spPr>
          <a:xfrm>
            <a:off x="2880360" y="4800600"/>
            <a:ext cx="906756" cy="105156"/>
          </a:xfrm>
          <a:prstGeom prst="rect">
            <a:avLst/>
          </a:prstGeom>
          <a:solidFill>
            <a:srgbClr val="9A3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74"/>
          <p:cNvSpPr txBox="1"/>
          <p:nvPr/>
        </p:nvSpPr>
        <p:spPr>
          <a:xfrm>
            <a:off x="3851124" y="4768596"/>
            <a:ext cx="1005840" cy="169164"/>
          </a:xfrm>
          <a:prstGeom prst="rect">
            <a:avLst/>
          </a:prstGeom>
          <a:noFill/>
        </p:spPr>
        <p:txBody>
          <a:bodyPr wrap="square" lIns="0" rIns="0" tIns="0" bIns="0" anchor="ctr">
            <a:spAutoFit/>
          </a:bodyPr>
          <a:lstStyle/>
          <a:p>
            <a:pPr algn="l"/>
            <a:r>
              <a:rPr sz="950" b="0" i="0">
                <a:solidFill>
                  <a:srgbClr val="4A6478"/>
                </a:solidFill>
                <a:latin typeface="Segoe UI"/>
              </a:rPr>
              <a:t>11</a:t>
            </a:r>
          </a:p>
        </p:txBody>
      </p:sp>
      <p:sp>
        <p:nvSpPr>
          <p:cNvPr id="68" name="TextBox 75"/>
          <p:cNvSpPr txBox="1"/>
          <p:nvPr/>
        </p:nvSpPr>
        <p:spPr>
          <a:xfrm>
            <a:off x="9464040" y="4754880"/>
            <a:ext cx="1490472" cy="457200"/>
          </a:xfrm>
          <a:prstGeom prst="rect">
            <a:avLst/>
          </a:prstGeom>
          <a:noFill/>
        </p:spPr>
        <p:txBody>
          <a:bodyPr wrap="square" lIns="0" rIns="0" tIns="0" bIns="0" anchor="t">
            <a:spAutoFit/>
          </a:bodyPr>
          <a:lstStyle/>
          <a:p>
            <a:pPr algn="l"/>
            <a:r>
              <a:rPr sz="900" b="0" i="0">
                <a:solidFill>
                  <a:srgbClr val="9A3B1B"/>
                </a:solidFill>
                <a:latin typeface="Segoe UI"/>
              </a:rPr>
              <a:t>■ </a:t>
            </a:r>
            <a:r>
              <a:rPr sz="900" b="0" i="0">
                <a:solidFill>
                  <a:srgbClr val="4A6478"/>
                </a:solidFill>
                <a:latin typeface="Segoe UI"/>
              </a:rPr>
              <a:t>meno di 50 flussi: quasi invisibili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Image 0" descr="Logo Unimore">    </p:cNvPr>
          <p:cNvPicPr>
            <a:picLocks noChangeAspect="1"/>
          </p:cNvPicPr>
          <p:nvPr/>
        </p:nvPicPr>
        <p:blipFill>
          <a:blip r:embed="rId2"/>
          <a:stretch>
            <a:fillRect/>
          </a:stretch>
        </p:blipFill>
        <p:spPr>
          <a:xfrm>
            <a:off x="11023092" y="274320"/>
            <a:ext cx="566014" cy="640080"/>
          </a:xfrm>
          <a:prstGeom prst="rect">
            <a:avLst/>
          </a:prstGeom>
        </p:spPr>
      </p:pic>
      <p:sp>
        <p:nvSpPr>
          <p:cNvPr id="6" name="Text 2"/>
          <p:cNvSpPr/>
          <p:nvPr/>
        </p:nvSpPr>
        <p:spPr>
          <a:xfrm>
            <a:off x="5309464" y="384048"/>
            <a:ext cx="1572768"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02 · MODELLI</a:t>
            </a:r>
            <a:endParaRPr lang="en-US" sz="1050" dirty="0"/>
          </a:p>
        </p:txBody>
      </p:sp>
      <p:sp>
        <p:nvSpPr>
          <p:cNvPr id="7" name="Text 3"/>
          <p:cNvSpPr txBox="1"/>
          <p:nvPr/>
        </p:nvSpPr>
        <p:spPr>
          <a:xfrm>
            <a:off x="822960" y="868680"/>
            <a:ext cx="10545775" cy="822960"/>
          </a:xfrm>
          <a:prstGeom prst="rect">
            <a:avLst/>
          </a:prstGeom>
          <a:noFill/>
          <a:ln/>
        </p:spPr>
        <p:txBody>
          <a:bodyPr wrap="square" lIns="0" tIns="0" rIns="0" bIns="0" rtlCol="0" anchor="ctr"/>
          <a:lstStyle/>
          <a:p>
            <a:pPr algn="ctr" indent="0" marL="0">
              <a:buNone/>
            </a:pPr>
            <a:r>
              <a:rPr lang="en-US" sz="3600" dirty="0">
                <a:solidFill>
                  <a:srgbClr val="FFFFFF"/>
                </a:solidFill>
                <a:latin typeface="Georgia" pitchFamily="34" charset="0"/>
                <a:ea typeface="Georgia" pitchFamily="34" charset="-122"/>
                <a:cs typeface="Georgia" pitchFamily="34" charset="-120"/>
              </a:rPr>
              <a:t>Tre modelli, due modi di </a:t>
            </a:r>
            <a:pPr algn="ctr" indent="0" marL="0">
              <a:buNone/>
            </a:pPr>
            <a:r>
              <a:rPr lang="en-US" sz="3600" i="1" dirty="0">
                <a:solidFill>
                  <a:srgbClr val="BCD1DE"/>
                </a:solidFill>
                <a:latin typeface="Georgia" pitchFamily="34" charset="0"/>
                <a:ea typeface="Georgia" pitchFamily="34" charset="-122"/>
                <a:cs typeface="Georgia" pitchFamily="34" charset="-120"/>
              </a:rPr>
              <a:t>imparare</a:t>
            </a:r>
            <a:endParaRPr lang="en-US" sz="3600" dirty="0"/>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 6"/>
          <p:cNvSpPr txBox="1"/>
          <p:nvPr/>
        </p:nvSpPr>
        <p:spPr>
          <a:xfrm>
            <a:off x="9997135" y="6473952"/>
            <a:ext cx="1097280" cy="228600"/>
          </a:xfrm>
          <a:prstGeom prst="rect">
            <a:avLst/>
          </a:prstGeom>
          <a:noFill/>
          <a:ln/>
        </p:spPr>
        <p:txBody>
          <a:bodyPr wrap="square" lIns="0" tIns="0" rIns="0" bIns="0" rtlCol="0" anchor="t"/>
          <a:lstStyle/>
          <a:p>
            <a:pPr algn="r" indent="0" marL="0">
              <a:buNone/>
            </a:pPr>
            <a:r>
              <a:rPr lang="en-US" sz="1000" dirty="0">
                <a:solidFill>
                  <a:srgbClr val="84A0B4"/>
                </a:solidFill>
                <a:latin typeface="Segoe UI" pitchFamily="34" charset="0"/>
                <a:ea typeface="Segoe UI" pitchFamily="34" charset="-122"/>
                <a:cs typeface="Segoe UI" pitchFamily="34" charset="-120"/>
              </a:rPr>
              <a:t>03 / 08</a:t>
            </a:r>
            <a:endParaRPr lang="en-US" sz="1000" dirty="0"/>
          </a:p>
        </p:txBody>
      </p:sp>
      <p:sp>
        <p:nvSpPr>
          <p:cNvPr id="11" name="Shape 7"/>
          <p:cNvSpPr/>
          <p:nvPr/>
        </p:nvSpPr>
        <p:spPr>
          <a:xfrm flipH="1">
            <a:off x="1721053" y="2468880"/>
            <a:ext cx="219456" cy="274320"/>
          </a:xfrm>
          <a:prstGeom prst="line">
            <a:avLst/>
          </a:prstGeom>
          <a:noFill/>
          <a:ln w="15875">
            <a:solidFill>
              <a:srgbClr val="0B2438"/>
            </a:solidFill>
            <a:prstDash val="solid"/>
          </a:ln>
        </p:spPr>
      </p:sp>
      <p:sp>
        <p:nvSpPr>
          <p:cNvPr id="12" name="Shape 8"/>
          <p:cNvSpPr/>
          <p:nvPr/>
        </p:nvSpPr>
        <p:spPr>
          <a:xfrm>
            <a:off x="1940509" y="2468880"/>
            <a:ext cx="219456" cy="274320"/>
          </a:xfrm>
          <a:prstGeom prst="line">
            <a:avLst/>
          </a:prstGeom>
          <a:noFill/>
          <a:ln w="15875">
            <a:solidFill>
              <a:srgbClr val="0B2438"/>
            </a:solidFill>
            <a:prstDash val="solid"/>
          </a:ln>
        </p:spPr>
      </p:sp>
      <p:sp>
        <p:nvSpPr>
          <p:cNvPr id="13" name="Shape 9"/>
          <p:cNvSpPr/>
          <p:nvPr/>
        </p:nvSpPr>
        <p:spPr>
          <a:xfrm flipH="1">
            <a:off x="1611325" y="2743200"/>
            <a:ext cx="109728" cy="274320"/>
          </a:xfrm>
          <a:prstGeom prst="line">
            <a:avLst/>
          </a:prstGeom>
          <a:noFill/>
          <a:ln w="15875">
            <a:solidFill>
              <a:srgbClr val="0B2438"/>
            </a:solidFill>
            <a:prstDash val="solid"/>
          </a:ln>
        </p:spPr>
      </p:sp>
      <p:sp>
        <p:nvSpPr>
          <p:cNvPr id="14" name="Shape 10"/>
          <p:cNvSpPr/>
          <p:nvPr/>
        </p:nvSpPr>
        <p:spPr>
          <a:xfrm>
            <a:off x="1721053" y="2743200"/>
            <a:ext cx="109728" cy="274320"/>
          </a:xfrm>
          <a:prstGeom prst="line">
            <a:avLst/>
          </a:prstGeom>
          <a:noFill/>
          <a:ln w="15875">
            <a:solidFill>
              <a:srgbClr val="0B2438"/>
            </a:solidFill>
            <a:prstDash val="solid"/>
          </a:ln>
        </p:spPr>
      </p:sp>
      <p:sp>
        <p:nvSpPr>
          <p:cNvPr id="15" name="Shape 11"/>
          <p:cNvSpPr/>
          <p:nvPr/>
        </p:nvSpPr>
        <p:spPr>
          <a:xfrm flipH="1">
            <a:off x="2050237" y="2743200"/>
            <a:ext cx="109728" cy="274320"/>
          </a:xfrm>
          <a:prstGeom prst="line">
            <a:avLst/>
          </a:prstGeom>
          <a:noFill/>
          <a:ln w="15875">
            <a:solidFill>
              <a:srgbClr val="0B2438"/>
            </a:solidFill>
            <a:prstDash val="solid"/>
          </a:ln>
        </p:spPr>
      </p:sp>
      <p:sp>
        <p:nvSpPr>
          <p:cNvPr id="16" name="Shape 12"/>
          <p:cNvSpPr/>
          <p:nvPr/>
        </p:nvSpPr>
        <p:spPr>
          <a:xfrm>
            <a:off x="2159965" y="2743200"/>
            <a:ext cx="109728" cy="274320"/>
          </a:xfrm>
          <a:prstGeom prst="line">
            <a:avLst/>
          </a:prstGeom>
          <a:noFill/>
          <a:ln w="15875">
            <a:solidFill>
              <a:srgbClr val="0B2438"/>
            </a:solidFill>
            <a:prstDash val="solid"/>
          </a:ln>
        </p:spPr>
      </p:sp>
      <p:sp>
        <p:nvSpPr>
          <p:cNvPr id="17" name="Shape 13"/>
          <p:cNvSpPr/>
          <p:nvPr/>
        </p:nvSpPr>
        <p:spPr>
          <a:xfrm>
            <a:off x="1867357" y="2395728"/>
            <a:ext cx="146304" cy="146304"/>
          </a:xfrm>
          <a:prstGeom prst="ellipse">
            <a:avLst/>
          </a:prstGeom>
          <a:solidFill>
            <a:srgbClr val="0B2438"/>
          </a:solidFill>
          <a:ln w="6350">
            <a:solidFill>
              <a:srgbClr val="F7FAFC"/>
            </a:solidFill>
            <a:prstDash val="solid"/>
          </a:ln>
        </p:spPr>
      </p:sp>
      <p:sp>
        <p:nvSpPr>
          <p:cNvPr id="18" name="Shape 14"/>
          <p:cNvSpPr/>
          <p:nvPr/>
        </p:nvSpPr>
        <p:spPr>
          <a:xfrm>
            <a:off x="1647901" y="2670048"/>
            <a:ext cx="146304" cy="146304"/>
          </a:xfrm>
          <a:prstGeom prst="ellipse">
            <a:avLst/>
          </a:prstGeom>
          <a:solidFill>
            <a:srgbClr val="0B2438"/>
          </a:solidFill>
          <a:ln w="6350">
            <a:solidFill>
              <a:srgbClr val="F7FAFC"/>
            </a:solidFill>
            <a:prstDash val="solid"/>
          </a:ln>
        </p:spPr>
      </p:sp>
      <p:sp>
        <p:nvSpPr>
          <p:cNvPr id="19" name="Shape 15"/>
          <p:cNvSpPr/>
          <p:nvPr/>
        </p:nvSpPr>
        <p:spPr>
          <a:xfrm>
            <a:off x="2086813" y="2670048"/>
            <a:ext cx="146304" cy="146304"/>
          </a:xfrm>
          <a:prstGeom prst="ellipse">
            <a:avLst/>
          </a:prstGeom>
          <a:solidFill>
            <a:srgbClr val="0B2438"/>
          </a:solidFill>
          <a:ln w="6350">
            <a:solidFill>
              <a:srgbClr val="F7FAFC"/>
            </a:solidFill>
            <a:prstDash val="solid"/>
          </a:ln>
        </p:spPr>
      </p:sp>
      <p:sp>
        <p:nvSpPr>
          <p:cNvPr id="20" name="Shape 16"/>
          <p:cNvSpPr/>
          <p:nvPr/>
        </p:nvSpPr>
        <p:spPr>
          <a:xfrm>
            <a:off x="1538173" y="2944368"/>
            <a:ext cx="146304" cy="146304"/>
          </a:xfrm>
          <a:prstGeom prst="ellipse">
            <a:avLst/>
          </a:prstGeom>
          <a:solidFill>
            <a:srgbClr val="0B2438"/>
          </a:solidFill>
          <a:ln w="6350">
            <a:solidFill>
              <a:srgbClr val="F7FAFC"/>
            </a:solidFill>
            <a:prstDash val="solid"/>
          </a:ln>
        </p:spPr>
      </p:sp>
      <p:sp>
        <p:nvSpPr>
          <p:cNvPr id="21" name="Shape 17"/>
          <p:cNvSpPr/>
          <p:nvPr/>
        </p:nvSpPr>
        <p:spPr>
          <a:xfrm>
            <a:off x="1757629" y="2944368"/>
            <a:ext cx="146304" cy="146304"/>
          </a:xfrm>
          <a:prstGeom prst="ellipse">
            <a:avLst/>
          </a:prstGeom>
          <a:solidFill>
            <a:srgbClr val="0B2438"/>
          </a:solidFill>
          <a:ln w="6350">
            <a:solidFill>
              <a:srgbClr val="F7FAFC"/>
            </a:solidFill>
            <a:prstDash val="solid"/>
          </a:ln>
        </p:spPr>
      </p:sp>
      <p:sp>
        <p:nvSpPr>
          <p:cNvPr id="22" name="Shape 18"/>
          <p:cNvSpPr/>
          <p:nvPr/>
        </p:nvSpPr>
        <p:spPr>
          <a:xfrm>
            <a:off x="1977085" y="2944368"/>
            <a:ext cx="146304" cy="146304"/>
          </a:xfrm>
          <a:prstGeom prst="ellipse">
            <a:avLst/>
          </a:prstGeom>
          <a:solidFill>
            <a:srgbClr val="0B2438"/>
          </a:solidFill>
          <a:ln w="6350">
            <a:solidFill>
              <a:srgbClr val="F7FAFC"/>
            </a:solidFill>
            <a:prstDash val="solid"/>
          </a:ln>
        </p:spPr>
      </p:sp>
      <p:sp>
        <p:nvSpPr>
          <p:cNvPr id="23" name="Shape 19"/>
          <p:cNvSpPr/>
          <p:nvPr/>
        </p:nvSpPr>
        <p:spPr>
          <a:xfrm>
            <a:off x="2196541" y="2944368"/>
            <a:ext cx="146304" cy="146304"/>
          </a:xfrm>
          <a:prstGeom prst="ellipse">
            <a:avLst/>
          </a:prstGeom>
          <a:solidFill>
            <a:srgbClr val="0B2438"/>
          </a:solidFill>
          <a:ln w="6350">
            <a:solidFill>
              <a:srgbClr val="F7FAFC"/>
            </a:solidFill>
            <a:prstDash val="solid"/>
          </a:ln>
        </p:spPr>
      </p:sp>
      <p:sp>
        <p:nvSpPr>
          <p:cNvPr id="24" name="Shape 20"/>
          <p:cNvSpPr/>
          <p:nvPr/>
        </p:nvSpPr>
        <p:spPr>
          <a:xfrm flipH="1">
            <a:off x="2635453" y="2468880"/>
            <a:ext cx="219456" cy="274320"/>
          </a:xfrm>
          <a:prstGeom prst="line">
            <a:avLst/>
          </a:prstGeom>
          <a:noFill/>
          <a:ln w="15875">
            <a:solidFill>
              <a:srgbClr val="0B2438"/>
            </a:solidFill>
            <a:prstDash val="solid"/>
          </a:ln>
        </p:spPr>
      </p:sp>
      <p:sp>
        <p:nvSpPr>
          <p:cNvPr id="25" name="Shape 21"/>
          <p:cNvSpPr/>
          <p:nvPr/>
        </p:nvSpPr>
        <p:spPr>
          <a:xfrm>
            <a:off x="2854909" y="2468880"/>
            <a:ext cx="219456" cy="274320"/>
          </a:xfrm>
          <a:prstGeom prst="line">
            <a:avLst/>
          </a:prstGeom>
          <a:noFill/>
          <a:ln w="15875">
            <a:solidFill>
              <a:srgbClr val="0B2438"/>
            </a:solidFill>
            <a:prstDash val="solid"/>
          </a:ln>
        </p:spPr>
      </p:sp>
      <p:sp>
        <p:nvSpPr>
          <p:cNvPr id="26" name="Shape 22"/>
          <p:cNvSpPr/>
          <p:nvPr/>
        </p:nvSpPr>
        <p:spPr>
          <a:xfrm flipH="1">
            <a:off x="2525725" y="2743200"/>
            <a:ext cx="109728" cy="274320"/>
          </a:xfrm>
          <a:prstGeom prst="line">
            <a:avLst/>
          </a:prstGeom>
          <a:noFill/>
          <a:ln w="15875">
            <a:solidFill>
              <a:srgbClr val="0B2438"/>
            </a:solidFill>
            <a:prstDash val="solid"/>
          </a:ln>
        </p:spPr>
      </p:sp>
      <p:sp>
        <p:nvSpPr>
          <p:cNvPr id="27" name="Shape 23"/>
          <p:cNvSpPr/>
          <p:nvPr/>
        </p:nvSpPr>
        <p:spPr>
          <a:xfrm>
            <a:off x="2635453" y="2743200"/>
            <a:ext cx="109728" cy="274320"/>
          </a:xfrm>
          <a:prstGeom prst="line">
            <a:avLst/>
          </a:prstGeom>
          <a:noFill/>
          <a:ln w="15875">
            <a:solidFill>
              <a:srgbClr val="0B2438"/>
            </a:solidFill>
            <a:prstDash val="solid"/>
          </a:ln>
        </p:spPr>
      </p:sp>
      <p:sp>
        <p:nvSpPr>
          <p:cNvPr id="28" name="Shape 24"/>
          <p:cNvSpPr/>
          <p:nvPr/>
        </p:nvSpPr>
        <p:spPr>
          <a:xfrm flipH="1">
            <a:off x="2964637" y="2743200"/>
            <a:ext cx="109728" cy="274320"/>
          </a:xfrm>
          <a:prstGeom prst="line">
            <a:avLst/>
          </a:prstGeom>
          <a:noFill/>
          <a:ln w="15875">
            <a:solidFill>
              <a:srgbClr val="0B2438"/>
            </a:solidFill>
            <a:prstDash val="solid"/>
          </a:ln>
        </p:spPr>
      </p:sp>
      <p:sp>
        <p:nvSpPr>
          <p:cNvPr id="29" name="Shape 25"/>
          <p:cNvSpPr/>
          <p:nvPr/>
        </p:nvSpPr>
        <p:spPr>
          <a:xfrm>
            <a:off x="3074365" y="2743200"/>
            <a:ext cx="109728" cy="274320"/>
          </a:xfrm>
          <a:prstGeom prst="line">
            <a:avLst/>
          </a:prstGeom>
          <a:noFill/>
          <a:ln w="15875">
            <a:solidFill>
              <a:srgbClr val="0B2438"/>
            </a:solidFill>
            <a:prstDash val="solid"/>
          </a:ln>
        </p:spPr>
      </p:sp>
      <p:sp>
        <p:nvSpPr>
          <p:cNvPr id="30" name="Shape 26"/>
          <p:cNvSpPr/>
          <p:nvPr/>
        </p:nvSpPr>
        <p:spPr>
          <a:xfrm>
            <a:off x="2781757" y="2395728"/>
            <a:ext cx="146304" cy="146304"/>
          </a:xfrm>
          <a:prstGeom prst="ellipse">
            <a:avLst/>
          </a:prstGeom>
          <a:solidFill>
            <a:srgbClr val="0B2438"/>
          </a:solidFill>
          <a:ln w="6350">
            <a:solidFill>
              <a:srgbClr val="F7FAFC"/>
            </a:solidFill>
            <a:prstDash val="solid"/>
          </a:ln>
        </p:spPr>
      </p:sp>
      <p:sp>
        <p:nvSpPr>
          <p:cNvPr id="31" name="Shape 27"/>
          <p:cNvSpPr/>
          <p:nvPr/>
        </p:nvSpPr>
        <p:spPr>
          <a:xfrm>
            <a:off x="2562301" y="2670048"/>
            <a:ext cx="146304" cy="146304"/>
          </a:xfrm>
          <a:prstGeom prst="ellipse">
            <a:avLst/>
          </a:prstGeom>
          <a:solidFill>
            <a:srgbClr val="0B2438"/>
          </a:solidFill>
          <a:ln w="6350">
            <a:solidFill>
              <a:srgbClr val="F7FAFC"/>
            </a:solidFill>
            <a:prstDash val="solid"/>
          </a:ln>
        </p:spPr>
      </p:sp>
      <p:sp>
        <p:nvSpPr>
          <p:cNvPr id="32" name="Shape 28"/>
          <p:cNvSpPr/>
          <p:nvPr/>
        </p:nvSpPr>
        <p:spPr>
          <a:xfrm>
            <a:off x="3001213" y="2670048"/>
            <a:ext cx="146304" cy="146304"/>
          </a:xfrm>
          <a:prstGeom prst="ellipse">
            <a:avLst/>
          </a:prstGeom>
          <a:solidFill>
            <a:srgbClr val="0B2438"/>
          </a:solidFill>
          <a:ln w="6350">
            <a:solidFill>
              <a:srgbClr val="F7FAFC"/>
            </a:solidFill>
            <a:prstDash val="solid"/>
          </a:ln>
        </p:spPr>
      </p:sp>
      <p:sp>
        <p:nvSpPr>
          <p:cNvPr id="33" name="Shape 29"/>
          <p:cNvSpPr/>
          <p:nvPr/>
        </p:nvSpPr>
        <p:spPr>
          <a:xfrm>
            <a:off x="2452573" y="2944368"/>
            <a:ext cx="146304" cy="146304"/>
          </a:xfrm>
          <a:prstGeom prst="ellipse">
            <a:avLst/>
          </a:prstGeom>
          <a:solidFill>
            <a:srgbClr val="0B2438"/>
          </a:solidFill>
          <a:ln w="6350">
            <a:solidFill>
              <a:srgbClr val="F7FAFC"/>
            </a:solidFill>
            <a:prstDash val="solid"/>
          </a:ln>
        </p:spPr>
      </p:sp>
      <p:sp>
        <p:nvSpPr>
          <p:cNvPr id="34" name="Shape 30"/>
          <p:cNvSpPr/>
          <p:nvPr/>
        </p:nvSpPr>
        <p:spPr>
          <a:xfrm>
            <a:off x="2672029" y="2944368"/>
            <a:ext cx="146304" cy="146304"/>
          </a:xfrm>
          <a:prstGeom prst="ellipse">
            <a:avLst/>
          </a:prstGeom>
          <a:solidFill>
            <a:srgbClr val="0B2438"/>
          </a:solidFill>
          <a:ln w="6350">
            <a:solidFill>
              <a:srgbClr val="F7FAFC"/>
            </a:solidFill>
            <a:prstDash val="solid"/>
          </a:ln>
        </p:spPr>
      </p:sp>
      <p:sp>
        <p:nvSpPr>
          <p:cNvPr id="35" name="Shape 31"/>
          <p:cNvSpPr/>
          <p:nvPr/>
        </p:nvSpPr>
        <p:spPr>
          <a:xfrm>
            <a:off x="2891485" y="2944368"/>
            <a:ext cx="146304" cy="146304"/>
          </a:xfrm>
          <a:prstGeom prst="ellipse">
            <a:avLst/>
          </a:prstGeom>
          <a:solidFill>
            <a:srgbClr val="0B2438"/>
          </a:solidFill>
          <a:ln w="6350">
            <a:solidFill>
              <a:srgbClr val="F7FAFC"/>
            </a:solidFill>
            <a:prstDash val="solid"/>
          </a:ln>
        </p:spPr>
      </p:sp>
      <p:sp>
        <p:nvSpPr>
          <p:cNvPr id="36" name="Shape 32"/>
          <p:cNvSpPr/>
          <p:nvPr/>
        </p:nvSpPr>
        <p:spPr>
          <a:xfrm>
            <a:off x="3110941" y="2944368"/>
            <a:ext cx="146304" cy="146304"/>
          </a:xfrm>
          <a:prstGeom prst="ellipse">
            <a:avLst/>
          </a:prstGeom>
          <a:solidFill>
            <a:srgbClr val="0B2438"/>
          </a:solidFill>
          <a:ln w="6350">
            <a:solidFill>
              <a:srgbClr val="F7FAFC"/>
            </a:solidFill>
            <a:prstDash val="solid"/>
          </a:ln>
        </p:spPr>
      </p:sp>
      <p:sp>
        <p:nvSpPr>
          <p:cNvPr id="37" name="Shape 33"/>
          <p:cNvSpPr/>
          <p:nvPr/>
        </p:nvSpPr>
        <p:spPr>
          <a:xfrm flipH="1">
            <a:off x="3549853" y="2468880"/>
            <a:ext cx="219456" cy="274320"/>
          </a:xfrm>
          <a:prstGeom prst="line">
            <a:avLst/>
          </a:prstGeom>
          <a:noFill/>
          <a:ln w="15875">
            <a:solidFill>
              <a:srgbClr val="0B2438"/>
            </a:solidFill>
            <a:prstDash val="solid"/>
          </a:ln>
        </p:spPr>
      </p:sp>
      <p:sp>
        <p:nvSpPr>
          <p:cNvPr id="38" name="Shape 34"/>
          <p:cNvSpPr/>
          <p:nvPr/>
        </p:nvSpPr>
        <p:spPr>
          <a:xfrm>
            <a:off x="3769309" y="2468880"/>
            <a:ext cx="219456" cy="274320"/>
          </a:xfrm>
          <a:prstGeom prst="line">
            <a:avLst/>
          </a:prstGeom>
          <a:noFill/>
          <a:ln w="15875">
            <a:solidFill>
              <a:srgbClr val="0B2438"/>
            </a:solidFill>
            <a:prstDash val="solid"/>
          </a:ln>
        </p:spPr>
      </p:sp>
      <p:sp>
        <p:nvSpPr>
          <p:cNvPr id="39" name="Shape 35"/>
          <p:cNvSpPr/>
          <p:nvPr/>
        </p:nvSpPr>
        <p:spPr>
          <a:xfrm flipH="1">
            <a:off x="3440125" y="2743200"/>
            <a:ext cx="109728" cy="274320"/>
          </a:xfrm>
          <a:prstGeom prst="line">
            <a:avLst/>
          </a:prstGeom>
          <a:noFill/>
          <a:ln w="15875">
            <a:solidFill>
              <a:srgbClr val="0B2438"/>
            </a:solidFill>
            <a:prstDash val="solid"/>
          </a:ln>
        </p:spPr>
      </p:sp>
      <p:sp>
        <p:nvSpPr>
          <p:cNvPr id="40" name="Shape 36"/>
          <p:cNvSpPr/>
          <p:nvPr/>
        </p:nvSpPr>
        <p:spPr>
          <a:xfrm>
            <a:off x="3549853" y="2743200"/>
            <a:ext cx="109728" cy="274320"/>
          </a:xfrm>
          <a:prstGeom prst="line">
            <a:avLst/>
          </a:prstGeom>
          <a:noFill/>
          <a:ln w="15875">
            <a:solidFill>
              <a:srgbClr val="0B2438"/>
            </a:solidFill>
            <a:prstDash val="solid"/>
          </a:ln>
        </p:spPr>
      </p:sp>
      <p:sp>
        <p:nvSpPr>
          <p:cNvPr id="41" name="Shape 37"/>
          <p:cNvSpPr/>
          <p:nvPr/>
        </p:nvSpPr>
        <p:spPr>
          <a:xfrm flipH="1">
            <a:off x="3879037" y="2743200"/>
            <a:ext cx="109728" cy="274320"/>
          </a:xfrm>
          <a:prstGeom prst="line">
            <a:avLst/>
          </a:prstGeom>
          <a:noFill/>
          <a:ln w="15875">
            <a:solidFill>
              <a:srgbClr val="0B2438"/>
            </a:solidFill>
            <a:prstDash val="solid"/>
          </a:ln>
        </p:spPr>
      </p:sp>
      <p:sp>
        <p:nvSpPr>
          <p:cNvPr id="42" name="Shape 38"/>
          <p:cNvSpPr/>
          <p:nvPr/>
        </p:nvSpPr>
        <p:spPr>
          <a:xfrm>
            <a:off x="3988765" y="2743200"/>
            <a:ext cx="109728" cy="274320"/>
          </a:xfrm>
          <a:prstGeom prst="line">
            <a:avLst/>
          </a:prstGeom>
          <a:noFill/>
          <a:ln w="15875">
            <a:solidFill>
              <a:srgbClr val="0B2438"/>
            </a:solidFill>
            <a:prstDash val="solid"/>
          </a:ln>
        </p:spPr>
      </p:sp>
      <p:sp>
        <p:nvSpPr>
          <p:cNvPr id="43" name="Shape 39"/>
          <p:cNvSpPr/>
          <p:nvPr/>
        </p:nvSpPr>
        <p:spPr>
          <a:xfrm>
            <a:off x="3696157" y="2395728"/>
            <a:ext cx="146304" cy="146304"/>
          </a:xfrm>
          <a:prstGeom prst="ellipse">
            <a:avLst/>
          </a:prstGeom>
          <a:solidFill>
            <a:srgbClr val="0B2438"/>
          </a:solidFill>
          <a:ln w="6350">
            <a:solidFill>
              <a:srgbClr val="F7FAFC"/>
            </a:solidFill>
            <a:prstDash val="solid"/>
          </a:ln>
        </p:spPr>
      </p:sp>
      <p:sp>
        <p:nvSpPr>
          <p:cNvPr id="44" name="Shape 40"/>
          <p:cNvSpPr/>
          <p:nvPr/>
        </p:nvSpPr>
        <p:spPr>
          <a:xfrm>
            <a:off x="3476701" y="2670048"/>
            <a:ext cx="146304" cy="146304"/>
          </a:xfrm>
          <a:prstGeom prst="ellipse">
            <a:avLst/>
          </a:prstGeom>
          <a:solidFill>
            <a:srgbClr val="0B2438"/>
          </a:solidFill>
          <a:ln w="6350">
            <a:solidFill>
              <a:srgbClr val="F7FAFC"/>
            </a:solidFill>
            <a:prstDash val="solid"/>
          </a:ln>
        </p:spPr>
      </p:sp>
      <p:sp>
        <p:nvSpPr>
          <p:cNvPr id="45" name="Shape 41"/>
          <p:cNvSpPr/>
          <p:nvPr/>
        </p:nvSpPr>
        <p:spPr>
          <a:xfrm>
            <a:off x="3915613" y="2670048"/>
            <a:ext cx="146304" cy="146304"/>
          </a:xfrm>
          <a:prstGeom prst="ellipse">
            <a:avLst/>
          </a:prstGeom>
          <a:solidFill>
            <a:srgbClr val="0B2438"/>
          </a:solidFill>
          <a:ln w="6350">
            <a:solidFill>
              <a:srgbClr val="F7FAFC"/>
            </a:solidFill>
            <a:prstDash val="solid"/>
          </a:ln>
        </p:spPr>
      </p:sp>
      <p:sp>
        <p:nvSpPr>
          <p:cNvPr id="46" name="Shape 42"/>
          <p:cNvSpPr/>
          <p:nvPr/>
        </p:nvSpPr>
        <p:spPr>
          <a:xfrm>
            <a:off x="3366973" y="2944368"/>
            <a:ext cx="146304" cy="146304"/>
          </a:xfrm>
          <a:prstGeom prst="ellipse">
            <a:avLst/>
          </a:prstGeom>
          <a:solidFill>
            <a:srgbClr val="0B2438"/>
          </a:solidFill>
          <a:ln w="6350">
            <a:solidFill>
              <a:srgbClr val="F7FAFC"/>
            </a:solidFill>
            <a:prstDash val="solid"/>
          </a:ln>
        </p:spPr>
      </p:sp>
      <p:sp>
        <p:nvSpPr>
          <p:cNvPr id="47" name="Shape 43"/>
          <p:cNvSpPr/>
          <p:nvPr/>
        </p:nvSpPr>
        <p:spPr>
          <a:xfrm>
            <a:off x="3586429" y="2944368"/>
            <a:ext cx="146304" cy="146304"/>
          </a:xfrm>
          <a:prstGeom prst="ellipse">
            <a:avLst/>
          </a:prstGeom>
          <a:solidFill>
            <a:srgbClr val="0B2438"/>
          </a:solidFill>
          <a:ln w="6350">
            <a:solidFill>
              <a:srgbClr val="F7FAFC"/>
            </a:solidFill>
            <a:prstDash val="solid"/>
          </a:ln>
        </p:spPr>
      </p:sp>
      <p:sp>
        <p:nvSpPr>
          <p:cNvPr id="48" name="Shape 44"/>
          <p:cNvSpPr/>
          <p:nvPr/>
        </p:nvSpPr>
        <p:spPr>
          <a:xfrm>
            <a:off x="3805885" y="2944368"/>
            <a:ext cx="146304" cy="146304"/>
          </a:xfrm>
          <a:prstGeom prst="ellipse">
            <a:avLst/>
          </a:prstGeom>
          <a:solidFill>
            <a:srgbClr val="0B2438"/>
          </a:solidFill>
          <a:ln w="6350">
            <a:solidFill>
              <a:srgbClr val="F7FAFC"/>
            </a:solidFill>
            <a:prstDash val="solid"/>
          </a:ln>
        </p:spPr>
      </p:sp>
      <p:sp>
        <p:nvSpPr>
          <p:cNvPr id="49" name="Shape 45"/>
          <p:cNvSpPr/>
          <p:nvPr/>
        </p:nvSpPr>
        <p:spPr>
          <a:xfrm>
            <a:off x="4025341" y="2944368"/>
            <a:ext cx="146304" cy="146304"/>
          </a:xfrm>
          <a:prstGeom prst="ellipse">
            <a:avLst/>
          </a:prstGeom>
          <a:solidFill>
            <a:srgbClr val="0B2438"/>
          </a:solidFill>
          <a:ln w="6350">
            <a:solidFill>
              <a:srgbClr val="F7FAFC"/>
            </a:solidFill>
            <a:prstDash val="solid"/>
          </a:ln>
        </p:spPr>
      </p:sp>
      <p:sp>
        <p:nvSpPr>
          <p:cNvPr id="50" name="Shape 46"/>
          <p:cNvSpPr/>
          <p:nvPr/>
        </p:nvSpPr>
        <p:spPr>
          <a:xfrm>
            <a:off x="1940509" y="3154680"/>
            <a:ext cx="914400" cy="457200"/>
          </a:xfrm>
          <a:prstGeom prst="line">
            <a:avLst/>
          </a:prstGeom>
          <a:noFill/>
          <a:ln w="15875">
            <a:solidFill>
              <a:srgbClr val="84A0B4"/>
            </a:solidFill>
            <a:prstDash val="solid"/>
            <a:tailEnd type="triangle"/>
          </a:ln>
        </p:spPr>
      </p:sp>
      <p:sp>
        <p:nvSpPr>
          <p:cNvPr id="51" name="Shape 47"/>
          <p:cNvSpPr/>
          <p:nvPr/>
        </p:nvSpPr>
        <p:spPr>
          <a:xfrm>
            <a:off x="2854909" y="3154680"/>
            <a:ext cx="0" cy="457200"/>
          </a:xfrm>
          <a:prstGeom prst="line">
            <a:avLst/>
          </a:prstGeom>
          <a:noFill/>
          <a:ln w="15875">
            <a:solidFill>
              <a:srgbClr val="84A0B4"/>
            </a:solidFill>
            <a:prstDash val="solid"/>
            <a:tailEnd type="triangle"/>
          </a:ln>
        </p:spPr>
      </p:sp>
      <p:sp>
        <p:nvSpPr>
          <p:cNvPr id="52" name="Shape 48"/>
          <p:cNvSpPr/>
          <p:nvPr/>
        </p:nvSpPr>
        <p:spPr>
          <a:xfrm flipH="1">
            <a:off x="2854909" y="3154680"/>
            <a:ext cx="914400" cy="457200"/>
          </a:xfrm>
          <a:prstGeom prst="line">
            <a:avLst/>
          </a:prstGeom>
          <a:noFill/>
          <a:ln w="15875">
            <a:solidFill>
              <a:srgbClr val="84A0B4"/>
            </a:solidFill>
            <a:prstDash val="solid"/>
            <a:tailEnd type="triangle"/>
          </a:ln>
        </p:spPr>
      </p:sp>
      <p:sp>
        <p:nvSpPr>
          <p:cNvPr id="53" name="Text 49"/>
          <p:cNvSpPr txBox="1"/>
          <p:nvPr/>
        </p:nvSpPr>
        <p:spPr>
          <a:xfrm>
            <a:off x="2306269" y="3657600"/>
            <a:ext cx="1097280" cy="274320"/>
          </a:xfrm>
          <a:prstGeom prst="rect">
            <a:avLst/>
          </a:prstGeom>
          <a:noFill/>
          <a:ln/>
        </p:spPr>
        <p:txBody>
          <a:bodyPr wrap="square" lIns="0" tIns="0" rIns="0" bIns="0" rtlCol="0" anchor="t"/>
          <a:lstStyle/>
          <a:p>
            <a:pPr algn="ctr" indent="0" marL="0">
              <a:buNone/>
            </a:pPr>
            <a:r>
              <a:rPr lang="en-US" sz="1400" i="1" dirty="0">
                <a:solidFill>
                  <a:srgbClr val="0B2438"/>
                </a:solidFill>
                <a:latin typeface="Georgia" pitchFamily="34" charset="0"/>
                <a:ea typeface="Georgia" pitchFamily="34" charset="-122"/>
                <a:cs typeface="Georgia" pitchFamily="34" charset="-120"/>
              </a:rPr>
              <a:t>voto</a:t>
            </a:r>
            <a:endParaRPr lang="en-US" sz="1400" dirty="0"/>
          </a:p>
        </p:txBody>
      </p:sp>
      <p:sp>
        <p:nvSpPr>
          <p:cNvPr id="54" name="Text 50"/>
          <p:cNvSpPr txBox="1"/>
          <p:nvPr/>
        </p:nvSpPr>
        <p:spPr>
          <a:xfrm>
            <a:off x="1417320" y="4297680"/>
            <a:ext cx="2875178" cy="457200"/>
          </a:xfrm>
          <a:prstGeom prst="rect">
            <a:avLst/>
          </a:prstGeom>
          <a:noFill/>
          <a:ln/>
        </p:spPr>
        <p:txBody>
          <a:bodyPr wrap="square" lIns="0" tIns="0" rIns="0" bIns="0" rtlCol="0" anchor="t"/>
          <a:lstStyle/>
          <a:p>
            <a:pPr algn="ctr" indent="0" marL="0">
              <a:buNone/>
            </a:pPr>
            <a:r>
              <a:rPr lang="en-US" sz="2600" dirty="0">
                <a:solidFill>
                  <a:srgbClr val="0B2438"/>
                </a:solidFill>
                <a:latin typeface="Georgia" pitchFamily="34" charset="0"/>
                <a:ea typeface="Georgia" pitchFamily="34" charset="-122"/>
                <a:cs typeface="Georgia" pitchFamily="34" charset="-120"/>
              </a:rPr>
              <a:t>Random Forest</a:t>
            </a:r>
            <a:endParaRPr lang="en-US" sz="2600" dirty="0"/>
          </a:p>
        </p:txBody>
      </p:sp>
      <p:sp>
        <p:nvSpPr>
          <p:cNvPr id="55" name="Text 51"/>
          <p:cNvSpPr txBox="1"/>
          <p:nvPr/>
        </p:nvSpPr>
        <p:spPr>
          <a:xfrm>
            <a:off x="1508760" y="4800600"/>
            <a:ext cx="2692298" cy="914400"/>
          </a:xfrm>
          <a:prstGeom prst="rect">
            <a:avLst/>
          </a:prstGeom>
          <a:noFill/>
          <a:ln/>
        </p:spPr>
        <p:txBody>
          <a:bodyPr wrap="square" lIns="0" tIns="0" rIns="0" bIns="0" rtlCol="0" anchor="t"/>
          <a:lstStyle/>
          <a:p>
            <a:pPr algn="ctr" indent="0" marL="0">
              <a:buNone/>
            </a:pPr>
            <a:r>
              <a:rPr lang="en-US" sz="1300" dirty="0">
                <a:solidFill>
                  <a:srgbClr val="4A6478"/>
                </a:solidFill>
                <a:latin typeface="Segoe UI" pitchFamily="34" charset="0"/>
                <a:ea typeface="Segoe UI" pitchFamily="34" charset="-122"/>
                <a:cs typeface="Segoe UI" pitchFamily="34" charset="-120"/>
              </a:rPr>
              <a:t>Molti alberi di decisione indipendenti: ognuno vota, vince la maggioranza. Usato come baseline.</a:t>
            </a:r>
            <a:endParaRPr lang="en-US" sz="1300" dirty="0"/>
          </a:p>
        </p:txBody>
      </p:sp>
      <p:sp>
        <p:nvSpPr>
          <p:cNvPr id="56" name="Shape 52"/>
          <p:cNvSpPr/>
          <p:nvPr/>
        </p:nvSpPr>
        <p:spPr>
          <a:xfrm>
            <a:off x="4475378" y="2377440"/>
            <a:ext cx="0" cy="3383280"/>
          </a:xfrm>
          <a:prstGeom prst="line">
            <a:avLst/>
          </a:prstGeom>
          <a:noFill/>
          <a:ln w="9525">
            <a:solidFill>
              <a:srgbClr val="D6E3EC"/>
            </a:solidFill>
            <a:prstDash val="solid"/>
          </a:ln>
        </p:spPr>
      </p:sp>
      <p:sp>
        <p:nvSpPr>
          <p:cNvPr id="57" name="Shape 53"/>
          <p:cNvSpPr/>
          <p:nvPr/>
        </p:nvSpPr>
        <p:spPr>
          <a:xfrm flipH="1">
            <a:off x="4870552" y="2606040"/>
            <a:ext cx="219456" cy="274320"/>
          </a:xfrm>
          <a:prstGeom prst="line">
            <a:avLst/>
          </a:prstGeom>
          <a:noFill/>
          <a:ln w="15875">
            <a:solidFill>
              <a:srgbClr val="C98A3E"/>
            </a:solidFill>
            <a:prstDash val="solid"/>
          </a:ln>
        </p:spPr>
      </p:sp>
      <p:sp>
        <p:nvSpPr>
          <p:cNvPr id="58" name="Shape 54"/>
          <p:cNvSpPr/>
          <p:nvPr/>
        </p:nvSpPr>
        <p:spPr>
          <a:xfrm>
            <a:off x="5090008" y="2606040"/>
            <a:ext cx="219456" cy="274320"/>
          </a:xfrm>
          <a:prstGeom prst="line">
            <a:avLst/>
          </a:prstGeom>
          <a:noFill/>
          <a:ln w="15875">
            <a:solidFill>
              <a:srgbClr val="C98A3E"/>
            </a:solidFill>
            <a:prstDash val="solid"/>
          </a:ln>
        </p:spPr>
      </p:sp>
      <p:sp>
        <p:nvSpPr>
          <p:cNvPr id="59" name="Shape 55"/>
          <p:cNvSpPr/>
          <p:nvPr/>
        </p:nvSpPr>
        <p:spPr>
          <a:xfrm flipH="1">
            <a:off x="4760824" y="2880360"/>
            <a:ext cx="109728" cy="274320"/>
          </a:xfrm>
          <a:prstGeom prst="line">
            <a:avLst/>
          </a:prstGeom>
          <a:noFill/>
          <a:ln w="15875">
            <a:solidFill>
              <a:srgbClr val="C98A3E"/>
            </a:solidFill>
            <a:prstDash val="solid"/>
          </a:ln>
        </p:spPr>
      </p:sp>
      <p:sp>
        <p:nvSpPr>
          <p:cNvPr id="60" name="Shape 56"/>
          <p:cNvSpPr/>
          <p:nvPr/>
        </p:nvSpPr>
        <p:spPr>
          <a:xfrm>
            <a:off x="4870552" y="2880360"/>
            <a:ext cx="109728" cy="274320"/>
          </a:xfrm>
          <a:prstGeom prst="line">
            <a:avLst/>
          </a:prstGeom>
          <a:noFill/>
          <a:ln w="15875">
            <a:solidFill>
              <a:srgbClr val="C98A3E"/>
            </a:solidFill>
            <a:prstDash val="solid"/>
          </a:ln>
        </p:spPr>
      </p:sp>
      <p:sp>
        <p:nvSpPr>
          <p:cNvPr id="61" name="Shape 57"/>
          <p:cNvSpPr/>
          <p:nvPr/>
        </p:nvSpPr>
        <p:spPr>
          <a:xfrm flipH="1">
            <a:off x="5199736" y="2880360"/>
            <a:ext cx="109728" cy="274320"/>
          </a:xfrm>
          <a:prstGeom prst="line">
            <a:avLst/>
          </a:prstGeom>
          <a:noFill/>
          <a:ln w="15875">
            <a:solidFill>
              <a:srgbClr val="C98A3E"/>
            </a:solidFill>
            <a:prstDash val="solid"/>
          </a:ln>
        </p:spPr>
      </p:sp>
      <p:sp>
        <p:nvSpPr>
          <p:cNvPr id="62" name="Shape 58"/>
          <p:cNvSpPr/>
          <p:nvPr/>
        </p:nvSpPr>
        <p:spPr>
          <a:xfrm>
            <a:off x="5309464" y="2880360"/>
            <a:ext cx="109728" cy="274320"/>
          </a:xfrm>
          <a:prstGeom prst="line">
            <a:avLst/>
          </a:prstGeom>
          <a:noFill/>
          <a:ln w="15875">
            <a:solidFill>
              <a:srgbClr val="C98A3E"/>
            </a:solidFill>
            <a:prstDash val="solid"/>
          </a:ln>
        </p:spPr>
      </p:sp>
      <p:sp>
        <p:nvSpPr>
          <p:cNvPr id="63" name="Shape 59"/>
          <p:cNvSpPr/>
          <p:nvPr/>
        </p:nvSpPr>
        <p:spPr>
          <a:xfrm>
            <a:off x="5016856" y="2532888"/>
            <a:ext cx="146304" cy="146304"/>
          </a:xfrm>
          <a:prstGeom prst="ellipse">
            <a:avLst/>
          </a:prstGeom>
          <a:solidFill>
            <a:srgbClr val="C98A3E"/>
          </a:solidFill>
          <a:ln w="6350">
            <a:solidFill>
              <a:srgbClr val="F7FAFC"/>
            </a:solidFill>
            <a:prstDash val="solid"/>
          </a:ln>
        </p:spPr>
      </p:sp>
      <p:sp>
        <p:nvSpPr>
          <p:cNvPr id="64" name="Shape 60"/>
          <p:cNvSpPr/>
          <p:nvPr/>
        </p:nvSpPr>
        <p:spPr>
          <a:xfrm>
            <a:off x="4797400" y="2807208"/>
            <a:ext cx="146304" cy="146304"/>
          </a:xfrm>
          <a:prstGeom prst="ellipse">
            <a:avLst/>
          </a:prstGeom>
          <a:solidFill>
            <a:srgbClr val="C98A3E"/>
          </a:solidFill>
          <a:ln w="6350">
            <a:solidFill>
              <a:srgbClr val="F7FAFC"/>
            </a:solidFill>
            <a:prstDash val="solid"/>
          </a:ln>
        </p:spPr>
      </p:sp>
      <p:sp>
        <p:nvSpPr>
          <p:cNvPr id="65" name="Shape 61"/>
          <p:cNvSpPr/>
          <p:nvPr/>
        </p:nvSpPr>
        <p:spPr>
          <a:xfrm>
            <a:off x="5236312" y="2807208"/>
            <a:ext cx="146304" cy="146304"/>
          </a:xfrm>
          <a:prstGeom prst="ellipse">
            <a:avLst/>
          </a:prstGeom>
          <a:solidFill>
            <a:srgbClr val="C98A3E"/>
          </a:solidFill>
          <a:ln w="6350">
            <a:solidFill>
              <a:srgbClr val="F7FAFC"/>
            </a:solidFill>
            <a:prstDash val="solid"/>
          </a:ln>
        </p:spPr>
      </p:sp>
      <p:sp>
        <p:nvSpPr>
          <p:cNvPr id="66" name="Shape 62"/>
          <p:cNvSpPr/>
          <p:nvPr/>
        </p:nvSpPr>
        <p:spPr>
          <a:xfrm>
            <a:off x="4687672" y="3081528"/>
            <a:ext cx="146304" cy="146304"/>
          </a:xfrm>
          <a:prstGeom prst="ellipse">
            <a:avLst/>
          </a:prstGeom>
          <a:solidFill>
            <a:srgbClr val="C98A3E"/>
          </a:solidFill>
          <a:ln w="6350">
            <a:solidFill>
              <a:srgbClr val="F7FAFC"/>
            </a:solidFill>
            <a:prstDash val="solid"/>
          </a:ln>
        </p:spPr>
      </p:sp>
      <p:sp>
        <p:nvSpPr>
          <p:cNvPr id="67" name="Shape 63"/>
          <p:cNvSpPr/>
          <p:nvPr/>
        </p:nvSpPr>
        <p:spPr>
          <a:xfrm>
            <a:off x="4907128" y="3081528"/>
            <a:ext cx="146304" cy="146304"/>
          </a:xfrm>
          <a:prstGeom prst="ellipse">
            <a:avLst/>
          </a:prstGeom>
          <a:solidFill>
            <a:srgbClr val="C98A3E"/>
          </a:solidFill>
          <a:ln w="6350">
            <a:solidFill>
              <a:srgbClr val="F7FAFC"/>
            </a:solidFill>
            <a:prstDash val="solid"/>
          </a:ln>
        </p:spPr>
      </p:sp>
      <p:sp>
        <p:nvSpPr>
          <p:cNvPr id="68" name="Shape 64"/>
          <p:cNvSpPr/>
          <p:nvPr/>
        </p:nvSpPr>
        <p:spPr>
          <a:xfrm>
            <a:off x="5126584" y="3081528"/>
            <a:ext cx="146304" cy="146304"/>
          </a:xfrm>
          <a:prstGeom prst="ellipse">
            <a:avLst/>
          </a:prstGeom>
          <a:solidFill>
            <a:srgbClr val="C98A3E"/>
          </a:solidFill>
          <a:ln w="6350">
            <a:solidFill>
              <a:srgbClr val="F7FAFC"/>
            </a:solidFill>
            <a:prstDash val="solid"/>
          </a:ln>
        </p:spPr>
      </p:sp>
      <p:sp>
        <p:nvSpPr>
          <p:cNvPr id="69" name="Shape 65"/>
          <p:cNvSpPr/>
          <p:nvPr/>
        </p:nvSpPr>
        <p:spPr>
          <a:xfrm>
            <a:off x="5346040" y="3081528"/>
            <a:ext cx="146304" cy="146304"/>
          </a:xfrm>
          <a:prstGeom prst="ellipse">
            <a:avLst/>
          </a:prstGeom>
          <a:solidFill>
            <a:srgbClr val="C98A3E"/>
          </a:solidFill>
          <a:ln w="6350">
            <a:solidFill>
              <a:srgbClr val="F7FAFC"/>
            </a:solidFill>
            <a:prstDash val="solid"/>
          </a:ln>
        </p:spPr>
      </p:sp>
      <p:sp>
        <p:nvSpPr>
          <p:cNvPr id="70" name="Shape 66"/>
          <p:cNvSpPr/>
          <p:nvPr/>
        </p:nvSpPr>
        <p:spPr>
          <a:xfrm flipH="1">
            <a:off x="5876392" y="2606040"/>
            <a:ext cx="219456" cy="274320"/>
          </a:xfrm>
          <a:prstGeom prst="line">
            <a:avLst/>
          </a:prstGeom>
          <a:noFill/>
          <a:ln w="15875">
            <a:solidFill>
              <a:srgbClr val="C98A3E"/>
            </a:solidFill>
            <a:prstDash val="solid"/>
          </a:ln>
        </p:spPr>
      </p:sp>
      <p:sp>
        <p:nvSpPr>
          <p:cNvPr id="71" name="Shape 67"/>
          <p:cNvSpPr/>
          <p:nvPr/>
        </p:nvSpPr>
        <p:spPr>
          <a:xfrm>
            <a:off x="6095848" y="2606040"/>
            <a:ext cx="219456" cy="274320"/>
          </a:xfrm>
          <a:prstGeom prst="line">
            <a:avLst/>
          </a:prstGeom>
          <a:noFill/>
          <a:ln w="15875">
            <a:solidFill>
              <a:srgbClr val="C98A3E"/>
            </a:solidFill>
            <a:prstDash val="solid"/>
          </a:ln>
        </p:spPr>
      </p:sp>
      <p:sp>
        <p:nvSpPr>
          <p:cNvPr id="72" name="Shape 68"/>
          <p:cNvSpPr/>
          <p:nvPr/>
        </p:nvSpPr>
        <p:spPr>
          <a:xfrm flipH="1">
            <a:off x="5766664" y="2880360"/>
            <a:ext cx="109728" cy="274320"/>
          </a:xfrm>
          <a:prstGeom prst="line">
            <a:avLst/>
          </a:prstGeom>
          <a:noFill/>
          <a:ln w="15875">
            <a:solidFill>
              <a:srgbClr val="C98A3E"/>
            </a:solidFill>
            <a:prstDash val="solid"/>
          </a:ln>
        </p:spPr>
      </p:sp>
      <p:sp>
        <p:nvSpPr>
          <p:cNvPr id="73" name="Shape 69"/>
          <p:cNvSpPr/>
          <p:nvPr/>
        </p:nvSpPr>
        <p:spPr>
          <a:xfrm>
            <a:off x="5876392" y="2880360"/>
            <a:ext cx="109728" cy="274320"/>
          </a:xfrm>
          <a:prstGeom prst="line">
            <a:avLst/>
          </a:prstGeom>
          <a:noFill/>
          <a:ln w="15875">
            <a:solidFill>
              <a:srgbClr val="C98A3E"/>
            </a:solidFill>
            <a:prstDash val="solid"/>
          </a:ln>
        </p:spPr>
      </p:sp>
      <p:sp>
        <p:nvSpPr>
          <p:cNvPr id="74" name="Shape 70"/>
          <p:cNvSpPr/>
          <p:nvPr/>
        </p:nvSpPr>
        <p:spPr>
          <a:xfrm flipH="1">
            <a:off x="6205576" y="2880360"/>
            <a:ext cx="109728" cy="274320"/>
          </a:xfrm>
          <a:prstGeom prst="line">
            <a:avLst/>
          </a:prstGeom>
          <a:noFill/>
          <a:ln w="15875">
            <a:solidFill>
              <a:srgbClr val="C98A3E"/>
            </a:solidFill>
            <a:prstDash val="solid"/>
          </a:ln>
        </p:spPr>
      </p:sp>
      <p:sp>
        <p:nvSpPr>
          <p:cNvPr id="75" name="Shape 71"/>
          <p:cNvSpPr/>
          <p:nvPr/>
        </p:nvSpPr>
        <p:spPr>
          <a:xfrm>
            <a:off x="6315304" y="2880360"/>
            <a:ext cx="109728" cy="274320"/>
          </a:xfrm>
          <a:prstGeom prst="line">
            <a:avLst/>
          </a:prstGeom>
          <a:noFill/>
          <a:ln w="15875">
            <a:solidFill>
              <a:srgbClr val="C98A3E"/>
            </a:solidFill>
            <a:prstDash val="solid"/>
          </a:ln>
        </p:spPr>
      </p:sp>
      <p:sp>
        <p:nvSpPr>
          <p:cNvPr id="76" name="Shape 72"/>
          <p:cNvSpPr/>
          <p:nvPr/>
        </p:nvSpPr>
        <p:spPr>
          <a:xfrm>
            <a:off x="6022696" y="2532888"/>
            <a:ext cx="146304" cy="146304"/>
          </a:xfrm>
          <a:prstGeom prst="ellipse">
            <a:avLst/>
          </a:prstGeom>
          <a:solidFill>
            <a:srgbClr val="C98A3E"/>
          </a:solidFill>
          <a:ln w="6350">
            <a:solidFill>
              <a:srgbClr val="F7FAFC"/>
            </a:solidFill>
            <a:prstDash val="solid"/>
          </a:ln>
        </p:spPr>
      </p:sp>
      <p:sp>
        <p:nvSpPr>
          <p:cNvPr id="77" name="Shape 73"/>
          <p:cNvSpPr/>
          <p:nvPr/>
        </p:nvSpPr>
        <p:spPr>
          <a:xfrm>
            <a:off x="5803240" y="2807208"/>
            <a:ext cx="146304" cy="146304"/>
          </a:xfrm>
          <a:prstGeom prst="ellipse">
            <a:avLst/>
          </a:prstGeom>
          <a:solidFill>
            <a:srgbClr val="C98A3E"/>
          </a:solidFill>
          <a:ln w="6350">
            <a:solidFill>
              <a:srgbClr val="F7FAFC"/>
            </a:solidFill>
            <a:prstDash val="solid"/>
          </a:ln>
        </p:spPr>
      </p:sp>
      <p:sp>
        <p:nvSpPr>
          <p:cNvPr id="78" name="Shape 74"/>
          <p:cNvSpPr/>
          <p:nvPr/>
        </p:nvSpPr>
        <p:spPr>
          <a:xfrm>
            <a:off x="6242152" y="2807208"/>
            <a:ext cx="146304" cy="146304"/>
          </a:xfrm>
          <a:prstGeom prst="ellipse">
            <a:avLst/>
          </a:prstGeom>
          <a:solidFill>
            <a:srgbClr val="C98A3E"/>
          </a:solidFill>
          <a:ln w="6350">
            <a:solidFill>
              <a:srgbClr val="F7FAFC"/>
            </a:solidFill>
            <a:prstDash val="solid"/>
          </a:ln>
        </p:spPr>
      </p:sp>
      <p:sp>
        <p:nvSpPr>
          <p:cNvPr id="79" name="Shape 75"/>
          <p:cNvSpPr/>
          <p:nvPr/>
        </p:nvSpPr>
        <p:spPr>
          <a:xfrm>
            <a:off x="5693512" y="3081528"/>
            <a:ext cx="146304" cy="146304"/>
          </a:xfrm>
          <a:prstGeom prst="ellipse">
            <a:avLst/>
          </a:prstGeom>
          <a:solidFill>
            <a:srgbClr val="C98A3E"/>
          </a:solidFill>
          <a:ln w="6350">
            <a:solidFill>
              <a:srgbClr val="F7FAFC"/>
            </a:solidFill>
            <a:prstDash val="solid"/>
          </a:ln>
        </p:spPr>
      </p:sp>
      <p:sp>
        <p:nvSpPr>
          <p:cNvPr id="80" name="Shape 76"/>
          <p:cNvSpPr/>
          <p:nvPr/>
        </p:nvSpPr>
        <p:spPr>
          <a:xfrm>
            <a:off x="5912968" y="3081528"/>
            <a:ext cx="146304" cy="146304"/>
          </a:xfrm>
          <a:prstGeom prst="ellipse">
            <a:avLst/>
          </a:prstGeom>
          <a:solidFill>
            <a:srgbClr val="C98A3E"/>
          </a:solidFill>
          <a:ln w="6350">
            <a:solidFill>
              <a:srgbClr val="F7FAFC"/>
            </a:solidFill>
            <a:prstDash val="solid"/>
          </a:ln>
        </p:spPr>
      </p:sp>
      <p:sp>
        <p:nvSpPr>
          <p:cNvPr id="81" name="Shape 77"/>
          <p:cNvSpPr/>
          <p:nvPr/>
        </p:nvSpPr>
        <p:spPr>
          <a:xfrm>
            <a:off x="6132424" y="3081528"/>
            <a:ext cx="146304" cy="146304"/>
          </a:xfrm>
          <a:prstGeom prst="ellipse">
            <a:avLst/>
          </a:prstGeom>
          <a:solidFill>
            <a:srgbClr val="C98A3E"/>
          </a:solidFill>
          <a:ln w="6350">
            <a:solidFill>
              <a:srgbClr val="F7FAFC"/>
            </a:solidFill>
            <a:prstDash val="solid"/>
          </a:ln>
        </p:spPr>
      </p:sp>
      <p:sp>
        <p:nvSpPr>
          <p:cNvPr id="82" name="Shape 78"/>
          <p:cNvSpPr/>
          <p:nvPr/>
        </p:nvSpPr>
        <p:spPr>
          <a:xfrm>
            <a:off x="6351880" y="3081528"/>
            <a:ext cx="146304" cy="146304"/>
          </a:xfrm>
          <a:prstGeom prst="ellipse">
            <a:avLst/>
          </a:prstGeom>
          <a:solidFill>
            <a:srgbClr val="C98A3E"/>
          </a:solidFill>
          <a:ln w="6350">
            <a:solidFill>
              <a:srgbClr val="F7FAFC"/>
            </a:solidFill>
            <a:prstDash val="solid"/>
          </a:ln>
        </p:spPr>
      </p:sp>
      <p:sp>
        <p:nvSpPr>
          <p:cNvPr id="83" name="Shape 79"/>
          <p:cNvSpPr/>
          <p:nvPr/>
        </p:nvSpPr>
        <p:spPr>
          <a:xfrm flipH="1">
            <a:off x="6882232" y="2606040"/>
            <a:ext cx="219456" cy="274320"/>
          </a:xfrm>
          <a:prstGeom prst="line">
            <a:avLst/>
          </a:prstGeom>
          <a:noFill/>
          <a:ln w="15875">
            <a:solidFill>
              <a:srgbClr val="C98A3E"/>
            </a:solidFill>
            <a:prstDash val="solid"/>
          </a:ln>
        </p:spPr>
      </p:sp>
      <p:sp>
        <p:nvSpPr>
          <p:cNvPr id="84" name="Shape 80"/>
          <p:cNvSpPr/>
          <p:nvPr/>
        </p:nvSpPr>
        <p:spPr>
          <a:xfrm>
            <a:off x="7101688" y="2606040"/>
            <a:ext cx="219456" cy="274320"/>
          </a:xfrm>
          <a:prstGeom prst="line">
            <a:avLst/>
          </a:prstGeom>
          <a:noFill/>
          <a:ln w="15875">
            <a:solidFill>
              <a:srgbClr val="C98A3E"/>
            </a:solidFill>
            <a:prstDash val="solid"/>
          </a:ln>
        </p:spPr>
      </p:sp>
      <p:sp>
        <p:nvSpPr>
          <p:cNvPr id="85" name="Shape 81"/>
          <p:cNvSpPr/>
          <p:nvPr/>
        </p:nvSpPr>
        <p:spPr>
          <a:xfrm flipH="1">
            <a:off x="6772504" y="2880360"/>
            <a:ext cx="109728" cy="274320"/>
          </a:xfrm>
          <a:prstGeom prst="line">
            <a:avLst/>
          </a:prstGeom>
          <a:noFill/>
          <a:ln w="15875">
            <a:solidFill>
              <a:srgbClr val="C98A3E"/>
            </a:solidFill>
            <a:prstDash val="solid"/>
          </a:ln>
        </p:spPr>
      </p:sp>
      <p:sp>
        <p:nvSpPr>
          <p:cNvPr id="86" name="Shape 82"/>
          <p:cNvSpPr/>
          <p:nvPr/>
        </p:nvSpPr>
        <p:spPr>
          <a:xfrm>
            <a:off x="6882232" y="2880360"/>
            <a:ext cx="109728" cy="274320"/>
          </a:xfrm>
          <a:prstGeom prst="line">
            <a:avLst/>
          </a:prstGeom>
          <a:noFill/>
          <a:ln w="15875">
            <a:solidFill>
              <a:srgbClr val="C98A3E"/>
            </a:solidFill>
            <a:prstDash val="solid"/>
          </a:ln>
        </p:spPr>
      </p:sp>
      <p:sp>
        <p:nvSpPr>
          <p:cNvPr id="87" name="Shape 83"/>
          <p:cNvSpPr/>
          <p:nvPr/>
        </p:nvSpPr>
        <p:spPr>
          <a:xfrm flipH="1">
            <a:off x="7211416" y="2880360"/>
            <a:ext cx="109728" cy="274320"/>
          </a:xfrm>
          <a:prstGeom prst="line">
            <a:avLst/>
          </a:prstGeom>
          <a:noFill/>
          <a:ln w="15875">
            <a:solidFill>
              <a:srgbClr val="C98A3E"/>
            </a:solidFill>
            <a:prstDash val="solid"/>
          </a:ln>
        </p:spPr>
      </p:sp>
      <p:sp>
        <p:nvSpPr>
          <p:cNvPr id="88" name="Shape 84"/>
          <p:cNvSpPr/>
          <p:nvPr/>
        </p:nvSpPr>
        <p:spPr>
          <a:xfrm>
            <a:off x="7321144" y="2880360"/>
            <a:ext cx="109728" cy="274320"/>
          </a:xfrm>
          <a:prstGeom prst="line">
            <a:avLst/>
          </a:prstGeom>
          <a:noFill/>
          <a:ln w="15875">
            <a:solidFill>
              <a:srgbClr val="C98A3E"/>
            </a:solidFill>
            <a:prstDash val="solid"/>
          </a:ln>
        </p:spPr>
      </p:sp>
      <p:sp>
        <p:nvSpPr>
          <p:cNvPr id="89" name="Shape 85"/>
          <p:cNvSpPr/>
          <p:nvPr/>
        </p:nvSpPr>
        <p:spPr>
          <a:xfrm>
            <a:off x="7028536" y="2532888"/>
            <a:ext cx="146304" cy="146304"/>
          </a:xfrm>
          <a:prstGeom prst="ellipse">
            <a:avLst/>
          </a:prstGeom>
          <a:solidFill>
            <a:srgbClr val="C98A3E"/>
          </a:solidFill>
          <a:ln w="6350">
            <a:solidFill>
              <a:srgbClr val="F7FAFC"/>
            </a:solidFill>
            <a:prstDash val="solid"/>
          </a:ln>
        </p:spPr>
      </p:sp>
      <p:sp>
        <p:nvSpPr>
          <p:cNvPr id="90" name="Shape 86"/>
          <p:cNvSpPr/>
          <p:nvPr/>
        </p:nvSpPr>
        <p:spPr>
          <a:xfrm>
            <a:off x="6809080" y="2807208"/>
            <a:ext cx="146304" cy="146304"/>
          </a:xfrm>
          <a:prstGeom prst="ellipse">
            <a:avLst/>
          </a:prstGeom>
          <a:solidFill>
            <a:srgbClr val="C98A3E"/>
          </a:solidFill>
          <a:ln w="6350">
            <a:solidFill>
              <a:srgbClr val="F7FAFC"/>
            </a:solidFill>
            <a:prstDash val="solid"/>
          </a:ln>
        </p:spPr>
      </p:sp>
      <p:sp>
        <p:nvSpPr>
          <p:cNvPr id="91" name="Shape 87"/>
          <p:cNvSpPr/>
          <p:nvPr/>
        </p:nvSpPr>
        <p:spPr>
          <a:xfrm>
            <a:off x="7247992" y="2807208"/>
            <a:ext cx="146304" cy="146304"/>
          </a:xfrm>
          <a:prstGeom prst="ellipse">
            <a:avLst/>
          </a:prstGeom>
          <a:solidFill>
            <a:srgbClr val="C98A3E"/>
          </a:solidFill>
          <a:ln w="6350">
            <a:solidFill>
              <a:srgbClr val="F7FAFC"/>
            </a:solidFill>
            <a:prstDash val="solid"/>
          </a:ln>
        </p:spPr>
      </p:sp>
      <p:sp>
        <p:nvSpPr>
          <p:cNvPr id="92" name="Shape 88"/>
          <p:cNvSpPr/>
          <p:nvPr/>
        </p:nvSpPr>
        <p:spPr>
          <a:xfrm>
            <a:off x="6699352" y="3081528"/>
            <a:ext cx="146304" cy="146304"/>
          </a:xfrm>
          <a:prstGeom prst="ellipse">
            <a:avLst/>
          </a:prstGeom>
          <a:solidFill>
            <a:srgbClr val="C98A3E"/>
          </a:solidFill>
          <a:ln w="6350">
            <a:solidFill>
              <a:srgbClr val="F7FAFC"/>
            </a:solidFill>
            <a:prstDash val="solid"/>
          </a:ln>
        </p:spPr>
      </p:sp>
      <p:sp>
        <p:nvSpPr>
          <p:cNvPr id="93" name="Shape 89"/>
          <p:cNvSpPr/>
          <p:nvPr/>
        </p:nvSpPr>
        <p:spPr>
          <a:xfrm>
            <a:off x="6918808" y="3081528"/>
            <a:ext cx="146304" cy="146304"/>
          </a:xfrm>
          <a:prstGeom prst="ellipse">
            <a:avLst/>
          </a:prstGeom>
          <a:solidFill>
            <a:srgbClr val="C98A3E"/>
          </a:solidFill>
          <a:ln w="6350">
            <a:solidFill>
              <a:srgbClr val="F7FAFC"/>
            </a:solidFill>
            <a:prstDash val="solid"/>
          </a:ln>
        </p:spPr>
      </p:sp>
      <p:sp>
        <p:nvSpPr>
          <p:cNvPr id="94" name="Shape 90"/>
          <p:cNvSpPr/>
          <p:nvPr/>
        </p:nvSpPr>
        <p:spPr>
          <a:xfrm>
            <a:off x="7138264" y="3081528"/>
            <a:ext cx="146304" cy="146304"/>
          </a:xfrm>
          <a:prstGeom prst="ellipse">
            <a:avLst/>
          </a:prstGeom>
          <a:solidFill>
            <a:srgbClr val="C98A3E"/>
          </a:solidFill>
          <a:ln w="6350">
            <a:solidFill>
              <a:srgbClr val="F7FAFC"/>
            </a:solidFill>
            <a:prstDash val="solid"/>
          </a:ln>
        </p:spPr>
      </p:sp>
      <p:sp>
        <p:nvSpPr>
          <p:cNvPr id="95" name="Shape 91"/>
          <p:cNvSpPr/>
          <p:nvPr/>
        </p:nvSpPr>
        <p:spPr>
          <a:xfrm>
            <a:off x="7357720" y="3081528"/>
            <a:ext cx="146304" cy="146304"/>
          </a:xfrm>
          <a:prstGeom prst="ellipse">
            <a:avLst/>
          </a:prstGeom>
          <a:solidFill>
            <a:srgbClr val="C98A3E"/>
          </a:solidFill>
          <a:ln w="6350">
            <a:solidFill>
              <a:srgbClr val="F7FAFC"/>
            </a:solidFill>
            <a:prstDash val="solid"/>
          </a:ln>
        </p:spPr>
      </p:sp>
      <p:sp>
        <p:nvSpPr>
          <p:cNvPr id="96" name="Shape 92"/>
          <p:cNvSpPr/>
          <p:nvPr/>
        </p:nvSpPr>
        <p:spPr>
          <a:xfrm>
            <a:off x="5528920" y="2880360"/>
            <a:ext cx="128016" cy="0"/>
          </a:xfrm>
          <a:prstGeom prst="line">
            <a:avLst/>
          </a:prstGeom>
          <a:noFill/>
          <a:ln w="15875">
            <a:solidFill>
              <a:srgbClr val="84A0B4"/>
            </a:solidFill>
            <a:prstDash val="solid"/>
            <a:tailEnd type="triangle"/>
          </a:ln>
        </p:spPr>
      </p:sp>
      <p:sp>
        <p:nvSpPr>
          <p:cNvPr id="97" name="Shape 93"/>
          <p:cNvSpPr/>
          <p:nvPr/>
        </p:nvSpPr>
        <p:spPr>
          <a:xfrm>
            <a:off x="6534760" y="2880360"/>
            <a:ext cx="128016" cy="0"/>
          </a:xfrm>
          <a:prstGeom prst="line">
            <a:avLst/>
          </a:prstGeom>
          <a:noFill/>
          <a:ln w="15875">
            <a:solidFill>
              <a:srgbClr val="84A0B4"/>
            </a:solidFill>
            <a:prstDash val="solid"/>
            <a:tailEnd type="triangle"/>
          </a:ln>
        </p:spPr>
      </p:sp>
      <p:sp>
        <p:nvSpPr>
          <p:cNvPr id="98" name="Text 94"/>
          <p:cNvSpPr txBox="1"/>
          <p:nvPr/>
        </p:nvSpPr>
        <p:spPr>
          <a:xfrm>
            <a:off x="4724248" y="3657600"/>
            <a:ext cx="2743200" cy="274320"/>
          </a:xfrm>
          <a:prstGeom prst="rect">
            <a:avLst/>
          </a:prstGeom>
          <a:noFill/>
          <a:ln/>
        </p:spPr>
        <p:txBody>
          <a:bodyPr wrap="square" lIns="0" tIns="0" rIns="0" bIns="0" rtlCol="0" anchor="t"/>
          <a:lstStyle/>
          <a:p>
            <a:pPr algn="ctr" indent="0" marL="0">
              <a:buNone/>
            </a:pPr>
            <a:r>
              <a:rPr lang="en-US" sz="1200" dirty="0">
                <a:solidFill>
                  <a:srgbClr val="4A6478"/>
                </a:solidFill>
                <a:latin typeface="Segoe UI" pitchFamily="34" charset="0"/>
                <a:ea typeface="Segoe UI" pitchFamily="34" charset="-122"/>
                <a:cs typeface="Segoe UI" pitchFamily="34" charset="-120"/>
              </a:rPr>
              <a:t>+ correzione  + correzione</a:t>
            </a:r>
            <a:endParaRPr lang="en-US" sz="1200" dirty="0"/>
          </a:p>
        </p:txBody>
      </p:sp>
      <p:sp>
        <p:nvSpPr>
          <p:cNvPr id="99" name="Text 95"/>
          <p:cNvSpPr txBox="1"/>
          <p:nvPr/>
        </p:nvSpPr>
        <p:spPr>
          <a:xfrm>
            <a:off x="4658258" y="4297680"/>
            <a:ext cx="2875178" cy="457200"/>
          </a:xfrm>
          <a:prstGeom prst="rect">
            <a:avLst/>
          </a:prstGeom>
          <a:noFill/>
          <a:ln/>
        </p:spPr>
        <p:txBody>
          <a:bodyPr wrap="square" lIns="0" tIns="0" rIns="0" bIns="0" rtlCol="0" anchor="t"/>
          <a:lstStyle/>
          <a:p>
            <a:pPr algn="ctr" indent="0" marL="0">
              <a:buNone/>
            </a:pPr>
            <a:r>
              <a:rPr lang="en-US" sz="2600" dirty="0">
                <a:solidFill>
                  <a:srgbClr val="C98A3E"/>
                </a:solidFill>
                <a:latin typeface="Georgia" pitchFamily="34" charset="0"/>
                <a:ea typeface="Georgia" pitchFamily="34" charset="-122"/>
                <a:cs typeface="Georgia" pitchFamily="34" charset="-120"/>
              </a:rPr>
              <a:t>XGBoost</a:t>
            </a:r>
            <a:endParaRPr lang="en-US" sz="2600" dirty="0"/>
          </a:p>
        </p:txBody>
      </p:sp>
      <p:sp>
        <p:nvSpPr>
          <p:cNvPr id="100" name="Text 96"/>
          <p:cNvSpPr txBox="1"/>
          <p:nvPr/>
        </p:nvSpPr>
        <p:spPr>
          <a:xfrm>
            <a:off x="4749698" y="4800600"/>
            <a:ext cx="2692298" cy="914400"/>
          </a:xfrm>
          <a:prstGeom prst="rect">
            <a:avLst/>
          </a:prstGeom>
          <a:noFill/>
          <a:ln/>
        </p:spPr>
        <p:txBody>
          <a:bodyPr wrap="square" lIns="0" tIns="0" rIns="0" bIns="0" rtlCol="0" anchor="t"/>
          <a:lstStyle/>
          <a:p>
            <a:pPr algn="ctr" indent="0" marL="0">
              <a:buNone/>
            </a:pPr>
            <a:r>
              <a:rPr lang="en-US" sz="1300" dirty="0">
                <a:solidFill>
                  <a:srgbClr val="4A6478"/>
                </a:solidFill>
                <a:latin typeface="Segoe UI" pitchFamily="34" charset="0"/>
                <a:ea typeface="Segoe UI" pitchFamily="34" charset="-122"/>
                <a:cs typeface="Segoe UI" pitchFamily="34" charset="-120"/>
              </a:rPr>
              <a:t>Alberi in sequenza: ognuno corregge gli errori del precedente.</a:t>
            </a:r>
            <a:endParaRPr lang="en-US" sz="1300" dirty="0"/>
          </a:p>
        </p:txBody>
      </p:sp>
      <p:sp>
        <p:nvSpPr>
          <p:cNvPr id="101" name="Shape 97"/>
          <p:cNvSpPr/>
          <p:nvPr/>
        </p:nvSpPr>
        <p:spPr>
          <a:xfrm>
            <a:off x="7716317" y="2377440"/>
            <a:ext cx="0" cy="3383280"/>
          </a:xfrm>
          <a:prstGeom prst="line">
            <a:avLst/>
          </a:prstGeom>
          <a:noFill/>
          <a:ln w="9525">
            <a:solidFill>
              <a:srgbClr val="D6E3EC"/>
            </a:solidFill>
            <a:prstDash val="solid"/>
          </a:ln>
        </p:spPr>
      </p:sp>
      <p:sp>
        <p:nvSpPr>
          <p:cNvPr id="102" name="Shape 98"/>
          <p:cNvSpPr/>
          <p:nvPr/>
        </p:nvSpPr>
        <p:spPr>
          <a:xfrm>
            <a:off x="8111490" y="2514600"/>
            <a:ext cx="256032" cy="1005840"/>
          </a:xfrm>
          <a:prstGeom prst="roundRect">
            <a:avLst>
              <a:gd name="adj" fmla="val 17857"/>
            </a:avLst>
          </a:prstGeom>
          <a:solidFill>
            <a:srgbClr val="0C649C"/>
          </a:solidFill>
          <a:ln w="6350">
            <a:solidFill>
              <a:srgbClr val="0C649C"/>
            </a:solidFill>
            <a:prstDash val="solid"/>
          </a:ln>
        </p:spPr>
      </p:sp>
      <p:sp>
        <p:nvSpPr>
          <p:cNvPr id="103" name="Shape 99"/>
          <p:cNvSpPr/>
          <p:nvPr/>
        </p:nvSpPr>
        <p:spPr>
          <a:xfrm>
            <a:off x="8660130" y="2743200"/>
            <a:ext cx="256032" cy="548640"/>
          </a:xfrm>
          <a:prstGeom prst="roundRect">
            <a:avLst>
              <a:gd name="adj" fmla="val 17857"/>
            </a:avLst>
          </a:prstGeom>
          <a:solidFill>
            <a:srgbClr val="0C649C"/>
          </a:solidFill>
          <a:ln w="6350">
            <a:solidFill>
              <a:srgbClr val="0C649C"/>
            </a:solidFill>
            <a:prstDash val="solid"/>
          </a:ln>
        </p:spPr>
      </p:sp>
      <p:sp>
        <p:nvSpPr>
          <p:cNvPr id="104" name="Shape 100"/>
          <p:cNvSpPr/>
          <p:nvPr/>
        </p:nvSpPr>
        <p:spPr>
          <a:xfrm>
            <a:off x="9208770" y="2880360"/>
            <a:ext cx="256032" cy="274320"/>
          </a:xfrm>
          <a:prstGeom prst="roundRect">
            <a:avLst>
              <a:gd name="adj" fmla="val 17857"/>
            </a:avLst>
          </a:prstGeom>
          <a:solidFill>
            <a:srgbClr val="0C649C"/>
          </a:solidFill>
          <a:ln w="6350">
            <a:solidFill>
              <a:srgbClr val="0C649C"/>
            </a:solidFill>
            <a:prstDash val="solid"/>
          </a:ln>
        </p:spPr>
      </p:sp>
      <p:sp>
        <p:nvSpPr>
          <p:cNvPr id="105" name="Shape 101"/>
          <p:cNvSpPr/>
          <p:nvPr/>
        </p:nvSpPr>
        <p:spPr>
          <a:xfrm>
            <a:off x="9757410" y="2743200"/>
            <a:ext cx="256032" cy="548640"/>
          </a:xfrm>
          <a:prstGeom prst="roundRect">
            <a:avLst>
              <a:gd name="adj" fmla="val 17857"/>
            </a:avLst>
          </a:prstGeom>
          <a:solidFill>
            <a:srgbClr val="0C649C"/>
          </a:solidFill>
          <a:ln w="6350">
            <a:solidFill>
              <a:srgbClr val="0C649C"/>
            </a:solidFill>
            <a:prstDash val="solid"/>
          </a:ln>
        </p:spPr>
      </p:sp>
      <p:sp>
        <p:nvSpPr>
          <p:cNvPr id="106" name="Shape 102"/>
          <p:cNvSpPr/>
          <p:nvPr/>
        </p:nvSpPr>
        <p:spPr>
          <a:xfrm>
            <a:off x="10306050" y="2514600"/>
            <a:ext cx="256032" cy="1005840"/>
          </a:xfrm>
          <a:prstGeom prst="roundRect">
            <a:avLst>
              <a:gd name="adj" fmla="val 17857"/>
            </a:avLst>
          </a:prstGeom>
          <a:solidFill>
            <a:srgbClr val="0C649C"/>
          </a:solidFill>
          <a:ln w="6350">
            <a:solidFill>
              <a:srgbClr val="0C649C"/>
            </a:solidFill>
            <a:prstDash val="solid"/>
          </a:ln>
        </p:spPr>
      </p:sp>
      <p:sp>
        <p:nvSpPr>
          <p:cNvPr id="107" name="Text 103"/>
          <p:cNvSpPr txBox="1"/>
          <p:nvPr/>
        </p:nvSpPr>
        <p:spPr>
          <a:xfrm>
            <a:off x="7965186" y="3584448"/>
            <a:ext cx="548640" cy="228600"/>
          </a:xfrm>
          <a:prstGeom prst="rect">
            <a:avLst/>
          </a:prstGeom>
          <a:noFill/>
          <a:ln/>
        </p:spPr>
        <p:txBody>
          <a:bodyPr wrap="square" lIns="0" tIns="0" rIns="0" bIns="0" rtlCol="0" anchor="t"/>
          <a:lstStyle/>
          <a:p>
            <a:pPr algn="ctr" indent="0" marL="0">
              <a:buNone/>
            </a:pPr>
            <a:r>
              <a:rPr lang="en-US" sz="1100" dirty="0">
                <a:solidFill>
                  <a:srgbClr val="4A6478"/>
                </a:solidFill>
                <a:latin typeface="Segoe UI" pitchFamily="34" charset="0"/>
                <a:ea typeface="Segoe UI" pitchFamily="34" charset="-122"/>
                <a:cs typeface="Segoe UI" pitchFamily="34" charset="-120"/>
              </a:rPr>
              <a:t>77</a:t>
            </a:r>
            <a:endParaRPr lang="en-US" sz="1100" dirty="0"/>
          </a:p>
        </p:txBody>
      </p:sp>
      <p:sp>
        <p:nvSpPr>
          <p:cNvPr id="108" name="Text 104"/>
          <p:cNvSpPr txBox="1"/>
          <p:nvPr/>
        </p:nvSpPr>
        <p:spPr>
          <a:xfrm>
            <a:off x="8513826" y="3584448"/>
            <a:ext cx="548640" cy="228600"/>
          </a:xfrm>
          <a:prstGeom prst="rect">
            <a:avLst/>
          </a:prstGeom>
          <a:noFill/>
          <a:ln/>
        </p:spPr>
        <p:txBody>
          <a:bodyPr wrap="square" lIns="0" tIns="0" rIns="0" bIns="0" rtlCol="0" anchor="t"/>
          <a:lstStyle/>
          <a:p>
            <a:pPr algn="ctr" indent="0" marL="0">
              <a:buNone/>
            </a:pPr>
            <a:r>
              <a:rPr lang="en-US" sz="1100" dirty="0">
                <a:solidFill>
                  <a:srgbClr val="4A6478"/>
                </a:solidFill>
                <a:latin typeface="Segoe UI" pitchFamily="34" charset="0"/>
                <a:ea typeface="Segoe UI" pitchFamily="34" charset="-122"/>
                <a:cs typeface="Segoe UI" pitchFamily="34" charset="-120"/>
              </a:rPr>
              <a:t>32</a:t>
            </a:r>
            <a:endParaRPr lang="en-US" sz="1100" dirty="0"/>
          </a:p>
        </p:txBody>
      </p:sp>
      <p:sp>
        <p:nvSpPr>
          <p:cNvPr id="109" name="Text 105"/>
          <p:cNvSpPr txBox="1"/>
          <p:nvPr/>
        </p:nvSpPr>
        <p:spPr>
          <a:xfrm>
            <a:off x="9062466" y="3584448"/>
            <a:ext cx="548640" cy="228600"/>
          </a:xfrm>
          <a:prstGeom prst="rect">
            <a:avLst/>
          </a:prstGeom>
          <a:noFill/>
          <a:ln/>
        </p:spPr>
        <p:txBody>
          <a:bodyPr wrap="square" lIns="0" tIns="0" rIns="0" bIns="0" rtlCol="0" anchor="t"/>
          <a:lstStyle/>
          <a:p>
            <a:pPr algn="ctr" indent="0" marL="0">
              <a:buNone/>
            </a:pPr>
            <a:r>
              <a:rPr lang="en-US" sz="1100" dirty="0">
                <a:solidFill>
                  <a:srgbClr val="4A6478"/>
                </a:solidFill>
                <a:latin typeface="Segoe UI" pitchFamily="34" charset="0"/>
                <a:ea typeface="Segoe UI" pitchFamily="34" charset="-122"/>
                <a:cs typeface="Segoe UI" pitchFamily="34" charset="-120"/>
              </a:rPr>
              <a:t>16</a:t>
            </a:r>
            <a:endParaRPr lang="en-US" sz="1100" dirty="0"/>
          </a:p>
        </p:txBody>
      </p:sp>
      <p:sp>
        <p:nvSpPr>
          <p:cNvPr id="110" name="Text 106"/>
          <p:cNvSpPr txBox="1"/>
          <p:nvPr/>
        </p:nvSpPr>
        <p:spPr>
          <a:xfrm>
            <a:off x="9611106" y="3584448"/>
            <a:ext cx="548640" cy="228600"/>
          </a:xfrm>
          <a:prstGeom prst="rect">
            <a:avLst/>
          </a:prstGeom>
          <a:noFill/>
          <a:ln/>
        </p:spPr>
        <p:txBody>
          <a:bodyPr wrap="square" lIns="0" tIns="0" rIns="0" bIns="0" rtlCol="0" anchor="t"/>
          <a:lstStyle/>
          <a:p>
            <a:pPr algn="ctr" indent="0" marL="0">
              <a:buNone/>
            </a:pPr>
            <a:r>
              <a:rPr lang="en-US" sz="1100" dirty="0">
                <a:solidFill>
                  <a:srgbClr val="4A6478"/>
                </a:solidFill>
                <a:latin typeface="Segoe UI" pitchFamily="34" charset="0"/>
                <a:ea typeface="Segoe UI" pitchFamily="34" charset="-122"/>
                <a:cs typeface="Segoe UI" pitchFamily="34" charset="-120"/>
              </a:rPr>
              <a:t>32</a:t>
            </a:r>
            <a:endParaRPr lang="en-US" sz="1100" dirty="0"/>
          </a:p>
        </p:txBody>
      </p:sp>
      <p:sp>
        <p:nvSpPr>
          <p:cNvPr id="111" name="Text 107"/>
          <p:cNvSpPr txBox="1"/>
          <p:nvPr/>
        </p:nvSpPr>
        <p:spPr>
          <a:xfrm>
            <a:off x="10159746" y="3584448"/>
            <a:ext cx="548640" cy="228600"/>
          </a:xfrm>
          <a:prstGeom prst="rect">
            <a:avLst/>
          </a:prstGeom>
          <a:noFill/>
          <a:ln/>
        </p:spPr>
        <p:txBody>
          <a:bodyPr wrap="square" lIns="0" tIns="0" rIns="0" bIns="0" rtlCol="0" anchor="t"/>
          <a:lstStyle/>
          <a:p>
            <a:pPr algn="ctr" indent="0" marL="0">
              <a:buNone/>
            </a:pPr>
            <a:r>
              <a:rPr lang="en-US" sz="1100" dirty="0">
                <a:solidFill>
                  <a:srgbClr val="4A6478"/>
                </a:solidFill>
                <a:latin typeface="Segoe UI" pitchFamily="34" charset="0"/>
                <a:ea typeface="Segoe UI" pitchFamily="34" charset="-122"/>
                <a:cs typeface="Segoe UI" pitchFamily="34" charset="-120"/>
              </a:rPr>
              <a:t>77</a:t>
            </a:r>
            <a:endParaRPr lang="en-US" sz="1100" dirty="0"/>
          </a:p>
        </p:txBody>
      </p:sp>
      <p:sp>
        <p:nvSpPr>
          <p:cNvPr id="112" name="Text 108"/>
          <p:cNvSpPr txBox="1"/>
          <p:nvPr/>
        </p:nvSpPr>
        <p:spPr>
          <a:xfrm>
            <a:off x="7965186" y="3822192"/>
            <a:ext cx="2743200" cy="274320"/>
          </a:xfrm>
          <a:prstGeom prst="rect">
            <a:avLst/>
          </a:prstGeom>
          <a:noFill/>
          <a:ln/>
        </p:spPr>
        <p:txBody>
          <a:bodyPr wrap="square" lIns="0" tIns="0" rIns="0" bIns="0" rtlCol="0" anchor="t"/>
          <a:lstStyle/>
          <a:p>
            <a:pPr algn="ctr" indent="0" marL="0">
              <a:buNone/>
            </a:pPr>
            <a:r>
              <a:rPr lang="en-US" sz="1200" dirty="0">
                <a:solidFill>
                  <a:srgbClr val="4A6478"/>
                </a:solidFill>
                <a:latin typeface="Segoe UI" pitchFamily="34" charset="0"/>
                <a:ea typeface="Segoe UI" pitchFamily="34" charset="-122"/>
                <a:cs typeface="Segoe UI" pitchFamily="34" charset="-120"/>
              </a:rPr>
              <a:t>× 2: feature grezze e in scala log</a:t>
            </a:r>
            <a:endParaRPr lang="en-US" sz="1200" dirty="0"/>
          </a:p>
        </p:txBody>
      </p:sp>
      <p:sp>
        <p:nvSpPr>
          <p:cNvPr id="113" name="Text 109"/>
          <p:cNvSpPr txBox="1"/>
          <p:nvPr/>
        </p:nvSpPr>
        <p:spPr>
          <a:xfrm>
            <a:off x="7899197" y="4297680"/>
            <a:ext cx="2875178" cy="457200"/>
          </a:xfrm>
          <a:prstGeom prst="rect">
            <a:avLst/>
          </a:prstGeom>
          <a:noFill/>
          <a:ln/>
        </p:spPr>
        <p:txBody>
          <a:bodyPr wrap="square" lIns="0" tIns="0" rIns="0" bIns="0" rtlCol="0" anchor="t"/>
          <a:lstStyle/>
          <a:p>
            <a:pPr algn="ctr" indent="0" marL="0">
              <a:buNone/>
            </a:pPr>
            <a:r>
              <a:rPr lang="en-US" sz="2600" dirty="0">
                <a:solidFill>
                  <a:srgbClr val="0C649C"/>
                </a:solidFill>
                <a:latin typeface="Georgia" pitchFamily="34" charset="0"/>
                <a:ea typeface="Georgia" pitchFamily="34" charset="-122"/>
                <a:cs typeface="Georgia" pitchFamily="34" charset="-120"/>
              </a:rPr>
              <a:t>Autoencoder</a:t>
            </a:r>
            <a:endParaRPr lang="en-US" sz="2600" dirty="0"/>
          </a:p>
        </p:txBody>
      </p:sp>
      <p:sp>
        <p:nvSpPr>
          <p:cNvPr id="114" name="Text 110"/>
          <p:cNvSpPr txBox="1"/>
          <p:nvPr/>
        </p:nvSpPr>
        <p:spPr>
          <a:xfrm>
            <a:off x="7990637" y="4800600"/>
            <a:ext cx="2692298" cy="914400"/>
          </a:xfrm>
          <a:prstGeom prst="rect">
            <a:avLst/>
          </a:prstGeom>
          <a:noFill/>
          <a:ln/>
        </p:spPr>
        <p:txBody>
          <a:bodyPr wrap="square" lIns="0" tIns="0" rIns="0" bIns="0" rtlCol="0" anchor="t"/>
          <a:lstStyle/>
          <a:p>
            <a:pPr algn="ctr" indent="0" marL="0">
              <a:buNone/>
            </a:pPr>
            <a:r>
              <a:rPr lang="en-US" sz="1300" dirty="0">
                <a:solidFill>
                  <a:srgbClr val="4A6478"/>
                </a:solidFill>
                <a:latin typeface="Segoe UI" pitchFamily="34" charset="0"/>
                <a:ea typeface="Segoe UI" pitchFamily="34" charset="-122"/>
                <a:cs typeface="Segoe UI" pitchFamily="34" charset="-120"/>
              </a:rPr>
              <a:t>Due reti neurali che comprimono e ricostruiscono il traffico normale: errore alto = anomalo.</a:t>
            </a:r>
            <a:endParaRPr lang="en-US" sz="1300" dirty="0"/>
          </a:p>
        </p:txBody>
      </p:sp>
      <p:sp>
        <p:nvSpPr>
          <p:cNvPr id="115" name="Text 111"/>
          <p:cNvSpPr txBox="1"/>
          <p:nvPr/>
        </p:nvSpPr>
        <p:spPr>
          <a:xfrm>
            <a:off x="1234440" y="5943600"/>
            <a:ext cx="9722815" cy="365760"/>
          </a:xfrm>
          <a:prstGeom prst="rect">
            <a:avLst/>
          </a:prstGeom>
          <a:noFill/>
          <a:ln/>
        </p:spPr>
        <p:txBody>
          <a:bodyPr wrap="square" lIns="0" tIns="0" rIns="0" bIns="0" rtlCol="0" anchor="t"/>
          <a:lstStyle/>
          <a:p>
            <a:pPr algn="ctr" indent="0" marL="0">
              <a:buNone/>
            </a:pPr>
            <a:r>
              <a:rPr lang="en-US" sz="1700" i="1" dirty="0">
                <a:solidFill>
                  <a:srgbClr val="045991"/>
                </a:solidFill>
                <a:latin typeface="Georgia" pitchFamily="34" charset="0"/>
                <a:ea typeface="Georgia" pitchFamily="34" charset="-122"/>
                <a:cs typeface="Georgia" pitchFamily="34" charset="-120"/>
              </a:rPr>
              <a:t>RF e XGBoost imparano gli attacchi. L'autoencoder impara solo il traffico normale.</a:t>
            </a:r>
            <a:endParaRPr lang="en-US" sz="1700" dirty="0"/>
          </a:p>
        </p:txBody>
      </p:sp>
      <p:sp>
        <p:nvSpPr>
          <p:cNvPr id="116" name="Text 111"/>
          <p:cNvSpPr txBox="1"/>
          <p:nvPr/>
        </p:nvSpPr>
        <p:spPr>
          <a:xfrm>
            <a:off x="1234440" y="6309360"/>
            <a:ext cx="9000000" cy="274320"/>
          </a:xfrm>
          <a:prstGeom prst="rect">
            <a:avLst/>
          </a:prstGeom>
          <a:noFill/>
          <a:ln/>
        </p:spPr>
        <p:txBody>
          <a:bodyPr wrap="square" lIns="0" tIns="0" rIns="0" bIns="0" rtlCol="0" anchor="t"/>
          <a:lstStyle/>
          <a:p>
            <a:pPr algn="ctr" indent="0" marL="0">
              <a:buNone/>
            </a:pPr>
            <a:r>
              <a:rPr lang="en-US" sz="1200" i="1" dirty="0">
                <a:solidFill>
                  <a:srgbClr val="045991"/>
                </a:solidFill>
                <a:latin typeface="Georgia" pitchFamily="34" charset="0"/>
                <a:ea typeface="Georgia" pitchFamily="34" charset="-122"/>
                <a:cs typeface="Georgia" pitchFamily="34" charset="-120"/>
              </a:rPr>
              <a:t>Ensemble: errori complementari; punteggio = media dei due, ciascuno diviso per il suo 99° percentile (Benign)</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Image 0" descr="Logo Unimore">    </p:cNvPr>
          <p:cNvPicPr>
            <a:picLocks noChangeAspect="1"/>
          </p:cNvPicPr>
          <p:nvPr/>
        </p:nvPicPr>
        <p:blipFill>
          <a:blip r:embed="rId2"/>
          <a:stretch>
            <a:fillRect/>
          </a:stretch>
        </p:blipFill>
        <p:spPr>
          <a:xfrm>
            <a:off x="11023092" y="274320"/>
            <a:ext cx="566014" cy="640080"/>
          </a:xfrm>
          <a:prstGeom prst="rect">
            <a:avLst/>
          </a:prstGeom>
        </p:spPr>
      </p:pic>
      <p:sp>
        <p:nvSpPr>
          <p:cNvPr id="6" name="Text 2"/>
          <p:cNvSpPr/>
          <p:nvPr/>
        </p:nvSpPr>
        <p:spPr>
          <a:xfrm>
            <a:off x="5231740" y="384048"/>
            <a:ext cx="1728216"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03 · SOLUZIONE</a:t>
            </a:r>
            <a:endParaRPr lang="en-US" sz="1050" dirty="0"/>
          </a:p>
        </p:txBody>
      </p:sp>
      <p:sp>
        <p:nvSpPr>
          <p:cNvPr id="7" name="Text 3"/>
          <p:cNvSpPr txBox="1"/>
          <p:nvPr/>
        </p:nvSpPr>
        <p:spPr>
          <a:xfrm>
            <a:off x="822960" y="868680"/>
            <a:ext cx="10545775" cy="822960"/>
          </a:xfrm>
          <a:prstGeom prst="rect">
            <a:avLst/>
          </a:prstGeom>
          <a:noFill/>
          <a:ln/>
        </p:spPr>
        <p:txBody>
          <a:bodyPr wrap="square" lIns="0" tIns="0" rIns="0" bIns="0" rtlCol="0" anchor="ctr"/>
          <a:lstStyle/>
          <a:p>
            <a:pPr algn="ctr" indent="0" marL="0">
              <a:buNone/>
            </a:pPr>
            <a:r>
              <a:rPr lang="en-US" sz="3600" dirty="0">
                <a:solidFill>
                  <a:srgbClr val="FFFFFF"/>
                </a:solidFill>
                <a:latin typeface="Georgia" pitchFamily="34" charset="0"/>
                <a:ea typeface="Georgia" pitchFamily="34" charset="-122"/>
                <a:cs typeface="Georgia" pitchFamily="34" charset="-120"/>
              </a:rPr>
              <a:t>XGBoost + autoencoder, </a:t>
            </a:r>
            <a:pPr algn="ctr" indent="0" marL="0">
              <a:buNone/>
            </a:pPr>
            <a:r>
              <a:rPr lang="en-US" sz="3600" i="1" dirty="0">
                <a:solidFill>
                  <a:srgbClr val="BCD1DE"/>
                </a:solidFill>
                <a:latin typeface="Georgia" pitchFamily="34" charset="0"/>
                <a:ea typeface="Georgia" pitchFamily="34" charset="-122"/>
                <a:cs typeface="Georgia" pitchFamily="34" charset="-120"/>
              </a:rPr>
              <a:t>in cascata</a:t>
            </a:r>
            <a:endParaRPr lang="en-US" sz="3600" dirty="0"/>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 6"/>
          <p:cNvSpPr txBox="1"/>
          <p:nvPr/>
        </p:nvSpPr>
        <p:spPr>
          <a:xfrm>
            <a:off x="9997135" y="6473952"/>
            <a:ext cx="1097280" cy="228600"/>
          </a:xfrm>
          <a:prstGeom prst="rect">
            <a:avLst/>
          </a:prstGeom>
          <a:noFill/>
          <a:ln/>
        </p:spPr>
        <p:txBody>
          <a:bodyPr wrap="square" lIns="0" tIns="0" rIns="0" bIns="0" rtlCol="0" anchor="t"/>
          <a:lstStyle/>
          <a:p>
            <a:pPr algn="r" indent="0" marL="0">
              <a:buNone/>
            </a:pPr>
            <a:r>
              <a:rPr lang="en-US" sz="1000" dirty="0">
                <a:solidFill>
                  <a:srgbClr val="84A0B4"/>
                </a:solidFill>
                <a:latin typeface="Segoe UI" pitchFamily="34" charset="0"/>
                <a:ea typeface="Segoe UI" pitchFamily="34" charset="-122"/>
                <a:cs typeface="Segoe UI" pitchFamily="34" charset="-120"/>
              </a:rPr>
              <a:t>04 / 08</a:t>
            </a:r>
            <a:endParaRPr lang="en-US" sz="1000" dirty="0"/>
          </a:p>
        </p:txBody>
      </p:sp>
      <p:sp>
        <p:nvSpPr>
          <p:cNvPr id="11" name="Text 7"/>
          <p:cNvSpPr txBox="1"/>
          <p:nvPr/>
        </p:nvSpPr>
        <p:spPr>
          <a:xfrm>
            <a:off x="1234440" y="2240280"/>
            <a:ext cx="3657600" cy="237744"/>
          </a:xfrm>
          <a:prstGeom prst="rect">
            <a:avLst/>
          </a:prstGeom>
          <a:noFill/>
          <a:ln/>
        </p:spPr>
        <p:txBody>
          <a:bodyPr wrap="square" lIns="0" tIns="0" rIns="0" bIns="0" rtlCol="0" anchor="t"/>
          <a:lstStyle/>
          <a:p>
            <a:pPr indent="0" marL="0">
              <a:buNone/>
            </a:pPr>
            <a:r>
              <a:rPr lang="en-US" sz="1050" spc="150" kern="0" dirty="0">
                <a:solidFill>
                  <a:srgbClr val="4A6478"/>
                </a:solidFill>
                <a:latin typeface="Segoe UI Semibold" pitchFamily="34" charset="0"/>
                <a:ea typeface="Segoe UI Semibold" pitchFamily="34" charset="-122"/>
                <a:cs typeface="Segoe UI Semibold" pitchFamily="34" charset="-120"/>
              </a:rPr>
              <a:t>DOVE SI COLLOCA</a:t>
            </a:r>
            <a:endParaRPr lang="en-US" sz="1050" dirty="0"/>
          </a:p>
        </p:txBody>
      </p:sp>
      <p:sp>
        <p:nvSpPr>
          <p:cNvPr id="12" name="Shape 8"/>
          <p:cNvSpPr/>
          <p:nvPr/>
        </p:nvSpPr>
        <p:spPr>
          <a:xfrm>
            <a:off x="1234440" y="2514600"/>
            <a:ext cx="1325880" cy="502920"/>
          </a:xfrm>
          <a:prstGeom prst="roundRect">
            <a:avLst>
              <a:gd name="adj" fmla="val 25455"/>
            </a:avLst>
          </a:prstGeom>
          <a:solidFill>
            <a:srgbClr val="FFFFFF"/>
          </a:solidFill>
          <a:ln w="9525">
            <a:solidFill>
              <a:srgbClr val="D6E3EC"/>
            </a:solidFill>
            <a:prstDash val="solid"/>
          </a:ln>
        </p:spPr>
      </p:sp>
      <p:sp>
        <p:nvSpPr>
          <p:cNvPr id="13" name="Text 9"/>
          <p:cNvSpPr txBox="1"/>
          <p:nvPr/>
        </p:nvSpPr>
        <p:spPr>
          <a:xfrm>
            <a:off x="1234440" y="2514600"/>
            <a:ext cx="1325880" cy="502920"/>
          </a:xfrm>
          <a:prstGeom prst="rect">
            <a:avLst/>
          </a:prstGeom>
          <a:noFill/>
          <a:ln/>
        </p:spPr>
        <p:txBody>
          <a:bodyPr wrap="square" lIns="508" tIns="508" rIns="508" bIns="508"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Internet</a:t>
            </a:r>
            <a:endParaRPr lang="en-US" sz="1300" dirty="0"/>
          </a:p>
        </p:txBody>
      </p:sp>
      <p:sp>
        <p:nvSpPr>
          <p:cNvPr id="14" name="Shape 10"/>
          <p:cNvSpPr/>
          <p:nvPr/>
        </p:nvSpPr>
        <p:spPr>
          <a:xfrm>
            <a:off x="2560320" y="2761488"/>
            <a:ext cx="457200" cy="0"/>
          </a:xfrm>
          <a:prstGeom prst="line">
            <a:avLst/>
          </a:prstGeom>
          <a:noFill/>
          <a:ln w="15875">
            <a:solidFill>
              <a:srgbClr val="84A0B4"/>
            </a:solidFill>
            <a:prstDash val="solid"/>
            <a:tailEnd type="triangle"/>
          </a:ln>
        </p:spPr>
      </p:sp>
      <p:sp>
        <p:nvSpPr>
          <p:cNvPr id="15" name="Shape 11"/>
          <p:cNvSpPr/>
          <p:nvPr/>
        </p:nvSpPr>
        <p:spPr>
          <a:xfrm>
            <a:off x="3017520" y="2514600"/>
            <a:ext cx="1737360" cy="502920"/>
          </a:xfrm>
          <a:prstGeom prst="roundRect">
            <a:avLst>
              <a:gd name="adj" fmla="val 25455"/>
            </a:avLst>
          </a:prstGeom>
          <a:solidFill>
            <a:srgbClr val="FFFFFF"/>
          </a:solidFill>
          <a:ln w="9525">
            <a:solidFill>
              <a:srgbClr val="D6E3EC"/>
            </a:solidFill>
            <a:prstDash val="solid"/>
          </a:ln>
        </p:spPr>
      </p:sp>
      <p:sp>
        <p:nvSpPr>
          <p:cNvPr id="16" name="Text 12"/>
          <p:cNvSpPr txBox="1"/>
          <p:nvPr/>
        </p:nvSpPr>
        <p:spPr>
          <a:xfrm>
            <a:off x="3017520" y="2514600"/>
            <a:ext cx="1737360" cy="502920"/>
          </a:xfrm>
          <a:prstGeom prst="rect">
            <a:avLst/>
          </a:prstGeom>
          <a:noFill/>
          <a:ln/>
        </p:spPr>
        <p:txBody>
          <a:bodyPr wrap="square" lIns="508" tIns="508" rIns="508" bIns="508"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Firewall / router</a:t>
            </a:r>
            <a:endParaRPr lang="en-US" sz="1300" dirty="0"/>
          </a:p>
        </p:txBody>
      </p:sp>
      <p:sp>
        <p:nvSpPr>
          <p:cNvPr id="17" name="Shape 13"/>
          <p:cNvSpPr/>
          <p:nvPr/>
        </p:nvSpPr>
        <p:spPr>
          <a:xfrm>
            <a:off x="4754880" y="2761488"/>
            <a:ext cx="365760" cy="0"/>
          </a:xfrm>
          <a:prstGeom prst="line">
            <a:avLst/>
          </a:prstGeom>
          <a:noFill/>
          <a:ln w="15875">
            <a:solidFill>
              <a:srgbClr val="84A0B4"/>
            </a:solidFill>
            <a:prstDash val="solid"/>
            <a:tailEnd type="triangle"/>
          </a:ln>
        </p:spPr>
      </p:sp>
      <p:sp>
        <p:nvSpPr>
          <p:cNvPr id="18" name="Shape 14"/>
          <p:cNvSpPr/>
          <p:nvPr/>
        </p:nvSpPr>
        <p:spPr>
          <a:xfrm>
            <a:off x="5120640" y="2514600"/>
            <a:ext cx="1188720" cy="502920"/>
          </a:xfrm>
          <a:prstGeom prst="roundRect">
            <a:avLst>
              <a:gd name="adj" fmla="val 25455"/>
            </a:avLst>
          </a:prstGeom>
          <a:solidFill>
            <a:srgbClr val="FFFFFF"/>
          </a:solidFill>
          <a:ln w="9525">
            <a:solidFill>
              <a:srgbClr val="D6E3EC"/>
            </a:solidFill>
            <a:prstDash val="solid"/>
          </a:ln>
        </p:spPr>
      </p:sp>
      <p:sp>
        <p:nvSpPr>
          <p:cNvPr id="19" name="Text 15"/>
          <p:cNvSpPr txBox="1"/>
          <p:nvPr/>
        </p:nvSpPr>
        <p:spPr>
          <a:xfrm>
            <a:off x="5120640" y="2514600"/>
            <a:ext cx="1188720" cy="502920"/>
          </a:xfrm>
          <a:prstGeom prst="rect">
            <a:avLst/>
          </a:prstGeom>
          <a:noFill/>
          <a:ln/>
        </p:spPr>
        <p:txBody>
          <a:bodyPr wrap="square" lIns="508" tIns="508" rIns="508" bIns="508"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Switch</a:t>
            </a:r>
            <a:endParaRPr lang="en-US" sz="1300" dirty="0"/>
          </a:p>
        </p:txBody>
      </p:sp>
      <p:sp>
        <p:nvSpPr>
          <p:cNvPr id="20" name="Shape 16"/>
          <p:cNvSpPr/>
          <p:nvPr/>
        </p:nvSpPr>
        <p:spPr>
          <a:xfrm>
            <a:off x="6309360" y="2761488"/>
            <a:ext cx="411480" cy="0"/>
          </a:xfrm>
          <a:prstGeom prst="line">
            <a:avLst/>
          </a:prstGeom>
          <a:noFill/>
          <a:ln w="15875">
            <a:solidFill>
              <a:srgbClr val="84A0B4"/>
            </a:solidFill>
            <a:prstDash val="solid"/>
            <a:tailEnd type="triangle"/>
          </a:ln>
        </p:spPr>
      </p:sp>
      <p:sp>
        <p:nvSpPr>
          <p:cNvPr id="21" name="Shape 17"/>
          <p:cNvSpPr/>
          <p:nvPr/>
        </p:nvSpPr>
        <p:spPr>
          <a:xfrm>
            <a:off x="6720840" y="2514600"/>
            <a:ext cx="749808" cy="502920"/>
          </a:xfrm>
          <a:prstGeom prst="roundRect">
            <a:avLst>
              <a:gd name="adj" fmla="val 25455"/>
            </a:avLst>
          </a:prstGeom>
          <a:solidFill>
            <a:srgbClr val="FFFFFF"/>
          </a:solidFill>
          <a:ln w="9525">
            <a:solidFill>
              <a:srgbClr val="D6E3EC"/>
            </a:solidFill>
            <a:prstDash val="solid"/>
          </a:ln>
        </p:spPr>
      </p:sp>
      <p:sp>
        <p:nvSpPr>
          <p:cNvPr id="22" name="Text 18"/>
          <p:cNvSpPr txBox="1"/>
          <p:nvPr/>
        </p:nvSpPr>
        <p:spPr>
          <a:xfrm>
            <a:off x="6720840" y="2514600"/>
            <a:ext cx="749808" cy="502920"/>
          </a:xfrm>
          <a:prstGeom prst="rect">
            <a:avLst/>
          </a:prstGeom>
          <a:noFill/>
          <a:ln/>
        </p:spPr>
        <p:txBody>
          <a:bodyPr wrap="square" lIns="508" tIns="508" rIns="508" bIns="508" rtlCol="0" anchor="ctr"/>
          <a:lstStyle/>
          <a:p>
            <a:pPr algn="ctr" indent="0" marL="0">
              <a:buNone/>
            </a:pPr>
            <a:r>
              <a:rPr lang="en-US" sz="1300" dirty="0">
                <a:solidFill>
                  <a:srgbClr val="4A6478"/>
                </a:solidFill>
                <a:latin typeface="Segoe UI Semibold" pitchFamily="34" charset="0"/>
                <a:ea typeface="Segoe UI Semibold" pitchFamily="34" charset="-122"/>
                <a:cs typeface="Segoe UI Semibold" pitchFamily="34" charset="-120"/>
              </a:rPr>
              <a:t>PC</a:t>
            </a:r>
            <a:endParaRPr lang="en-US" sz="1300" dirty="0"/>
          </a:p>
        </p:txBody>
      </p:sp>
      <p:sp>
        <p:nvSpPr>
          <p:cNvPr id="23" name="Shape 19"/>
          <p:cNvSpPr/>
          <p:nvPr/>
        </p:nvSpPr>
        <p:spPr>
          <a:xfrm>
            <a:off x="7589520" y="2514600"/>
            <a:ext cx="749808" cy="502920"/>
          </a:xfrm>
          <a:prstGeom prst="roundRect">
            <a:avLst>
              <a:gd name="adj" fmla="val 25455"/>
            </a:avLst>
          </a:prstGeom>
          <a:solidFill>
            <a:srgbClr val="FFFFFF"/>
          </a:solidFill>
          <a:ln w="9525">
            <a:solidFill>
              <a:srgbClr val="D6E3EC"/>
            </a:solidFill>
            <a:prstDash val="solid"/>
          </a:ln>
        </p:spPr>
      </p:sp>
      <p:sp>
        <p:nvSpPr>
          <p:cNvPr id="24" name="Text 20"/>
          <p:cNvSpPr txBox="1"/>
          <p:nvPr/>
        </p:nvSpPr>
        <p:spPr>
          <a:xfrm>
            <a:off x="7589520" y="2514600"/>
            <a:ext cx="749808" cy="502920"/>
          </a:xfrm>
          <a:prstGeom prst="rect">
            <a:avLst/>
          </a:prstGeom>
          <a:noFill/>
          <a:ln/>
        </p:spPr>
        <p:txBody>
          <a:bodyPr wrap="square" lIns="508" tIns="508" rIns="508" bIns="508" rtlCol="0" anchor="ctr"/>
          <a:lstStyle/>
          <a:p>
            <a:pPr algn="ctr" indent="0" marL="0">
              <a:buNone/>
            </a:pPr>
            <a:r>
              <a:rPr lang="en-US" sz="1300" dirty="0">
                <a:solidFill>
                  <a:srgbClr val="4A6478"/>
                </a:solidFill>
                <a:latin typeface="Segoe UI Semibold" pitchFamily="34" charset="0"/>
                <a:ea typeface="Segoe UI Semibold" pitchFamily="34" charset="-122"/>
                <a:cs typeface="Segoe UI Semibold" pitchFamily="34" charset="-120"/>
              </a:rPr>
              <a:t>Server</a:t>
            </a:r>
            <a:endParaRPr lang="en-US" sz="1300" dirty="0"/>
          </a:p>
        </p:txBody>
      </p:sp>
      <p:sp>
        <p:nvSpPr>
          <p:cNvPr id="25" name="Shape 21"/>
          <p:cNvSpPr/>
          <p:nvPr/>
        </p:nvSpPr>
        <p:spPr>
          <a:xfrm>
            <a:off x="8458200" y="2514600"/>
            <a:ext cx="749808" cy="502920"/>
          </a:xfrm>
          <a:prstGeom prst="roundRect">
            <a:avLst>
              <a:gd name="adj" fmla="val 25455"/>
            </a:avLst>
          </a:prstGeom>
          <a:solidFill>
            <a:srgbClr val="FFFFFF"/>
          </a:solidFill>
          <a:ln w="9525">
            <a:solidFill>
              <a:srgbClr val="D6E3EC"/>
            </a:solidFill>
            <a:prstDash val="solid"/>
          </a:ln>
        </p:spPr>
      </p:sp>
      <p:sp>
        <p:nvSpPr>
          <p:cNvPr id="26" name="Text 22"/>
          <p:cNvSpPr txBox="1"/>
          <p:nvPr/>
        </p:nvSpPr>
        <p:spPr>
          <a:xfrm>
            <a:off x="8458200" y="2514600"/>
            <a:ext cx="749808" cy="502920"/>
          </a:xfrm>
          <a:prstGeom prst="rect">
            <a:avLst/>
          </a:prstGeom>
          <a:noFill/>
          <a:ln/>
        </p:spPr>
        <p:txBody>
          <a:bodyPr wrap="square" lIns="508" tIns="508" rIns="508" bIns="508" rtlCol="0" anchor="ctr"/>
          <a:lstStyle/>
          <a:p>
            <a:pPr algn="ctr" indent="0" marL="0">
              <a:buNone/>
            </a:pPr>
            <a:r>
              <a:rPr lang="en-US" sz="1300" dirty="0">
                <a:solidFill>
                  <a:srgbClr val="4A6478"/>
                </a:solidFill>
                <a:latin typeface="Segoe UI Semibold" pitchFamily="34" charset="0"/>
                <a:ea typeface="Segoe UI Semibold" pitchFamily="34" charset="-122"/>
                <a:cs typeface="Segoe UI Semibold" pitchFamily="34" charset="-120"/>
              </a:rPr>
              <a:t>PC</a:t>
            </a:r>
            <a:endParaRPr lang="en-US" sz="1300" dirty="0"/>
          </a:p>
        </p:txBody>
      </p:sp>
      <p:sp>
        <p:nvSpPr>
          <p:cNvPr id="27" name="Shape 23"/>
          <p:cNvSpPr/>
          <p:nvPr/>
        </p:nvSpPr>
        <p:spPr>
          <a:xfrm>
            <a:off x="5715000" y="3017520"/>
            <a:ext cx="0" cy="502920"/>
          </a:xfrm>
          <a:prstGeom prst="line">
            <a:avLst/>
          </a:prstGeom>
          <a:noFill/>
          <a:ln w="15875">
            <a:solidFill>
              <a:srgbClr val="0C649C"/>
            </a:solidFill>
            <a:prstDash val="dash"/>
            <a:tailEnd type="triangle"/>
          </a:ln>
        </p:spPr>
      </p:sp>
      <p:sp>
        <p:nvSpPr>
          <p:cNvPr id="28" name="Text 24"/>
          <p:cNvSpPr txBox="1"/>
          <p:nvPr/>
        </p:nvSpPr>
        <p:spPr>
          <a:xfrm>
            <a:off x="5852160" y="3108960"/>
            <a:ext cx="4754880" cy="274320"/>
          </a:xfrm>
          <a:prstGeom prst="rect">
            <a:avLst/>
          </a:prstGeom>
          <a:noFill/>
          <a:ln/>
        </p:spPr>
        <p:txBody>
          <a:bodyPr wrap="square" lIns="0" tIns="0" rIns="0" bIns="0" rtlCol="0" anchor="t"/>
          <a:lstStyle/>
          <a:p>
            <a:pPr indent="0" marL="0">
              <a:buNone/>
            </a:pPr>
            <a:r>
              <a:rPr lang="en-US" sz="1200" dirty="0">
                <a:solidFill>
                  <a:srgbClr val="0C649C"/>
                </a:solidFill>
                <a:latin typeface="Segoe UI Semibold" pitchFamily="34" charset="0"/>
                <a:ea typeface="Segoe UI Semibold" pitchFamily="34" charset="-122"/>
                <a:cs typeface="Segoe UI Semibold" pitchFamily="34" charset="-120"/>
              </a:rPr>
              <a:t>copia del traffico (mirror dello switch o router)</a:t>
            </a:r>
            <a:endParaRPr lang="en-US" sz="1200" dirty="0"/>
          </a:p>
        </p:txBody>
      </p:sp>
      <p:sp>
        <p:nvSpPr>
          <p:cNvPr id="29" name="Shape 25"/>
          <p:cNvSpPr/>
          <p:nvPr/>
        </p:nvSpPr>
        <p:spPr>
          <a:xfrm>
            <a:off x="4709160" y="3520440"/>
            <a:ext cx="2011680" cy="658368"/>
          </a:xfrm>
          <a:prstGeom prst="roundRect">
            <a:avLst>
              <a:gd name="adj" fmla="val 19444"/>
            </a:avLst>
          </a:prstGeom>
          <a:solidFill>
            <a:srgbClr val="FFFFFF"/>
          </a:solidFill>
          <a:ln w="9525">
            <a:solidFill>
              <a:srgbClr val="D6E3EC"/>
            </a:solidFill>
            <a:prstDash val="solid"/>
          </a:ln>
        </p:spPr>
      </p:sp>
      <p:sp>
        <p:nvSpPr>
          <p:cNvPr id="30" name="Text 26"/>
          <p:cNvSpPr txBox="1"/>
          <p:nvPr/>
        </p:nvSpPr>
        <p:spPr>
          <a:xfrm>
            <a:off x="4709160" y="3520440"/>
            <a:ext cx="2011680" cy="658368"/>
          </a:xfrm>
          <a:prstGeom prst="rect">
            <a:avLst/>
          </a:prstGeom>
          <a:noFill/>
          <a:ln/>
        </p:spPr>
        <p:txBody>
          <a:bodyPr wrap="square" lIns="508" tIns="508" rIns="508" bIns="508"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Sensore</a:t>
            </a:r>
            <a:endParaRPr lang="en-US" sz="1300" dirty="0"/>
          </a:p>
          <a:p>
            <a:pPr algn="ctr" indent="0" marL="0">
              <a:buNone/>
            </a:pPr>
            <a:r>
              <a:rPr lang="en-US" sz="1100" dirty="0">
                <a:solidFill>
                  <a:srgbClr val="4A6478"/>
                </a:solidFill>
                <a:latin typeface="Segoe UI" pitchFamily="34" charset="0"/>
                <a:ea typeface="Segoe UI" pitchFamily="34" charset="-122"/>
                <a:cs typeface="Segoe UI" pitchFamily="34" charset="-120"/>
              </a:rPr>
              <a:t>server dedicato · CICFlowMeter</a:t>
            </a:r>
            <a:endParaRPr lang="en-US" sz="1300" dirty="0"/>
          </a:p>
        </p:txBody>
      </p:sp>
      <p:sp>
        <p:nvSpPr>
          <p:cNvPr id="31" name="Shape 27"/>
          <p:cNvSpPr/>
          <p:nvPr/>
        </p:nvSpPr>
        <p:spPr>
          <a:xfrm>
            <a:off x="6720840" y="3849624"/>
            <a:ext cx="457200" cy="0"/>
          </a:xfrm>
          <a:prstGeom prst="line">
            <a:avLst/>
          </a:prstGeom>
          <a:noFill/>
          <a:ln w="15875">
            <a:solidFill>
              <a:srgbClr val="84A0B4"/>
            </a:solidFill>
            <a:prstDash val="solid"/>
            <a:tailEnd type="triangle"/>
          </a:ln>
        </p:spPr>
      </p:sp>
      <p:sp>
        <p:nvSpPr>
          <p:cNvPr id="32" name="Shape 28"/>
          <p:cNvSpPr/>
          <p:nvPr/>
        </p:nvSpPr>
        <p:spPr>
          <a:xfrm>
            <a:off x="7178040" y="3520440"/>
            <a:ext cx="1691640" cy="658368"/>
          </a:xfrm>
          <a:prstGeom prst="roundRect">
            <a:avLst>
              <a:gd name="adj" fmla="val 19444"/>
            </a:avLst>
          </a:prstGeom>
          <a:solidFill>
            <a:srgbClr val="FFFFFF"/>
          </a:solidFill>
          <a:ln w="9525">
            <a:solidFill>
              <a:srgbClr val="D6E3EC"/>
            </a:solidFill>
            <a:prstDash val="solid"/>
          </a:ln>
        </p:spPr>
      </p:sp>
      <p:sp>
        <p:nvSpPr>
          <p:cNvPr id="33" name="Text 29"/>
          <p:cNvSpPr txBox="1"/>
          <p:nvPr/>
        </p:nvSpPr>
        <p:spPr>
          <a:xfrm>
            <a:off x="7178040" y="3520440"/>
            <a:ext cx="1691640" cy="658368"/>
          </a:xfrm>
          <a:prstGeom prst="rect">
            <a:avLst/>
          </a:prstGeom>
          <a:noFill/>
          <a:ln/>
        </p:spPr>
        <p:txBody>
          <a:bodyPr wrap="square" lIns="508" tIns="508" rIns="508" bIns="508" rtlCol="0" anchor="ctr"/>
          <a:lstStyle/>
          <a:p>
            <a:pPr algn="ctr" indent="0" marL="0">
              <a:buNone/>
            </a:pPr>
            <a:r>
              <a:rPr lang="en-US" sz="1300" dirty="0">
                <a:solidFill>
                  <a:srgbClr val="C98A3E"/>
                </a:solidFill>
                <a:latin typeface="Segoe UI Semibold" pitchFamily="34" charset="0"/>
                <a:ea typeface="Segoe UI Semibold" pitchFamily="34" charset="-122"/>
                <a:cs typeface="Segoe UI Semibold" pitchFamily="34" charset="-120"/>
              </a:rPr>
              <a:t>XGBoost</a:t>
            </a:r>
            <a:endParaRPr lang="en-US" sz="1300" dirty="0"/>
          </a:p>
          <a:p>
            <a:pPr algn="ctr" indent="0" marL="0">
              <a:buNone/>
            </a:pPr>
            <a:r>
              <a:rPr lang="en-US" sz="1100" dirty="0">
                <a:solidFill>
                  <a:srgbClr val="4A6478"/>
                </a:solidFill>
                <a:latin typeface="Segoe UI" pitchFamily="34" charset="0"/>
                <a:ea typeface="Segoe UI" pitchFamily="34" charset="-122"/>
                <a:cs typeface="Segoe UI" pitchFamily="34" charset="-120"/>
              </a:rPr>
              <a:t>attacco o normale?</a:t>
            </a:r>
            <a:endParaRPr lang="en-US" sz="1300" dirty="0"/>
          </a:p>
        </p:txBody>
      </p:sp>
      <p:sp>
        <p:nvSpPr>
          <p:cNvPr id="34" name="Shape 30"/>
          <p:cNvSpPr/>
          <p:nvPr/>
        </p:nvSpPr>
        <p:spPr>
          <a:xfrm>
            <a:off x="8869680" y="3849624"/>
            <a:ext cx="594360" cy="0"/>
          </a:xfrm>
          <a:prstGeom prst="line">
            <a:avLst/>
          </a:prstGeom>
          <a:noFill/>
          <a:ln w="15875">
            <a:solidFill>
              <a:srgbClr val="84A0B4"/>
            </a:solidFill>
            <a:prstDash val="solid"/>
            <a:tailEnd type="triangle"/>
          </a:ln>
        </p:spPr>
      </p:sp>
      <p:sp>
        <p:nvSpPr>
          <p:cNvPr id="35" name="Text 31"/>
          <p:cNvSpPr txBox="1"/>
          <p:nvPr/>
        </p:nvSpPr>
        <p:spPr>
          <a:xfrm>
            <a:off x="8796528" y="3584448"/>
            <a:ext cx="731520" cy="228600"/>
          </a:xfrm>
          <a:prstGeom prst="rect">
            <a:avLst/>
          </a:prstGeom>
          <a:noFill/>
          <a:ln/>
        </p:spPr>
        <p:txBody>
          <a:bodyPr wrap="square" lIns="0" tIns="0" rIns="0" bIns="0" rtlCol="0" anchor="t"/>
          <a:lstStyle/>
          <a:p>
            <a:pPr algn="ctr" indent="0" marL="0">
              <a:buNone/>
            </a:pPr>
            <a:r>
              <a:rPr lang="en-US" sz="1100" dirty="0">
                <a:solidFill>
                  <a:srgbClr val="4A6478"/>
                </a:solidFill>
                <a:latin typeface="Segoe UI" pitchFamily="34" charset="0"/>
                <a:ea typeface="Segoe UI" pitchFamily="34" charset="-122"/>
                <a:cs typeface="Segoe UI" pitchFamily="34" charset="-120"/>
              </a:rPr>
              <a:t>attacco</a:t>
            </a:r>
            <a:endParaRPr lang="en-US" sz="1100" dirty="0"/>
          </a:p>
        </p:txBody>
      </p:sp>
      <p:sp>
        <p:nvSpPr>
          <p:cNvPr id="36" name="Shape 32"/>
          <p:cNvSpPr/>
          <p:nvPr/>
        </p:nvSpPr>
        <p:spPr>
          <a:xfrm>
            <a:off x="9464040" y="3520440"/>
            <a:ext cx="1490472" cy="658368"/>
          </a:xfrm>
          <a:prstGeom prst="roundRect">
            <a:avLst>
              <a:gd name="adj" fmla="val 19444"/>
            </a:avLst>
          </a:prstGeom>
          <a:solidFill>
            <a:srgbClr val="FFFFFF"/>
          </a:solidFill>
          <a:ln w="9525">
            <a:solidFill>
              <a:srgbClr val="D6E3EC"/>
            </a:solidFill>
            <a:prstDash val="solid"/>
          </a:ln>
        </p:spPr>
      </p:sp>
      <p:sp>
        <p:nvSpPr>
          <p:cNvPr id="37" name="Text 33"/>
          <p:cNvSpPr txBox="1"/>
          <p:nvPr/>
        </p:nvSpPr>
        <p:spPr>
          <a:xfrm>
            <a:off x="9464040" y="3520440"/>
            <a:ext cx="1490472" cy="658368"/>
          </a:xfrm>
          <a:prstGeom prst="rect">
            <a:avLst/>
          </a:prstGeom>
          <a:noFill/>
          <a:ln/>
        </p:spPr>
        <p:txBody>
          <a:bodyPr wrap="square" lIns="508" tIns="508" rIns="508" bIns="508" rtlCol="0" anchor="ctr"/>
          <a:lstStyle/>
          <a:p>
            <a:pPr algn="ctr" indent="0" marL="0">
              <a:buNone/>
            </a:pPr>
            <a:r>
              <a:rPr lang="en-US" sz="1300" dirty="0">
                <a:solidFill>
                  <a:srgbClr val="045991"/>
                </a:solidFill>
                <a:latin typeface="Segoe UI Semibold" pitchFamily="34" charset="0"/>
                <a:ea typeface="Segoe UI Semibold" pitchFamily="34" charset="-122"/>
                <a:cs typeface="Segoe UI Semibold" pitchFamily="34" charset="-120"/>
              </a:rPr>
              <a:t>Allarme</a:t>
            </a:r>
            <a:endParaRPr lang="en-US" sz="1300" dirty="0"/>
          </a:p>
          <a:p>
            <a:pPr algn="ctr" indent="0" marL="0">
              <a:buNone/>
            </a:pPr>
            <a:r>
              <a:rPr lang="en-US" sz="1100" dirty="0">
                <a:solidFill>
                  <a:srgbClr val="4A6478"/>
                </a:solidFill>
                <a:latin typeface="Segoe UI" pitchFamily="34" charset="0"/>
                <a:ea typeface="Segoe UI" pitchFamily="34" charset="-122"/>
                <a:cs typeface="Segoe UI" pitchFamily="34" charset="-120"/>
              </a:rPr>
              <a:t>con il tipo di attacco</a:t>
            </a:r>
            <a:endParaRPr lang="en-US" sz="1300" dirty="0"/>
          </a:p>
        </p:txBody>
      </p:sp>
      <p:sp>
        <p:nvSpPr>
          <p:cNvPr id="38" name="Shape 34"/>
          <p:cNvSpPr/>
          <p:nvPr/>
        </p:nvSpPr>
        <p:spPr>
          <a:xfrm>
            <a:off x="8019288" y="4178808"/>
            <a:ext cx="0" cy="164592"/>
          </a:xfrm>
          <a:prstGeom prst="line">
            <a:avLst/>
          </a:prstGeom>
          <a:noFill/>
          <a:ln w="15875">
            <a:solidFill>
              <a:srgbClr val="84A0B4"/>
            </a:solidFill>
            <a:prstDash val="solid"/>
            <a:tailEnd type="triangle"/>
          </a:ln>
        </p:spPr>
      </p:sp>
      <p:sp>
        <p:nvSpPr>
          <p:cNvPr id="39" name="Text 35"/>
          <p:cNvSpPr txBox="1"/>
          <p:nvPr/>
        </p:nvSpPr>
        <p:spPr>
          <a:xfrm>
            <a:off x="8110728" y="4160520"/>
            <a:ext cx="914400" cy="201168"/>
          </a:xfrm>
          <a:prstGeom prst="rect">
            <a:avLst/>
          </a:prstGeom>
          <a:noFill/>
          <a:ln/>
        </p:spPr>
        <p:txBody>
          <a:bodyPr wrap="square" lIns="0" tIns="0" rIns="0" bIns="0" rtlCol="0" anchor="t"/>
          <a:lstStyle/>
          <a:p>
            <a:pPr indent="0" marL="0">
              <a:buNone/>
            </a:pPr>
            <a:r>
              <a:rPr lang="en-US" sz="1100" dirty="0">
                <a:solidFill>
                  <a:srgbClr val="4A6478"/>
                </a:solidFill>
                <a:latin typeface="Segoe UI" pitchFamily="34" charset="0"/>
                <a:ea typeface="Segoe UI" pitchFamily="34" charset="-122"/>
                <a:cs typeface="Segoe UI" pitchFamily="34" charset="-120"/>
              </a:rPr>
              <a:t>normale</a:t>
            </a:r>
            <a:endParaRPr lang="en-US" sz="1100" dirty="0"/>
          </a:p>
        </p:txBody>
      </p:sp>
      <p:sp>
        <p:nvSpPr>
          <p:cNvPr id="40" name="Shape 36"/>
          <p:cNvSpPr/>
          <p:nvPr/>
        </p:nvSpPr>
        <p:spPr>
          <a:xfrm>
            <a:off x="7178040" y="4343400"/>
            <a:ext cx="1691640" cy="640080"/>
          </a:xfrm>
          <a:prstGeom prst="roundRect">
            <a:avLst>
              <a:gd name="adj" fmla="val 20000"/>
            </a:avLst>
          </a:prstGeom>
          <a:solidFill>
            <a:srgbClr val="FFFFFF"/>
          </a:solidFill>
          <a:ln w="9525">
            <a:solidFill>
              <a:srgbClr val="D6E3EC"/>
            </a:solidFill>
            <a:prstDash val="solid"/>
          </a:ln>
        </p:spPr>
      </p:sp>
      <p:sp>
        <p:nvSpPr>
          <p:cNvPr id="41" name="Text 37"/>
          <p:cNvSpPr txBox="1"/>
          <p:nvPr/>
        </p:nvSpPr>
        <p:spPr>
          <a:xfrm>
            <a:off x="7178040" y="4343400"/>
            <a:ext cx="1691640" cy="640080"/>
          </a:xfrm>
          <a:prstGeom prst="rect">
            <a:avLst/>
          </a:prstGeom>
          <a:noFill/>
          <a:ln/>
        </p:spPr>
        <p:txBody>
          <a:bodyPr wrap="square" lIns="508" tIns="508" rIns="508" bIns="508" rtlCol="0" anchor="ctr"/>
          <a:lstStyle/>
          <a:p>
            <a:pPr algn="ctr" indent="0" marL="0">
              <a:buNone/>
            </a:pPr>
            <a:r>
              <a:rPr lang="en-US" sz="1300" dirty="0">
                <a:solidFill>
                  <a:srgbClr val="0C649C"/>
                </a:solidFill>
                <a:latin typeface="Segoe UI Semibold" pitchFamily="34" charset="0"/>
                <a:ea typeface="Segoe UI Semibold" pitchFamily="34" charset="-122"/>
                <a:cs typeface="Segoe UI Semibold" pitchFamily="34" charset="-120"/>
              </a:rPr>
              <a:t>Autoencoder</a:t>
            </a:r>
            <a:endParaRPr lang="en-US" sz="1300" dirty="0"/>
          </a:p>
          <a:p>
            <a:pPr algn="ctr" indent="0" marL="0">
              <a:buNone/>
            </a:pPr>
            <a:r>
              <a:rPr lang="en-US" sz="1100" dirty="0">
                <a:solidFill>
                  <a:srgbClr val="4A6478"/>
                </a:solidFill>
                <a:latin typeface="Segoe UI" pitchFamily="34" charset="0"/>
                <a:ea typeface="Segoe UI" pitchFamily="34" charset="-122"/>
                <a:cs typeface="Segoe UI" pitchFamily="34" charset="-120"/>
              </a:rPr>
              <a:t>sembra normale?</a:t>
            </a:r>
            <a:endParaRPr lang="en-US" sz="1300" dirty="0"/>
          </a:p>
        </p:txBody>
      </p:sp>
      <p:sp>
        <p:nvSpPr>
          <p:cNvPr id="42" name="Shape 38"/>
          <p:cNvSpPr/>
          <p:nvPr/>
        </p:nvSpPr>
        <p:spPr>
          <a:xfrm>
            <a:off x="8869680" y="4663440"/>
            <a:ext cx="594360" cy="0"/>
          </a:xfrm>
          <a:prstGeom prst="line">
            <a:avLst/>
          </a:prstGeom>
          <a:noFill/>
          <a:ln w="15875">
            <a:solidFill>
              <a:srgbClr val="84A0B4"/>
            </a:solidFill>
            <a:prstDash val="solid"/>
            <a:tailEnd type="triangle"/>
          </a:ln>
        </p:spPr>
      </p:sp>
      <p:sp>
        <p:nvSpPr>
          <p:cNvPr id="43" name="Text 39"/>
          <p:cNvSpPr txBox="1"/>
          <p:nvPr/>
        </p:nvSpPr>
        <p:spPr>
          <a:xfrm>
            <a:off x="8796528" y="4398264"/>
            <a:ext cx="731520" cy="228600"/>
          </a:xfrm>
          <a:prstGeom prst="rect">
            <a:avLst/>
          </a:prstGeom>
          <a:noFill/>
          <a:ln/>
        </p:spPr>
        <p:txBody>
          <a:bodyPr wrap="square" lIns="0" tIns="0" rIns="0" bIns="0" rtlCol="0" anchor="t"/>
          <a:lstStyle/>
          <a:p>
            <a:pPr algn="ctr" indent="0" marL="0">
              <a:buNone/>
            </a:pPr>
            <a:r>
              <a:rPr lang="en-US" sz="1100" dirty="0">
                <a:solidFill>
                  <a:srgbClr val="4A6478"/>
                </a:solidFill>
                <a:latin typeface="Segoe UI" pitchFamily="34" charset="0"/>
                <a:ea typeface="Segoe UI" pitchFamily="34" charset="-122"/>
                <a:cs typeface="Segoe UI" pitchFamily="34" charset="-120"/>
              </a:rPr>
              <a:t>anomalo</a:t>
            </a:r>
            <a:endParaRPr lang="en-US" sz="1100" dirty="0"/>
          </a:p>
        </p:txBody>
      </p:sp>
      <p:sp>
        <p:nvSpPr>
          <p:cNvPr id="44" name="Shape 40"/>
          <p:cNvSpPr/>
          <p:nvPr/>
        </p:nvSpPr>
        <p:spPr>
          <a:xfrm>
            <a:off x="9464040" y="4343400"/>
            <a:ext cx="1490472" cy="640080"/>
          </a:xfrm>
          <a:prstGeom prst="roundRect">
            <a:avLst>
              <a:gd name="adj" fmla="val 20000"/>
            </a:avLst>
          </a:prstGeom>
          <a:solidFill>
            <a:srgbClr val="FFFFFF"/>
          </a:solidFill>
          <a:ln w="9525">
            <a:solidFill>
              <a:srgbClr val="D6E3EC"/>
            </a:solidFill>
            <a:prstDash val="solid"/>
          </a:ln>
        </p:spPr>
      </p:sp>
      <p:sp>
        <p:nvSpPr>
          <p:cNvPr id="45" name="Text 41"/>
          <p:cNvSpPr txBox="1"/>
          <p:nvPr/>
        </p:nvSpPr>
        <p:spPr>
          <a:xfrm>
            <a:off x="9464040" y="4343400"/>
            <a:ext cx="1490472" cy="640080"/>
          </a:xfrm>
          <a:prstGeom prst="rect">
            <a:avLst/>
          </a:prstGeom>
          <a:noFill/>
          <a:ln/>
        </p:spPr>
        <p:txBody>
          <a:bodyPr wrap="square" lIns="508" tIns="508" rIns="508" bIns="508" rtlCol="0" anchor="ctr"/>
          <a:lstStyle/>
          <a:p>
            <a:pPr algn="ctr" indent="0" marL="0">
              <a:buNone/>
            </a:pPr>
            <a:r>
              <a:rPr lang="en-US" sz="1300" dirty="0">
                <a:solidFill>
                  <a:srgbClr val="045991"/>
                </a:solidFill>
                <a:latin typeface="Segoe UI Semibold" pitchFamily="34" charset="0"/>
                <a:ea typeface="Segoe UI Semibold" pitchFamily="34" charset="-122"/>
                <a:cs typeface="Segoe UI Semibold" pitchFamily="34" charset="-120"/>
              </a:rPr>
              <a:t>Allarme</a:t>
            </a:r>
            <a:endParaRPr lang="en-US" sz="1300" dirty="0"/>
          </a:p>
          <a:p>
            <a:pPr algn="ctr" indent="0" marL="0">
              <a:buNone/>
            </a:pPr>
            <a:r>
              <a:rPr lang="en-US" sz="1100" dirty="0">
                <a:solidFill>
                  <a:srgbClr val="4A6478"/>
                </a:solidFill>
                <a:latin typeface="Segoe UI" pitchFamily="34" charset="0"/>
                <a:ea typeface="Segoe UI" pitchFamily="34" charset="-122"/>
                <a:cs typeface="Segoe UI" pitchFamily="34" charset="-120"/>
              </a:rPr>
              <a:t>anomalia da verificare</a:t>
            </a:r>
            <a:endParaRPr lang="en-US" sz="1300" dirty="0"/>
          </a:p>
        </p:txBody>
      </p:sp>
      <p:sp>
        <p:nvSpPr>
          <p:cNvPr id="46" name="Text 42"/>
          <p:cNvSpPr txBox="1"/>
          <p:nvPr/>
        </p:nvSpPr>
        <p:spPr>
          <a:xfrm>
            <a:off x="4709160" y="4572000"/>
            <a:ext cx="2331720" cy="274320"/>
          </a:xfrm>
          <a:prstGeom prst="rect">
            <a:avLst/>
          </a:prstGeom>
          <a:noFill/>
          <a:ln/>
        </p:spPr>
        <p:txBody>
          <a:bodyPr wrap="square" lIns="0" tIns="0" rIns="0" bIns="0" rtlCol="0" anchor="t"/>
          <a:lstStyle/>
          <a:p>
            <a:pPr algn="r" indent="0" marL="0">
              <a:buNone/>
            </a:pPr>
            <a:r>
              <a:rPr lang="en-US" sz="1100" dirty="0">
                <a:solidFill>
                  <a:srgbClr val="4A6478"/>
                </a:solidFill>
                <a:latin typeface="Segoe UI" pitchFamily="34" charset="0"/>
                <a:ea typeface="Segoe UI" pitchFamily="34" charset="-122"/>
                <a:cs typeface="Segoe UI" pitchFamily="34" charset="-120"/>
              </a:rPr>
              <a:t>normale → nessun allarme</a:t>
            </a:r>
            <a:endParaRPr lang="en-US" sz="1100" dirty="0"/>
          </a:p>
        </p:txBody>
      </p:sp>
      <p:sp>
        <p:nvSpPr>
          <p:cNvPr id="47" name="Shape 43"/>
          <p:cNvSpPr/>
          <p:nvPr/>
        </p:nvSpPr>
        <p:spPr>
          <a:xfrm>
            <a:off x="1234440" y="5285232"/>
            <a:ext cx="3119018" cy="1188720"/>
          </a:xfrm>
          <a:prstGeom prst="roundRect">
            <a:avLst>
              <a:gd name="adj" fmla="val 10769"/>
            </a:avLst>
          </a:prstGeom>
          <a:solidFill>
            <a:srgbClr val="FFFFFF"/>
          </a:solidFill>
          <a:ln w="9525">
            <a:solidFill>
              <a:srgbClr val="D6E3EC"/>
            </a:solidFill>
            <a:prstDash val="solid"/>
          </a:ln>
        </p:spPr>
      </p:sp>
      <p:sp>
        <p:nvSpPr>
          <p:cNvPr id="48" name="Text 44"/>
          <p:cNvSpPr txBox="1"/>
          <p:nvPr/>
        </p:nvSpPr>
        <p:spPr>
          <a:xfrm>
            <a:off x="1417320" y="5413248"/>
            <a:ext cx="2753258" cy="237744"/>
          </a:xfrm>
          <a:prstGeom prst="rect">
            <a:avLst/>
          </a:prstGeom>
          <a:noFill/>
          <a:ln/>
        </p:spPr>
        <p:txBody>
          <a:bodyPr wrap="square" lIns="0" tIns="0" rIns="0" bIns="0" rtlCol="0" anchor="t"/>
          <a:lstStyle/>
          <a:p>
            <a:pPr indent="0" marL="0">
              <a:buNone/>
            </a:pPr>
            <a:r>
              <a:rPr lang="en-US" sz="1050" spc="150" kern="0" dirty="0">
                <a:solidFill>
                  <a:srgbClr val="0C649C"/>
                </a:solidFill>
                <a:latin typeface="Segoe UI Semibold" pitchFamily="34" charset="0"/>
                <a:ea typeface="Segoe UI Semibold" pitchFamily="34" charset="-122"/>
                <a:cs typeface="Segoe UI Semibold" pitchFamily="34" charset="-120"/>
              </a:rPr>
              <a:t>NEL PROGETTO</a:t>
            </a:r>
            <a:endParaRPr lang="en-US" sz="1050" dirty="0"/>
          </a:p>
        </p:txBody>
      </p:sp>
      <p:sp>
        <p:nvSpPr>
          <p:cNvPr id="49" name="Text 45"/>
          <p:cNvSpPr txBox="1"/>
          <p:nvPr/>
        </p:nvSpPr>
        <p:spPr>
          <a:xfrm>
            <a:off x="1417320" y="5669280"/>
            <a:ext cx="2753258" cy="777240"/>
          </a:xfrm>
          <a:prstGeom prst="rect">
            <a:avLst/>
          </a:prstGeom>
          <a:noFill/>
          <a:ln/>
        </p:spPr>
        <p:txBody>
          <a:bodyPr wrap="square" lIns="0" tIns="0" rIns="0" bIns="0" rtlCol="0" anchor="t"/>
          <a:lstStyle/>
          <a:p>
            <a:pPr indent="0" marL="0">
              <a:buNone/>
            </a:pPr>
            <a:r>
              <a:rPr lang="en-US" sz="1200" dirty="0">
                <a:solidFill>
                  <a:srgbClr val="0B2438"/>
                </a:solidFill>
                <a:latin typeface="Segoe UI" pitchFamily="34" charset="0"/>
                <a:ea typeface="Segoe UI" pitchFamily="34" charset="-122"/>
                <a:cs typeface="Segoe UI" pitchFamily="34" charset="-120"/>
              </a:rPr>
              <a:t>Analisi offline di flussi registrati: CIC-IDS2017. Non in tempo reale.</a:t>
            </a:r>
            <a:endParaRPr lang="en-US" sz="1200" dirty="0"/>
          </a:p>
        </p:txBody>
      </p:sp>
      <p:sp>
        <p:nvSpPr>
          <p:cNvPr id="50" name="Text 46"/>
          <p:cNvSpPr txBox="1"/>
          <p:nvPr/>
        </p:nvSpPr>
        <p:spPr>
          <a:xfrm>
            <a:off x="4536338" y="5029200"/>
            <a:ext cx="6420917" cy="237744"/>
          </a:xfrm>
          <a:prstGeom prst="rect">
            <a:avLst/>
          </a:prstGeom>
          <a:noFill/>
          <a:ln/>
        </p:spPr>
        <p:txBody>
          <a:bodyPr wrap="square" lIns="0" tIns="0" rIns="0" bIns="0" rtlCol="0" anchor="t"/>
          <a:lstStyle/>
          <a:p>
            <a:pPr indent="0" marL="0">
              <a:buNone/>
            </a:pPr>
            <a:r>
              <a:rPr lang="en-US" sz="1050" spc="150" kern="0" dirty="0">
                <a:solidFill>
                  <a:srgbClr val="4A6478"/>
                </a:solidFill>
                <a:latin typeface="Segoe UI Semibold" pitchFamily="34" charset="0"/>
                <a:ea typeface="Segoe UI Semibold" pitchFamily="34" charset="-122"/>
                <a:cs typeface="Segoe UI Semibold" pitchFamily="34" charset="-120"/>
              </a:rPr>
              <a:t>ERRORE DI RICOSTRUZIONE (VALIDATION, UN AUTOENCODER)</a:t>
            </a:r>
            <a:endParaRPr lang="en-US" sz="1050" dirty="0"/>
          </a:p>
        </p:txBody>
      </p:sp>
      <p:cxnSp>
        <p:nvCxnSpPr>
          <p:cNvPr id="51" name="Connector 50"/>
          <p:cNvCxnSpPr/>
          <p:nvPr/>
        </p:nvCxnSpPr>
        <p:spPr>
          <a:xfrm>
            <a:off x="4663440" y="6126480"/>
            <a:ext cx="6263640" cy="0"/>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4663440" y="5977427"/>
            <a:ext cx="150327" cy="149053"/>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4820031" y="5951017"/>
            <a:ext cx="150327" cy="175463"/>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976622" y="5938019"/>
            <a:ext cx="150327" cy="188461"/>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5133213" y="5908433"/>
            <a:ext cx="150327" cy="218047"/>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5289804" y="5863570"/>
            <a:ext cx="150327" cy="262910"/>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5446395" y="5932547"/>
            <a:ext cx="150327" cy="193933"/>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5602986" y="5986938"/>
            <a:ext cx="150327" cy="139542"/>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5759577" y="5834934"/>
            <a:ext cx="150327" cy="291546"/>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5759577" y="6108692"/>
            <a:ext cx="150327" cy="17788"/>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5916168" y="5734713"/>
            <a:ext cx="150327" cy="391767"/>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5916168" y="5970140"/>
            <a:ext cx="150327" cy="156340"/>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6072759" y="5760916"/>
            <a:ext cx="150327" cy="365564"/>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6072759" y="5917942"/>
            <a:ext cx="150327" cy="208538"/>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6229350" y="5833699"/>
            <a:ext cx="150327" cy="292781"/>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6229350" y="5940798"/>
            <a:ext cx="150327" cy="185682"/>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6385941" y="5892544"/>
            <a:ext cx="150327" cy="233936"/>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6385941" y="6033386"/>
            <a:ext cx="150327" cy="93094"/>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6542532" y="5985229"/>
            <a:ext cx="150327" cy="141251"/>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6542532" y="5970444"/>
            <a:ext cx="150327" cy="156036"/>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6699123" y="6018881"/>
            <a:ext cx="150327" cy="107599"/>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6699123" y="6115280"/>
            <a:ext cx="150327" cy="11200"/>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6855714" y="6053162"/>
            <a:ext cx="150327" cy="73318"/>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6855714" y="6065718"/>
            <a:ext cx="150327" cy="60762"/>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7012305" y="6066591"/>
            <a:ext cx="150327" cy="59889"/>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7012305" y="6069671"/>
            <a:ext cx="150327" cy="56809"/>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7168896" y="6085268"/>
            <a:ext cx="150327" cy="41212"/>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7168896" y="6028470"/>
            <a:ext cx="150327" cy="98010"/>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7325487" y="6092596"/>
            <a:ext cx="150327" cy="33884"/>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7325487" y="5982049"/>
            <a:ext cx="150327" cy="144431"/>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7482078" y="6108399"/>
            <a:ext cx="150327" cy="18081"/>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7482078" y="6036274"/>
            <a:ext cx="150327" cy="90206"/>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7638669" y="6113137"/>
            <a:ext cx="150327" cy="13343"/>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7638669" y="6087306"/>
            <a:ext cx="150327" cy="39174"/>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7795260" y="6118738"/>
            <a:ext cx="150327" cy="7742"/>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7795260" y="5852923"/>
            <a:ext cx="150327" cy="273557"/>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7951851" y="6121224"/>
            <a:ext cx="150327" cy="5256"/>
          </a:xfrm>
          <a:prstGeom prst="rect">
            <a:avLst/>
          </a:prstGeom>
          <a:solidFill>
            <a:srgbClr val="0C649C">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7951851" y="5349240"/>
            <a:ext cx="150327" cy="777240"/>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8108442" y="5694962"/>
            <a:ext cx="150327" cy="431518"/>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8265033" y="5835896"/>
            <a:ext cx="150327" cy="290584"/>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8421624" y="5950883"/>
            <a:ext cx="150327" cy="175597"/>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8578215" y="6076461"/>
            <a:ext cx="150327" cy="50019"/>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8734806" y="6039112"/>
            <a:ext cx="150327" cy="87368"/>
          </a:xfrm>
          <a:prstGeom prst="rect">
            <a:avLst/>
          </a:prstGeom>
          <a:solidFill>
            <a:srgbClr val="C98A3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4" name="Connector 93"/>
          <p:cNvCxnSpPr/>
          <p:nvPr/>
        </p:nvCxnSpPr>
        <p:spPr>
          <a:xfrm>
            <a:off x="4663440" y="6126480"/>
            <a:ext cx="0" cy="36576"/>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389120" y="6181344"/>
            <a:ext cx="548640" cy="146304"/>
          </a:xfrm>
          <a:prstGeom prst="rect">
            <a:avLst/>
          </a:prstGeom>
          <a:noFill/>
        </p:spPr>
        <p:txBody>
          <a:bodyPr wrap="square" lIns="0" rIns="0" tIns="0" bIns="0" anchor="t">
            <a:spAutoFit/>
          </a:bodyPr>
          <a:lstStyle/>
          <a:p>
            <a:pPr algn="ctr"/>
            <a:r>
              <a:rPr sz="800" b="0" i="0">
                <a:solidFill>
                  <a:srgbClr val="4A6478"/>
                </a:solidFill>
                <a:latin typeface="Segoe UI"/>
              </a:rPr>
              <a:t>0,001</a:t>
            </a:r>
          </a:p>
        </p:txBody>
      </p:sp>
      <p:cxnSp>
        <p:nvCxnSpPr>
          <p:cNvPr id="96" name="Connector 95"/>
          <p:cNvCxnSpPr/>
          <p:nvPr/>
        </p:nvCxnSpPr>
        <p:spPr>
          <a:xfrm>
            <a:off x="5707380" y="6126480"/>
            <a:ext cx="0" cy="36576"/>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5433060" y="6181344"/>
            <a:ext cx="548640" cy="146304"/>
          </a:xfrm>
          <a:prstGeom prst="rect">
            <a:avLst/>
          </a:prstGeom>
          <a:noFill/>
        </p:spPr>
        <p:txBody>
          <a:bodyPr wrap="square" lIns="0" rIns="0" tIns="0" bIns="0" anchor="t">
            <a:spAutoFit/>
          </a:bodyPr>
          <a:lstStyle/>
          <a:p>
            <a:pPr algn="ctr"/>
            <a:r>
              <a:rPr sz="800" b="0" i="0">
                <a:solidFill>
                  <a:srgbClr val="4A6478"/>
                </a:solidFill>
                <a:latin typeface="Segoe UI"/>
              </a:rPr>
              <a:t>0,01</a:t>
            </a:r>
          </a:p>
        </p:txBody>
      </p:sp>
      <p:cxnSp>
        <p:nvCxnSpPr>
          <p:cNvPr id="98" name="Connector 97"/>
          <p:cNvCxnSpPr/>
          <p:nvPr/>
        </p:nvCxnSpPr>
        <p:spPr>
          <a:xfrm>
            <a:off x="6751320" y="6126480"/>
            <a:ext cx="0" cy="36576"/>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477000" y="6181344"/>
            <a:ext cx="548640" cy="146304"/>
          </a:xfrm>
          <a:prstGeom prst="rect">
            <a:avLst/>
          </a:prstGeom>
          <a:noFill/>
        </p:spPr>
        <p:txBody>
          <a:bodyPr wrap="square" lIns="0" rIns="0" tIns="0" bIns="0" anchor="t">
            <a:spAutoFit/>
          </a:bodyPr>
          <a:lstStyle/>
          <a:p>
            <a:pPr algn="ctr"/>
            <a:r>
              <a:rPr sz="800" b="0" i="0">
                <a:solidFill>
                  <a:srgbClr val="4A6478"/>
                </a:solidFill>
                <a:latin typeface="Segoe UI"/>
              </a:rPr>
              <a:t>0,1</a:t>
            </a:r>
          </a:p>
        </p:txBody>
      </p:sp>
      <p:cxnSp>
        <p:nvCxnSpPr>
          <p:cNvPr id="100" name="Connector 99"/>
          <p:cNvCxnSpPr/>
          <p:nvPr/>
        </p:nvCxnSpPr>
        <p:spPr>
          <a:xfrm>
            <a:off x="7795260" y="6126480"/>
            <a:ext cx="0" cy="36576"/>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520940" y="6181344"/>
            <a:ext cx="548640" cy="146304"/>
          </a:xfrm>
          <a:prstGeom prst="rect">
            <a:avLst/>
          </a:prstGeom>
          <a:noFill/>
        </p:spPr>
        <p:txBody>
          <a:bodyPr wrap="square" lIns="0" rIns="0" tIns="0" bIns="0" anchor="t">
            <a:spAutoFit/>
          </a:bodyPr>
          <a:lstStyle/>
          <a:p>
            <a:pPr algn="ctr"/>
            <a:r>
              <a:rPr sz="800" b="0" i="0">
                <a:solidFill>
                  <a:srgbClr val="4A6478"/>
                </a:solidFill>
                <a:latin typeface="Segoe UI"/>
              </a:rPr>
              <a:t>1</a:t>
            </a:r>
          </a:p>
        </p:txBody>
      </p:sp>
      <p:cxnSp>
        <p:nvCxnSpPr>
          <p:cNvPr id="102" name="Connector 101"/>
          <p:cNvCxnSpPr/>
          <p:nvPr/>
        </p:nvCxnSpPr>
        <p:spPr>
          <a:xfrm>
            <a:off x="8839200" y="6126480"/>
            <a:ext cx="0" cy="36576"/>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8564880" y="6181344"/>
            <a:ext cx="548640" cy="146304"/>
          </a:xfrm>
          <a:prstGeom prst="rect">
            <a:avLst/>
          </a:prstGeom>
          <a:noFill/>
        </p:spPr>
        <p:txBody>
          <a:bodyPr wrap="square" lIns="0" rIns="0" tIns="0" bIns="0" anchor="t">
            <a:spAutoFit/>
          </a:bodyPr>
          <a:lstStyle/>
          <a:p>
            <a:pPr algn="ctr"/>
            <a:r>
              <a:rPr sz="800" b="0" i="0">
                <a:solidFill>
                  <a:srgbClr val="4A6478"/>
                </a:solidFill>
                <a:latin typeface="Segoe UI"/>
              </a:rPr>
              <a:t>10</a:t>
            </a:r>
          </a:p>
        </p:txBody>
      </p:sp>
      <p:cxnSp>
        <p:nvCxnSpPr>
          <p:cNvPr id="104" name="Connector 103"/>
          <p:cNvCxnSpPr/>
          <p:nvPr/>
        </p:nvCxnSpPr>
        <p:spPr>
          <a:xfrm>
            <a:off x="9883140" y="6126480"/>
            <a:ext cx="0" cy="36576"/>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9608820" y="6181344"/>
            <a:ext cx="548640" cy="146304"/>
          </a:xfrm>
          <a:prstGeom prst="rect">
            <a:avLst/>
          </a:prstGeom>
          <a:noFill/>
        </p:spPr>
        <p:txBody>
          <a:bodyPr wrap="square" lIns="0" rIns="0" tIns="0" bIns="0" anchor="t">
            <a:spAutoFit/>
          </a:bodyPr>
          <a:lstStyle/>
          <a:p>
            <a:pPr algn="ctr"/>
            <a:r>
              <a:rPr sz="800" b="0" i="0">
                <a:solidFill>
                  <a:srgbClr val="4A6478"/>
                </a:solidFill>
                <a:latin typeface="Segoe UI"/>
              </a:rPr>
              <a:t>100</a:t>
            </a:r>
          </a:p>
        </p:txBody>
      </p:sp>
      <p:cxnSp>
        <p:nvCxnSpPr>
          <p:cNvPr id="106" name="Connector 105"/>
          <p:cNvCxnSpPr/>
          <p:nvPr/>
        </p:nvCxnSpPr>
        <p:spPr>
          <a:xfrm>
            <a:off x="10927080" y="6126480"/>
            <a:ext cx="0" cy="36576"/>
          </a:xfrm>
          <a:prstGeom prst="line">
            <a:avLst/>
          </a:prstGeom>
          <a:ln w="12700">
            <a:solidFill>
              <a:srgbClr val="84A0B4"/>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0652760" y="6181344"/>
            <a:ext cx="548640" cy="146304"/>
          </a:xfrm>
          <a:prstGeom prst="rect">
            <a:avLst/>
          </a:prstGeom>
          <a:noFill/>
        </p:spPr>
        <p:txBody>
          <a:bodyPr wrap="square" lIns="0" rIns="0" tIns="0" bIns="0" anchor="t">
            <a:spAutoFit/>
          </a:bodyPr>
          <a:lstStyle/>
          <a:p>
            <a:pPr algn="ctr"/>
            <a:r>
              <a:rPr sz="800" b="0" i="0">
                <a:solidFill>
                  <a:srgbClr val="4A6478"/>
                </a:solidFill>
                <a:latin typeface="Segoe UI"/>
              </a:rPr>
              <a:t>1000</a:t>
            </a:r>
          </a:p>
        </p:txBody>
      </p:sp>
      <p:cxnSp>
        <p:nvCxnSpPr>
          <p:cNvPr id="108" name="Connector 107"/>
          <p:cNvCxnSpPr/>
          <p:nvPr/>
        </p:nvCxnSpPr>
        <p:spPr>
          <a:xfrm>
            <a:off x="7591325" y="5349240"/>
            <a:ext cx="0" cy="777240"/>
          </a:xfrm>
          <a:prstGeom prst="line">
            <a:avLst/>
          </a:prstGeom>
          <a:ln w="19050">
            <a:solidFill>
              <a:srgbClr val="9A3B1B"/>
            </a:solidFill>
            <a:prstDash val="dash"/>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5533925" y="5330952"/>
            <a:ext cx="2011680" cy="146304"/>
          </a:xfrm>
          <a:prstGeom prst="rect">
            <a:avLst/>
          </a:prstGeom>
          <a:noFill/>
        </p:spPr>
        <p:txBody>
          <a:bodyPr wrap="square" lIns="0" rIns="0" tIns="0" bIns="0" anchor="t">
            <a:spAutoFit/>
          </a:bodyPr>
          <a:lstStyle/>
          <a:p>
            <a:pPr algn="r"/>
            <a:r>
              <a:rPr sz="900" b="1" i="0">
                <a:solidFill>
                  <a:srgbClr val="9A3B1B"/>
                </a:solidFill>
                <a:latin typeface="Segoe UI"/>
              </a:rPr>
              <a:t>soglia p99 · ≈ 1% falsi allarmi</a:t>
            </a:r>
          </a:p>
        </p:txBody>
      </p:sp>
      <p:sp>
        <p:nvSpPr>
          <p:cNvPr id="110" name="Rectangle 109"/>
          <p:cNvSpPr/>
          <p:nvPr/>
        </p:nvSpPr>
        <p:spPr>
          <a:xfrm>
            <a:off x="9372600" y="5367528"/>
            <a:ext cx="109728" cy="109728"/>
          </a:xfrm>
          <a:prstGeom prst="rect">
            <a:avLst/>
          </a:prstGeom>
          <a:solidFill>
            <a:srgbClr val="0C649C">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9528048" y="5340096"/>
            <a:ext cx="1371600" cy="164592"/>
          </a:xfrm>
          <a:prstGeom prst="rect">
            <a:avLst/>
          </a:prstGeom>
          <a:noFill/>
        </p:spPr>
        <p:txBody>
          <a:bodyPr wrap="square" lIns="0" rIns="0" tIns="0" bIns="0" anchor="ctr">
            <a:spAutoFit/>
          </a:bodyPr>
          <a:lstStyle/>
          <a:p>
            <a:pPr algn="l"/>
            <a:r>
              <a:rPr sz="900" b="0" i="0">
                <a:solidFill>
                  <a:srgbClr val="0B2438"/>
                </a:solidFill>
                <a:latin typeface="Segoe UI"/>
              </a:rPr>
              <a:t>Benign</a:t>
            </a:r>
          </a:p>
        </p:txBody>
      </p:sp>
      <p:sp>
        <p:nvSpPr>
          <p:cNvPr id="112" name="Rectangle 111"/>
          <p:cNvSpPr/>
          <p:nvPr/>
        </p:nvSpPr>
        <p:spPr>
          <a:xfrm>
            <a:off x="9372600" y="5568696"/>
            <a:ext cx="109728" cy="109728"/>
          </a:xfrm>
          <a:prstGeom prst="rect">
            <a:avLst/>
          </a:prstGeom>
          <a:solidFill>
            <a:srgbClr val="C98A3E">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9528048" y="5541264"/>
            <a:ext cx="1371600" cy="164592"/>
          </a:xfrm>
          <a:prstGeom prst="rect">
            <a:avLst/>
          </a:prstGeom>
          <a:noFill/>
        </p:spPr>
        <p:txBody>
          <a:bodyPr wrap="square" lIns="0" rIns="0" tIns="0" bIns="0" anchor="ctr">
            <a:spAutoFit/>
          </a:bodyPr>
          <a:lstStyle/>
          <a:p>
            <a:pPr algn="l"/>
            <a:r>
              <a:rPr sz="900" b="0" i="0">
                <a:solidFill>
                  <a:srgbClr val="0B2438"/>
                </a:solidFill>
                <a:latin typeface="Segoe UI"/>
              </a:rPr>
              <a:t>Attacchi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Image 0" descr="Logo Unimore">    </p:cNvPr>
          <p:cNvPicPr>
            <a:picLocks noChangeAspect="1"/>
          </p:cNvPicPr>
          <p:nvPr/>
        </p:nvPicPr>
        <p:blipFill>
          <a:blip r:embed="rId2"/>
          <a:stretch>
            <a:fillRect/>
          </a:stretch>
        </p:blipFill>
        <p:spPr>
          <a:xfrm>
            <a:off x="11023092" y="274320"/>
            <a:ext cx="566014" cy="640080"/>
          </a:xfrm>
          <a:prstGeom prst="rect">
            <a:avLst/>
          </a:prstGeom>
        </p:spPr>
      </p:pic>
      <p:sp>
        <p:nvSpPr>
          <p:cNvPr id="6" name="Text 2"/>
          <p:cNvSpPr/>
          <p:nvPr/>
        </p:nvSpPr>
        <p:spPr>
          <a:xfrm>
            <a:off x="4959706" y="384048"/>
            <a:ext cx="2272284"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04 · TEST E RISULTATI</a:t>
            </a:r>
            <a:endParaRPr lang="en-US" sz="1050" dirty="0"/>
          </a:p>
        </p:txBody>
      </p:sp>
      <p:sp>
        <p:nvSpPr>
          <p:cNvPr id="7" name="Text 3"/>
          <p:cNvSpPr txBox="1"/>
          <p:nvPr/>
        </p:nvSpPr>
        <p:spPr>
          <a:xfrm>
            <a:off x="822960" y="868680"/>
            <a:ext cx="10545775" cy="822960"/>
          </a:xfrm>
          <a:prstGeom prst="rect">
            <a:avLst/>
          </a:prstGeom>
          <a:noFill/>
          <a:ln/>
        </p:spPr>
        <p:txBody>
          <a:bodyPr wrap="square" lIns="0" tIns="0" rIns="0" bIns="0" rtlCol="0" anchor="ctr"/>
          <a:lstStyle/>
          <a:p>
            <a:pPr algn="ctr" indent="0" marL="0">
              <a:buNone/>
            </a:pPr>
            <a:r>
              <a:rPr lang="en-US" sz="3600" dirty="0">
                <a:solidFill>
                  <a:srgbClr val="FFFFFF"/>
                </a:solidFill>
                <a:latin typeface="Georgia" pitchFamily="34" charset="0"/>
                <a:ea typeface="Georgia" pitchFamily="34" charset="-122"/>
                <a:cs typeface="Georgia" pitchFamily="34" charset="-120"/>
              </a:rPr>
              <a:t>Come ho testato, e cosa è </a:t>
            </a:r>
            <a:pPr algn="ctr" indent="0" marL="0">
              <a:buNone/>
            </a:pPr>
            <a:r>
              <a:rPr lang="en-US" sz="3600" i="1" dirty="0">
                <a:solidFill>
                  <a:srgbClr val="BCD1DE"/>
                </a:solidFill>
                <a:latin typeface="Georgia" pitchFamily="34" charset="0"/>
                <a:ea typeface="Georgia" pitchFamily="34" charset="-122"/>
                <a:cs typeface="Georgia" pitchFamily="34" charset="-120"/>
              </a:rPr>
              <a:t>emerso</a:t>
            </a:r>
            <a:endParaRPr lang="en-US" sz="3600" dirty="0"/>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 6"/>
          <p:cNvSpPr txBox="1"/>
          <p:nvPr/>
        </p:nvSpPr>
        <p:spPr>
          <a:xfrm>
            <a:off x="9997135" y="6473952"/>
            <a:ext cx="1097280" cy="228600"/>
          </a:xfrm>
          <a:prstGeom prst="rect">
            <a:avLst/>
          </a:prstGeom>
          <a:noFill/>
          <a:ln/>
        </p:spPr>
        <p:txBody>
          <a:bodyPr wrap="square" lIns="0" tIns="0" rIns="0" bIns="0" rtlCol="0" anchor="t"/>
          <a:lstStyle/>
          <a:p>
            <a:pPr algn="r" indent="0" marL="0">
              <a:buNone/>
            </a:pPr>
            <a:r>
              <a:rPr lang="en-US" sz="1000" dirty="0">
                <a:solidFill>
                  <a:srgbClr val="84A0B4"/>
                </a:solidFill>
                <a:latin typeface="Segoe UI" pitchFamily="34" charset="0"/>
                <a:ea typeface="Segoe UI" pitchFamily="34" charset="-122"/>
                <a:cs typeface="Segoe UI" pitchFamily="34" charset="-120"/>
              </a:rPr>
              <a:t>05 / 08</a:t>
            </a:r>
            <a:endParaRPr lang="en-US" sz="1000" dirty="0"/>
          </a:p>
        </p:txBody>
      </p:sp>
      <p:sp>
        <p:nvSpPr>
          <p:cNvPr id="11" name="Text 7"/>
          <p:cNvSpPr txBox="1"/>
          <p:nvPr/>
        </p:nvSpPr>
        <p:spPr>
          <a:xfrm>
            <a:off x="1234440" y="2286000"/>
            <a:ext cx="3291840" cy="237744"/>
          </a:xfrm>
          <a:prstGeom prst="rect">
            <a:avLst/>
          </a:prstGeom>
          <a:noFill/>
          <a:ln/>
        </p:spPr>
        <p:txBody>
          <a:bodyPr wrap="square" lIns="0" tIns="0" rIns="0" bIns="0" rtlCol="0" anchor="t"/>
          <a:lstStyle/>
          <a:p>
            <a:pPr indent="0" marL="0">
              <a:buNone/>
            </a:pPr>
            <a:r>
              <a:rPr lang="en-US" sz="1050" spc="150" kern="0" dirty="0">
                <a:solidFill>
                  <a:srgbClr val="4A6478"/>
                </a:solidFill>
                <a:latin typeface="Segoe UI Semibold" pitchFamily="34" charset="0"/>
                <a:ea typeface="Segoe UI Semibold" pitchFamily="34" charset="-122"/>
                <a:cs typeface="Segoe UI Semibold" pitchFamily="34" charset="-120"/>
              </a:rPr>
              <a:t>IL TEST</a:t>
            </a:r>
            <a:endParaRPr lang="en-US" sz="1050" dirty="0"/>
          </a:p>
        </p:txBody>
      </p:sp>
      <p:sp>
        <p:nvSpPr>
          <p:cNvPr id="12" name="Text 8"/>
          <p:cNvSpPr txBox="1"/>
          <p:nvPr/>
        </p:nvSpPr>
        <p:spPr>
          <a:xfrm>
            <a:off x="1234440" y="2542032"/>
            <a:ext cx="3291840" cy="548640"/>
          </a:xfrm>
          <a:prstGeom prst="rect">
            <a:avLst/>
          </a:prstGeom>
          <a:noFill/>
          <a:ln/>
        </p:spPr>
        <p:txBody>
          <a:bodyPr wrap="square" lIns="0" tIns="0" rIns="0" bIns="0" rtlCol="0" anchor="t"/>
          <a:lstStyle/>
          <a:p>
            <a:pPr indent="0" marL="0">
              <a:buNone/>
            </a:pPr>
            <a:r>
              <a:rPr lang="en-US" sz="1400" i="1" dirty="0">
                <a:solidFill>
                  <a:srgbClr val="0B2438"/>
                </a:solidFill>
                <a:latin typeface="Georgia" pitchFamily="34" charset="0"/>
                <a:ea typeface="Georgia" pitchFamily="34" charset="-122"/>
                <a:cs typeface="Georgia" pitchFamily="34" charset="-120"/>
              </a:rPr>
              <a:t>Escludo un'intera famiglia di attacchi dal training, poi la cerco nel test set.</a:t>
            </a:r>
            <a:endParaRPr lang="en-US" sz="1400" dirty="0"/>
          </a:p>
        </p:txBody>
      </p:sp>
      <p:sp>
        <p:nvSpPr>
          <p:cNvPr id="13" name="Text 9"/>
          <p:cNvSpPr txBox="1"/>
          <p:nvPr/>
        </p:nvSpPr>
        <p:spPr>
          <a:xfrm>
            <a:off x="1234440" y="3291840"/>
            <a:ext cx="3291840" cy="237744"/>
          </a:xfrm>
          <a:prstGeom prst="rect">
            <a:avLst/>
          </a:prstGeom>
          <a:noFill/>
          <a:ln/>
        </p:spPr>
        <p:txBody>
          <a:bodyPr wrap="square" lIns="0" tIns="0" rIns="0" bIns="0" rtlCol="0" anchor="t"/>
          <a:lstStyle/>
          <a:p>
            <a:pPr indent="0" marL="0">
              <a:buNone/>
            </a:pPr>
            <a:r>
              <a:rPr lang="en-US" sz="1050" spc="150" kern="0" dirty="0">
                <a:solidFill>
                  <a:srgbClr val="4A6478"/>
                </a:solidFill>
                <a:latin typeface="Segoe UI Semibold" pitchFamily="34" charset="0"/>
                <a:ea typeface="Segoe UI Semibold" pitchFamily="34" charset="-122"/>
                <a:cs typeface="Segoe UI Semibold" pitchFamily="34" charset="-120"/>
              </a:rPr>
              <a:t>FAMIGLIA DOS · 64.317 CASI (TEST)</a:t>
            </a:r>
            <a:endParaRPr lang="en-US" sz="1050" dirty="0"/>
          </a:p>
        </p:txBody>
      </p:sp>
      <p:sp>
        <p:nvSpPr>
          <p:cNvPr id="14" name="Text 10"/>
          <p:cNvSpPr txBox="1"/>
          <p:nvPr/>
        </p:nvSpPr>
        <p:spPr>
          <a:xfrm>
            <a:off x="1234440" y="3520440"/>
            <a:ext cx="3474720" cy="685800"/>
          </a:xfrm>
          <a:prstGeom prst="rect">
            <a:avLst/>
          </a:prstGeom>
          <a:noFill/>
          <a:ln/>
        </p:spPr>
        <p:txBody>
          <a:bodyPr wrap="square" lIns="0" tIns="0" rIns="0" bIns="0" rtlCol="0" anchor="t"/>
          <a:lstStyle/>
          <a:p>
            <a:pPr indent="0" marL="0">
              <a:buNone/>
            </a:pPr>
            <a:r>
              <a:rPr lang="en-US" sz="3800" dirty="0">
                <a:solidFill>
                  <a:srgbClr val="C98A3E"/>
                </a:solidFill>
                <a:latin typeface="Georgia" pitchFamily="34" charset="0"/>
                <a:ea typeface="Georgia" pitchFamily="34" charset="-122"/>
                <a:cs typeface="Georgia" pitchFamily="34" charset="-120"/>
              </a:rPr>
              <a:t>18,1%</a:t>
            </a:r>
            <a:pPr indent="0" marL="0">
              <a:buNone/>
            </a:pPr>
            <a:r>
              <a:rPr lang="en-US" sz="2400" dirty="0">
                <a:solidFill>
                  <a:srgbClr val="84A0B4"/>
                </a:solidFill>
                <a:latin typeface="Georgia" pitchFamily="34" charset="0"/>
                <a:ea typeface="Georgia" pitchFamily="34" charset="-122"/>
                <a:cs typeface="Georgia" pitchFamily="34" charset="-120"/>
              </a:rPr>
              <a:t> → </a:t>
            </a:r>
            <a:pPr indent="0" marL="0">
              <a:buNone/>
            </a:pPr>
            <a:r>
              <a:rPr lang="en-US" sz="3800" dirty="0">
                <a:solidFill>
                  <a:srgbClr val="0C649C"/>
                </a:solidFill>
                <a:latin typeface="Georgia" pitchFamily="34" charset="0"/>
                <a:ea typeface="Georgia" pitchFamily="34" charset="-122"/>
                <a:cs typeface="Georgia" pitchFamily="34" charset="-120"/>
              </a:rPr>
              <a:t>74,7%</a:t>
            </a:r>
            <a:endParaRPr lang="en-US" sz="3800" dirty="0"/>
          </a:p>
        </p:txBody>
      </p:sp>
      <p:sp>
        <p:nvSpPr>
          <p:cNvPr id="15" name="Text 11"/>
          <p:cNvSpPr txBox="1"/>
          <p:nvPr/>
        </p:nvSpPr>
        <p:spPr>
          <a:xfrm>
            <a:off x="1234440" y="4206240"/>
            <a:ext cx="3291840" cy="274320"/>
          </a:xfrm>
          <a:prstGeom prst="rect">
            <a:avLst/>
          </a:prstGeom>
          <a:noFill/>
          <a:ln/>
        </p:spPr>
        <p:txBody>
          <a:bodyPr wrap="square" lIns="0" tIns="0" rIns="0" bIns="0" rtlCol="0" anchor="t"/>
          <a:lstStyle/>
          <a:p>
            <a:pPr indent="0" marL="0">
              <a:buNone/>
            </a:pPr>
            <a:r>
              <a:rPr lang="en-US" sz="1200" dirty="0">
                <a:solidFill>
                  <a:srgbClr val="4A6478"/>
                </a:solidFill>
                <a:latin typeface="Segoe UI" pitchFamily="34" charset="0"/>
                <a:ea typeface="Segoe UI" pitchFamily="34" charset="-122"/>
                <a:cs typeface="Segoe UI" pitchFamily="34" charset="-120"/>
              </a:rPr>
              <a:t>XGBoost solo  →  + AE · 5 seed: 74,1 ± 0,5%</a:t>
            </a:r>
            <a:endParaRPr lang="en-US" sz="1200" dirty="0"/>
          </a:p>
        </p:txBody>
      </p:sp>
      <p:sp>
        <p:nvSpPr>
          <p:cNvPr id="16" name="Text 12"/>
          <p:cNvSpPr txBox="1"/>
          <p:nvPr/>
        </p:nvSpPr>
        <p:spPr>
          <a:xfrm>
            <a:off x="1234440" y="4617720"/>
            <a:ext cx="3291840" cy="320040"/>
          </a:xfrm>
          <a:prstGeom prst="rect">
            <a:avLst/>
          </a:prstGeom>
          <a:noFill/>
          <a:ln/>
        </p:spPr>
        <p:txBody>
          <a:bodyPr wrap="square" lIns="0" tIns="0" rIns="0" bIns="0" rtlCol="0" anchor="t"/>
          <a:lstStyle/>
          <a:p>
            <a:pPr indent="0" marL="0">
              <a:buNone/>
            </a:pPr>
            <a:r>
              <a:rPr lang="en-US" sz="1800" dirty="0">
                <a:solidFill>
                  <a:srgbClr val="0B2438"/>
                </a:solidFill>
                <a:latin typeface="Georgia" pitchFamily="34" charset="0"/>
                <a:ea typeface="Georgia" pitchFamily="34" charset="-122"/>
                <a:cs typeface="Georgia" pitchFamily="34" charset="-120"/>
              </a:rPr>
              <a:t>≈ +1% falsi allarmi</a:t>
            </a:r>
            <a:endParaRPr lang="en-US" sz="1800" dirty="0"/>
          </a:p>
        </p:txBody>
      </p:sp>
      <p:sp>
        <p:nvSpPr>
          <p:cNvPr id="17" name="Text 13"/>
          <p:cNvSpPr txBox="1"/>
          <p:nvPr/>
        </p:nvSpPr>
        <p:spPr>
          <a:xfrm>
            <a:off x="1234440" y="4937760"/>
            <a:ext cx="3291840" cy="274320"/>
          </a:xfrm>
          <a:prstGeom prst="rect">
            <a:avLst/>
          </a:prstGeom>
          <a:noFill/>
          <a:ln/>
        </p:spPr>
        <p:txBody>
          <a:bodyPr wrap="square" lIns="0" tIns="0" rIns="0" bIns="0" rtlCol="0" anchor="t"/>
          <a:lstStyle/>
          <a:p>
            <a:pPr indent="0" marL="0">
              <a:buNone/>
            </a:pPr>
            <a:r>
              <a:rPr lang="en-US" sz="1200" dirty="0">
                <a:solidFill>
                  <a:srgbClr val="4A6478"/>
                </a:solidFill>
                <a:latin typeface="Segoe UI" pitchFamily="34" charset="0"/>
                <a:ea typeface="Segoe UI" pitchFamily="34" charset="-122"/>
                <a:cs typeface="Segoe UI" pitchFamily="34" charset="-120"/>
              </a:rPr>
              <a:t>3.944 su 394.934 flussi normali</a:t>
            </a:r>
            <a:endParaRPr lang="en-US" sz="1200" dirty="0"/>
          </a:p>
        </p:txBody>
      </p:sp>
      <p:sp>
        <p:nvSpPr>
          <p:cNvPr id="18" name="Text 14"/>
          <p:cNvSpPr txBox="1"/>
          <p:nvPr/>
        </p:nvSpPr>
        <p:spPr>
          <a:xfrm>
            <a:off x="1234440" y="5394960"/>
            <a:ext cx="3291840" cy="237744"/>
          </a:xfrm>
          <a:prstGeom prst="rect">
            <a:avLst/>
          </a:prstGeom>
          <a:noFill/>
          <a:ln/>
        </p:spPr>
        <p:txBody>
          <a:bodyPr wrap="square" lIns="0" tIns="0" rIns="0" bIns="0" rtlCol="0" anchor="t"/>
          <a:lstStyle/>
          <a:p>
            <a:pPr indent="0" marL="0">
              <a:buNone/>
            </a:pPr>
            <a:r>
              <a:rPr lang="en-US" sz="1050" spc="150" kern="0" dirty="0">
                <a:solidFill>
                  <a:srgbClr val="4A6478"/>
                </a:solidFill>
                <a:latin typeface="Segoe UI Semibold" pitchFamily="34" charset="0"/>
                <a:ea typeface="Segoe UI Semibold" pitchFamily="34" charset="-122"/>
                <a:cs typeface="Segoe UI Semibold" pitchFamily="34" charset="-120"/>
              </a:rPr>
              <a:t>CONTROLLO IN-DOMINIO (TEST)</a:t>
            </a:r>
            <a:endParaRPr lang="en-US" sz="1050" dirty="0"/>
          </a:p>
        </p:txBody>
      </p:sp>
      <p:sp>
        <p:nvSpPr>
          <p:cNvPr id="19" name="Text 15"/>
          <p:cNvSpPr txBox="1"/>
          <p:nvPr/>
        </p:nvSpPr>
        <p:spPr>
          <a:xfrm>
            <a:off x="1234440" y="5641848"/>
            <a:ext cx="3291840" cy="365760"/>
          </a:xfrm>
          <a:prstGeom prst="rect">
            <a:avLst/>
          </a:prstGeom>
          <a:noFill/>
          <a:ln/>
        </p:spPr>
        <p:txBody>
          <a:bodyPr wrap="square" lIns="0" tIns="0" rIns="0" bIns="0" rtlCol="0" anchor="t"/>
          <a:lstStyle/>
          <a:p>
            <a:pPr indent="0" marL="0">
              <a:buNone/>
            </a:pPr>
            <a:r>
              <a:rPr lang="en-US" sz="2000" dirty="0">
                <a:solidFill>
                  <a:srgbClr val="C98A3E"/>
                </a:solidFill>
                <a:latin typeface="Georgia" pitchFamily="34" charset="0"/>
                <a:ea typeface="Georgia" pitchFamily="34" charset="-122"/>
                <a:cs typeface="Georgia" pitchFamily="34" charset="-120"/>
              </a:rPr>
              <a:t>97,9%</a:t>
            </a:r>
            <a:pPr indent="0" marL="0">
              <a:buNone/>
            </a:pPr>
            <a:r>
              <a:rPr lang="en-US" sz="2000" dirty="0">
                <a:solidFill>
                  <a:srgbClr val="84A0B4"/>
                </a:solidFill>
                <a:latin typeface="Georgia" pitchFamily="34" charset="0"/>
                <a:ea typeface="Georgia" pitchFamily="34" charset="-122"/>
                <a:cs typeface="Georgia" pitchFamily="34" charset="-120"/>
              </a:rPr>
              <a:t>  →  </a:t>
            </a:r>
            <a:pPr indent="0" marL="0">
              <a:buNone/>
            </a:pPr>
            <a:r>
              <a:rPr lang="en-US" sz="2000" dirty="0">
                <a:solidFill>
                  <a:srgbClr val="0C649C"/>
                </a:solidFill>
                <a:latin typeface="Georgia" pitchFamily="34" charset="0"/>
                <a:ea typeface="Georgia" pitchFamily="34" charset="-122"/>
                <a:cs typeface="Georgia" pitchFamily="34" charset="-120"/>
              </a:rPr>
              <a:t>98,4%</a:t>
            </a:r>
            <a:endParaRPr lang="en-US" sz="2000" dirty="0"/>
          </a:p>
        </p:txBody>
      </p:sp>
      <p:sp>
        <p:nvSpPr>
          <p:cNvPr id="20" name="Text 16"/>
          <p:cNvSpPr txBox="1"/>
          <p:nvPr/>
        </p:nvSpPr>
        <p:spPr>
          <a:xfrm>
            <a:off x="1234440" y="6035040"/>
            <a:ext cx="3291840" cy="274320"/>
          </a:xfrm>
          <a:prstGeom prst="rect">
            <a:avLst/>
          </a:prstGeom>
          <a:noFill/>
          <a:ln/>
        </p:spPr>
        <p:txBody>
          <a:bodyPr wrap="square" lIns="0" tIns="0" rIns="0" bIns="0" rtlCol="0" anchor="t"/>
          <a:lstStyle/>
          <a:p>
            <a:pPr indent="0" marL="0">
              <a:buNone/>
            </a:pPr>
            <a:r>
              <a:rPr lang="en-US" sz="1200" dirty="0">
                <a:solidFill>
                  <a:srgbClr val="4A6478"/>
                </a:solidFill>
                <a:latin typeface="Segoe UI" pitchFamily="34" charset="0"/>
                <a:ea typeface="Segoe UI" pitchFamily="34" charset="-122"/>
                <a:cs typeface="Segoe UI" pitchFamily="34" charset="-120"/>
              </a:rPr>
              <a:t>l'autoencoder serve solo per lo zero-day</a:t>
            </a:r>
            <a:endParaRPr lang="en-US" sz="1200" dirty="0"/>
          </a:p>
        </p:txBody>
      </p:sp>
      <p:sp>
        <p:nvSpPr>
          <p:cNvPr id="21" name="Text 16"/>
          <p:cNvSpPr txBox="1"/>
          <p:nvPr/>
        </p:nvSpPr>
        <p:spPr>
          <a:xfrm>
            <a:off x="1234440" y="6309360"/>
            <a:ext cx="3474720" cy="365760"/>
          </a:xfrm>
          <a:prstGeom prst="rect">
            <a:avLst/>
          </a:prstGeom>
          <a:noFill/>
          <a:ln/>
        </p:spPr>
        <p:txBody>
          <a:bodyPr wrap="square" lIns="0" tIns="0" rIns="0" bIns="0" rtlCol="0" anchor="t"/>
          <a:lstStyle/>
          <a:p>
            <a:pPr indent="0" marL="0">
              <a:buNone/>
            </a:pPr>
            <a:r>
              <a:rPr lang="en-US" sz="1000" dirty="0">
                <a:solidFill>
                  <a:srgbClr val="4A6478"/>
                </a:solidFill>
                <a:latin typeface="Segoe UI" pitchFamily="34" charset="0"/>
                <a:ea typeface="Segoe UI" pitchFamily="34" charset="-122"/>
                <a:cs typeface="Segoe UI" pitchFamily="34" charset="-120"/>
              </a:rPr>
              <a:t>* 1 e 7 casi: non sono stime. Split casuale: i numeri in-dominio sono ottimistici.</a:t>
            </a:r>
            <a:endParaRPr lang="en-US" sz="1200" dirty="0"/>
          </a:p>
        </p:txBody>
      </p:sp>
      <p:sp>
        <p:nvSpPr>
          <p:cNvPr id="22" name="Shape 17"/>
          <p:cNvSpPr/>
          <p:nvPr/>
        </p:nvSpPr>
        <p:spPr>
          <a:xfrm>
            <a:off x="4800600" y="2240280"/>
            <a:ext cx="6156655" cy="4206240"/>
          </a:xfrm>
          <a:prstGeom prst="roundRect">
            <a:avLst>
              <a:gd name="adj" fmla="val 3043"/>
            </a:avLst>
          </a:prstGeom>
          <a:solidFill>
            <a:srgbClr val="FFFFFF"/>
          </a:solidFill>
          <a:ln w="9525">
            <a:solidFill>
              <a:srgbClr val="D6E3EC"/>
            </a:solidFill>
            <a:prstDash val="solid"/>
          </a:ln>
        </p:spPr>
      </p:sp>
      <p:graphicFrame>
        <p:nvGraphicFramePr>
          <p:cNvPr id="23" name="Chart 0" descr=""/>
          <p:cNvGraphicFramePr/>
          <p:nvPr/>
        </p:nvGraphicFramePr>
        <p:xfrm>
          <a:off x="4892040" y="2331720"/>
          <a:ext cx="5973775" cy="4023360"/>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Image 0" descr="Logo Unimore">    </p:cNvPr>
          <p:cNvPicPr>
            <a:picLocks noChangeAspect="1"/>
          </p:cNvPicPr>
          <p:nvPr/>
        </p:nvPicPr>
        <p:blipFill>
          <a:blip r:embed="rId2"/>
          <a:stretch>
            <a:fillRect/>
          </a:stretch>
        </p:blipFill>
        <p:spPr>
          <a:xfrm>
            <a:off x="11023092" y="274320"/>
            <a:ext cx="566014" cy="640080"/>
          </a:xfrm>
          <a:prstGeom prst="rect">
            <a:avLst/>
          </a:prstGeom>
        </p:spPr>
      </p:pic>
      <p:sp>
        <p:nvSpPr>
          <p:cNvPr id="6" name="Text 2"/>
          <p:cNvSpPr/>
          <p:nvPr/>
        </p:nvSpPr>
        <p:spPr>
          <a:xfrm>
            <a:off x="5270602" y="384048"/>
            <a:ext cx="1650492"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05 · BILANCIO</a:t>
            </a:r>
            <a:endParaRPr lang="en-US" sz="1050" dirty="0"/>
          </a:p>
        </p:txBody>
      </p:sp>
      <p:sp>
        <p:nvSpPr>
          <p:cNvPr id="7" name="Text 3"/>
          <p:cNvSpPr txBox="1"/>
          <p:nvPr/>
        </p:nvSpPr>
        <p:spPr>
          <a:xfrm>
            <a:off x="822960" y="868680"/>
            <a:ext cx="10545775" cy="822960"/>
          </a:xfrm>
          <a:prstGeom prst="rect">
            <a:avLst/>
          </a:prstGeom>
          <a:noFill/>
          <a:ln/>
        </p:spPr>
        <p:txBody>
          <a:bodyPr wrap="square" lIns="0" tIns="0" rIns="0" bIns="0" rtlCol="0" anchor="ctr"/>
          <a:lstStyle/>
          <a:p>
            <a:pPr algn="ctr" indent="0" marL="0">
              <a:buNone/>
            </a:pPr>
            <a:r>
              <a:rPr lang="en-US" sz="3600" dirty="0">
                <a:solidFill>
                  <a:srgbClr val="FFFFFF"/>
                </a:solidFill>
                <a:latin typeface="Georgia" pitchFamily="34" charset="0"/>
                <a:ea typeface="Georgia" pitchFamily="34" charset="-122"/>
                <a:cs typeface="Georgia" pitchFamily="34" charset="-120"/>
              </a:rPr>
              <a:t>Pro e </a:t>
            </a:r>
            <a:pPr algn="ctr" indent="0" marL="0">
              <a:buNone/>
            </a:pPr>
            <a:r>
              <a:rPr lang="en-US" sz="3600" i="1" dirty="0">
                <a:solidFill>
                  <a:srgbClr val="BCD1DE"/>
                </a:solidFill>
                <a:latin typeface="Georgia" pitchFamily="34" charset="0"/>
                <a:ea typeface="Georgia" pitchFamily="34" charset="-122"/>
                <a:cs typeface="Georgia" pitchFamily="34" charset="-120"/>
              </a:rPr>
              <a:t>contro</a:t>
            </a:r>
            <a:endParaRPr lang="en-US" sz="3600" dirty="0"/>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 6"/>
          <p:cNvSpPr txBox="1"/>
          <p:nvPr/>
        </p:nvSpPr>
        <p:spPr>
          <a:xfrm>
            <a:off x="9997135" y="6473952"/>
            <a:ext cx="1097280" cy="228600"/>
          </a:xfrm>
          <a:prstGeom prst="rect">
            <a:avLst/>
          </a:prstGeom>
          <a:noFill/>
          <a:ln/>
        </p:spPr>
        <p:txBody>
          <a:bodyPr wrap="square" lIns="0" tIns="0" rIns="0" bIns="0" rtlCol="0" anchor="t"/>
          <a:lstStyle/>
          <a:p>
            <a:pPr algn="r" indent="0" marL="0">
              <a:buNone/>
            </a:pPr>
            <a:r>
              <a:rPr lang="en-US" sz="1000" dirty="0">
                <a:solidFill>
                  <a:srgbClr val="84A0B4"/>
                </a:solidFill>
                <a:latin typeface="Segoe UI" pitchFamily="34" charset="0"/>
                <a:ea typeface="Segoe UI" pitchFamily="34" charset="-122"/>
                <a:cs typeface="Segoe UI" pitchFamily="34" charset="-120"/>
              </a:rPr>
              <a:t>06 / 08</a:t>
            </a:r>
            <a:endParaRPr lang="en-US" sz="1000" dirty="0"/>
          </a:p>
        </p:txBody>
      </p:sp>
      <p:sp>
        <p:nvSpPr>
          <p:cNvPr id="11" name="Text 7"/>
          <p:cNvSpPr txBox="1"/>
          <p:nvPr/>
        </p:nvSpPr>
        <p:spPr>
          <a:xfrm>
            <a:off x="1234440" y="2240280"/>
            <a:ext cx="4587088" cy="548640"/>
          </a:xfrm>
          <a:prstGeom prst="rect">
            <a:avLst/>
          </a:prstGeom>
          <a:noFill/>
          <a:ln/>
        </p:spPr>
        <p:txBody>
          <a:bodyPr wrap="square" lIns="0" tIns="0" rIns="0" bIns="0" rtlCol="0" anchor="t"/>
          <a:lstStyle/>
          <a:p>
            <a:pPr indent="0" marL="0">
              <a:buNone/>
            </a:pPr>
            <a:r>
              <a:rPr lang="en-US" sz="3000" i="1" dirty="0">
                <a:solidFill>
                  <a:srgbClr val="0C649C"/>
                </a:solidFill>
                <a:latin typeface="Georgia" pitchFamily="34" charset="0"/>
                <a:ea typeface="Georgia" pitchFamily="34" charset="-122"/>
                <a:cs typeface="Georgia" pitchFamily="34" charset="-120"/>
              </a:rPr>
              <a:t>Pro</a:t>
            </a:r>
            <a:endParaRPr lang="en-US" sz="3000" dirty="0"/>
          </a:p>
        </p:txBody>
      </p:sp>
      <p:sp>
        <p:nvSpPr>
          <p:cNvPr id="12" name="Shape 8"/>
          <p:cNvSpPr/>
          <p:nvPr/>
        </p:nvSpPr>
        <p:spPr>
          <a:xfrm>
            <a:off x="1234440" y="3044952"/>
            <a:ext cx="146304" cy="146304"/>
          </a:xfrm>
          <a:prstGeom prst="ellipse">
            <a:avLst/>
          </a:prstGeom>
          <a:solidFill>
            <a:srgbClr val="0C649C"/>
          </a:solidFill>
          <a:ln w="12700">
            <a:solidFill>
              <a:srgbClr val="0C649C"/>
            </a:solidFill>
            <a:prstDash val="solid"/>
          </a:ln>
        </p:spPr>
      </p:sp>
      <p:sp>
        <p:nvSpPr>
          <p:cNvPr id="13" name="Text 9"/>
          <p:cNvSpPr txBox="1"/>
          <p:nvPr/>
        </p:nvSpPr>
        <p:spPr>
          <a:xfrm>
            <a:off x="1554480" y="2926080"/>
            <a:ext cx="4221328" cy="384048"/>
          </a:xfrm>
          <a:prstGeom prst="rect">
            <a:avLst/>
          </a:prstGeom>
          <a:noFill/>
          <a:ln/>
        </p:spPr>
        <p:txBody>
          <a:bodyPr wrap="square" lIns="0" tIns="0" rIns="0" bIns="0" rtlCol="0" anchor="ctr"/>
          <a:lstStyle/>
          <a:p>
            <a:pPr indent="0" marL="0">
              <a:buNone/>
            </a:pPr>
            <a:r>
              <a:rPr lang="en-US" sz="1700" dirty="0">
                <a:solidFill>
                  <a:srgbClr val="0B2438"/>
                </a:solidFill>
                <a:latin typeface="Segoe UI" pitchFamily="34" charset="0"/>
                <a:ea typeface="Segoe UI" pitchFamily="34" charset="-122"/>
                <a:cs typeface="Segoe UI" pitchFamily="34" charset="-120"/>
              </a:rPr>
              <a:t>Recupera zero-day volumetrici</a:t>
            </a:r>
            <a:endParaRPr lang="en-US" sz="1700" dirty="0"/>
          </a:p>
        </p:txBody>
      </p:sp>
      <p:sp>
        <p:nvSpPr>
          <p:cNvPr id="14" name="Shape 10"/>
          <p:cNvSpPr/>
          <p:nvPr/>
        </p:nvSpPr>
        <p:spPr>
          <a:xfrm>
            <a:off x="1234440" y="3611880"/>
            <a:ext cx="146304" cy="146304"/>
          </a:xfrm>
          <a:prstGeom prst="ellipse">
            <a:avLst/>
          </a:prstGeom>
          <a:solidFill>
            <a:srgbClr val="0C649C"/>
          </a:solidFill>
          <a:ln w="12700">
            <a:solidFill>
              <a:srgbClr val="0C649C"/>
            </a:solidFill>
            <a:prstDash val="solid"/>
          </a:ln>
        </p:spPr>
      </p:sp>
      <p:sp>
        <p:nvSpPr>
          <p:cNvPr id="15" name="Text 11"/>
          <p:cNvSpPr txBox="1"/>
          <p:nvPr/>
        </p:nvSpPr>
        <p:spPr>
          <a:xfrm>
            <a:off x="1554480" y="3493008"/>
            <a:ext cx="4221328" cy="384048"/>
          </a:xfrm>
          <a:prstGeom prst="rect">
            <a:avLst/>
          </a:prstGeom>
          <a:noFill/>
          <a:ln/>
        </p:spPr>
        <p:txBody>
          <a:bodyPr wrap="square" lIns="0" tIns="0" rIns="0" bIns="0" rtlCol="0" anchor="ctr"/>
          <a:lstStyle/>
          <a:p>
            <a:pPr indent="0" marL="0">
              <a:buNone/>
            </a:pPr>
            <a:r>
              <a:rPr lang="en-US" sz="1700" dirty="0">
                <a:solidFill>
                  <a:srgbClr val="0B2438"/>
                </a:solidFill>
                <a:latin typeface="Segoe UI" pitchFamily="34" charset="0"/>
                <a:ea typeface="Segoe UI" pitchFamily="34" charset="-122"/>
                <a:cs typeface="Segoe UI" pitchFamily="34" charset="-120"/>
              </a:rPr>
              <a:t>Autoencoder leggero e veloce</a:t>
            </a:r>
            <a:endParaRPr lang="en-US" sz="1700" dirty="0"/>
          </a:p>
        </p:txBody>
      </p:sp>
      <p:sp>
        <p:nvSpPr>
          <p:cNvPr id="16" name="Shape 12"/>
          <p:cNvSpPr/>
          <p:nvPr/>
        </p:nvSpPr>
        <p:spPr>
          <a:xfrm>
            <a:off x="1234440" y="4178808"/>
            <a:ext cx="146304" cy="146304"/>
          </a:xfrm>
          <a:prstGeom prst="ellipse">
            <a:avLst/>
          </a:prstGeom>
          <a:solidFill>
            <a:srgbClr val="0C649C"/>
          </a:solidFill>
          <a:ln w="12700">
            <a:solidFill>
              <a:srgbClr val="0C649C"/>
            </a:solidFill>
            <a:prstDash val="solid"/>
          </a:ln>
        </p:spPr>
      </p:sp>
      <p:sp>
        <p:nvSpPr>
          <p:cNvPr id="17" name="Text 13"/>
          <p:cNvSpPr txBox="1"/>
          <p:nvPr/>
        </p:nvSpPr>
        <p:spPr>
          <a:xfrm>
            <a:off x="1554480" y="4059936"/>
            <a:ext cx="4221328" cy="384048"/>
          </a:xfrm>
          <a:prstGeom prst="rect">
            <a:avLst/>
          </a:prstGeom>
          <a:noFill/>
          <a:ln/>
        </p:spPr>
        <p:txBody>
          <a:bodyPr wrap="square" lIns="0" tIns="0" rIns="0" bIns="0" rtlCol="0" anchor="ctr"/>
          <a:lstStyle/>
          <a:p>
            <a:pPr indent="0" marL="0">
              <a:buNone/>
            </a:pPr>
            <a:r>
              <a:rPr lang="en-US" sz="1700" dirty="0">
                <a:solidFill>
                  <a:srgbClr val="0B2438"/>
                </a:solidFill>
                <a:latin typeface="Segoe UI" pitchFamily="34" charset="0"/>
                <a:ea typeface="Segoe UI" pitchFamily="34" charset="-122"/>
                <a:cs typeface="Segoe UI" pitchFamily="34" charset="-120"/>
              </a:rPr>
              <a:t>Soglia regolabile sui falsi allarmi</a:t>
            </a:r>
            <a:endParaRPr lang="en-US" sz="1700" dirty="0"/>
          </a:p>
        </p:txBody>
      </p:sp>
      <p:sp>
        <p:nvSpPr>
          <p:cNvPr id="18" name="Text 14"/>
          <p:cNvSpPr txBox="1"/>
          <p:nvPr/>
        </p:nvSpPr>
        <p:spPr>
          <a:xfrm>
            <a:off x="6370168" y="2240280"/>
            <a:ext cx="4587088" cy="548640"/>
          </a:xfrm>
          <a:prstGeom prst="rect">
            <a:avLst/>
          </a:prstGeom>
          <a:noFill/>
          <a:ln/>
        </p:spPr>
        <p:txBody>
          <a:bodyPr wrap="square" lIns="0" tIns="0" rIns="0" bIns="0" rtlCol="0" anchor="t"/>
          <a:lstStyle/>
          <a:p>
            <a:pPr indent="0" marL="0">
              <a:buNone/>
            </a:pPr>
            <a:r>
              <a:rPr lang="en-US" sz="3000" i="1" dirty="0">
                <a:solidFill>
                  <a:srgbClr val="C98A3E"/>
                </a:solidFill>
                <a:latin typeface="Georgia" pitchFamily="34" charset="0"/>
                <a:ea typeface="Georgia" pitchFamily="34" charset="-122"/>
                <a:cs typeface="Georgia" pitchFamily="34" charset="-120"/>
              </a:rPr>
              <a:t>Contro</a:t>
            </a:r>
            <a:endParaRPr lang="en-US" sz="3000" dirty="0"/>
          </a:p>
        </p:txBody>
      </p:sp>
      <p:sp>
        <p:nvSpPr>
          <p:cNvPr id="19" name="Shape 15"/>
          <p:cNvSpPr/>
          <p:nvPr/>
        </p:nvSpPr>
        <p:spPr>
          <a:xfrm>
            <a:off x="6370168" y="3044952"/>
            <a:ext cx="146304" cy="146304"/>
          </a:xfrm>
          <a:prstGeom prst="ellipse">
            <a:avLst/>
          </a:prstGeom>
          <a:solidFill>
            <a:srgbClr val="C98A3E"/>
          </a:solidFill>
          <a:ln w="12700">
            <a:solidFill>
              <a:srgbClr val="C98A3E"/>
            </a:solidFill>
            <a:prstDash val="solid"/>
          </a:ln>
        </p:spPr>
      </p:sp>
      <p:sp>
        <p:nvSpPr>
          <p:cNvPr id="20" name="Text 16"/>
          <p:cNvSpPr txBox="1"/>
          <p:nvPr/>
        </p:nvSpPr>
        <p:spPr>
          <a:xfrm>
            <a:off x="6690208" y="2926080"/>
            <a:ext cx="4221328" cy="384048"/>
          </a:xfrm>
          <a:prstGeom prst="rect">
            <a:avLst/>
          </a:prstGeom>
          <a:noFill/>
          <a:ln/>
        </p:spPr>
        <p:txBody>
          <a:bodyPr wrap="square" lIns="0" tIns="0" rIns="0" bIns="0" rtlCol="0" anchor="ctr"/>
          <a:lstStyle/>
          <a:p>
            <a:pPr indent="0" marL="0">
              <a:buNone/>
            </a:pPr>
            <a:r>
              <a:rPr lang="en-US" sz="1700" dirty="0">
                <a:solidFill>
                  <a:srgbClr val="0B2438"/>
                </a:solidFill>
                <a:latin typeface="Segoe UI" pitchFamily="34" charset="0"/>
                <a:ea typeface="Segoe UI" pitchFamily="34" charset="-122"/>
                <a:cs typeface="Segoe UI" pitchFamily="34" charset="-120"/>
              </a:rPr>
              <a:t>Circa +1% di falsi allarmi</a:t>
            </a:r>
            <a:endParaRPr lang="en-US" sz="1700" dirty="0"/>
          </a:p>
        </p:txBody>
      </p:sp>
      <p:sp>
        <p:nvSpPr>
          <p:cNvPr id="21" name="Shape 17"/>
          <p:cNvSpPr/>
          <p:nvPr/>
        </p:nvSpPr>
        <p:spPr>
          <a:xfrm>
            <a:off x="6370168" y="3611880"/>
            <a:ext cx="146304" cy="146304"/>
          </a:xfrm>
          <a:prstGeom prst="ellipse">
            <a:avLst/>
          </a:prstGeom>
          <a:solidFill>
            <a:srgbClr val="C98A3E"/>
          </a:solidFill>
          <a:ln w="12700">
            <a:solidFill>
              <a:srgbClr val="C98A3E"/>
            </a:solidFill>
            <a:prstDash val="solid"/>
          </a:ln>
        </p:spPr>
      </p:sp>
      <p:sp>
        <p:nvSpPr>
          <p:cNvPr id="22" name="Text 18"/>
          <p:cNvSpPr txBox="1"/>
          <p:nvPr/>
        </p:nvSpPr>
        <p:spPr>
          <a:xfrm>
            <a:off x="6690208" y="3493008"/>
            <a:ext cx="4221328" cy="384048"/>
          </a:xfrm>
          <a:prstGeom prst="rect">
            <a:avLst/>
          </a:prstGeom>
          <a:noFill/>
          <a:ln/>
        </p:spPr>
        <p:txBody>
          <a:bodyPr wrap="square" lIns="0" tIns="0" rIns="0" bIns="0" rtlCol="0" anchor="ctr"/>
          <a:lstStyle/>
          <a:p>
            <a:pPr indent="0" marL="0">
              <a:buNone/>
            </a:pPr>
            <a:r>
              <a:rPr lang="en-US" sz="1700" dirty="0">
                <a:solidFill>
                  <a:srgbClr val="0B2438"/>
                </a:solidFill>
                <a:latin typeface="Segoe UI" pitchFamily="34" charset="0"/>
                <a:ea typeface="Segoe UI" pitchFamily="34" charset="-122"/>
                <a:cs typeface="Segoe UI" pitchFamily="34" charset="-120"/>
              </a:rPr>
              <a:t>AE non aiuta su scan, brute force, bot</a:t>
            </a:r>
            <a:endParaRPr lang="en-US" sz="1700" dirty="0"/>
          </a:p>
        </p:txBody>
      </p:sp>
      <p:sp>
        <p:nvSpPr>
          <p:cNvPr id="23" name="Shape 19"/>
          <p:cNvSpPr/>
          <p:nvPr/>
        </p:nvSpPr>
        <p:spPr>
          <a:xfrm>
            <a:off x="6370168" y="4178808"/>
            <a:ext cx="146304" cy="146304"/>
          </a:xfrm>
          <a:prstGeom prst="ellipse">
            <a:avLst/>
          </a:prstGeom>
          <a:solidFill>
            <a:srgbClr val="C98A3E"/>
          </a:solidFill>
          <a:ln w="12700">
            <a:solidFill>
              <a:srgbClr val="C98A3E"/>
            </a:solidFill>
            <a:prstDash val="solid"/>
          </a:ln>
        </p:spPr>
      </p:sp>
      <p:sp>
        <p:nvSpPr>
          <p:cNvPr id="24" name="Text 20"/>
          <p:cNvSpPr txBox="1"/>
          <p:nvPr/>
        </p:nvSpPr>
        <p:spPr>
          <a:xfrm>
            <a:off x="6690208" y="4059936"/>
            <a:ext cx="4221328" cy="384048"/>
          </a:xfrm>
          <a:prstGeom prst="rect">
            <a:avLst/>
          </a:prstGeom>
          <a:noFill/>
          <a:ln/>
        </p:spPr>
        <p:txBody>
          <a:bodyPr wrap="square" lIns="0" tIns="0" rIns="0" bIns="0" rtlCol="0" anchor="ctr"/>
          <a:lstStyle/>
          <a:p>
            <a:pPr indent="0" marL="0">
              <a:buNone/>
            </a:pPr>
            <a:r>
              <a:rPr lang="en-US" sz="1700" dirty="0">
                <a:solidFill>
                  <a:srgbClr val="0B2438"/>
                </a:solidFill>
                <a:latin typeface="Segoe UI" pitchFamily="34" charset="0"/>
                <a:ea typeface="Segoe UI" pitchFamily="34" charset="-122"/>
                <a:cs typeface="Segoe UI" pitchFamily="34" charset="-120"/>
              </a:rPr>
              <a:t>Va allenato per ogni rete</a:t>
            </a:r>
            <a:endParaRPr lang="en-US" sz="1700" dirty="0"/>
          </a:p>
        </p:txBody>
      </p:sp>
      <p:sp>
        <p:nvSpPr>
          <p:cNvPr id="25" name="Shape 21"/>
          <p:cNvSpPr/>
          <p:nvPr/>
        </p:nvSpPr>
        <p:spPr>
          <a:xfrm>
            <a:off x="6095848" y="2331720"/>
            <a:ext cx="0" cy="2377440"/>
          </a:xfrm>
          <a:prstGeom prst="line">
            <a:avLst/>
          </a:prstGeom>
          <a:noFill/>
          <a:ln w="9525">
            <a:solidFill>
              <a:srgbClr val="D6E3EC"/>
            </a:solidFill>
            <a:prstDash val="solid"/>
          </a:ln>
        </p:spPr>
      </p:sp>
      <p:sp>
        <p:nvSpPr>
          <p:cNvPr id="26" name="Text 22"/>
          <p:cNvSpPr txBox="1"/>
          <p:nvPr/>
        </p:nvSpPr>
        <p:spPr>
          <a:xfrm>
            <a:off x="1234440" y="5532120"/>
            <a:ext cx="9722815" cy="237744"/>
          </a:xfrm>
          <a:prstGeom prst="rect">
            <a:avLst/>
          </a:prstGeom>
          <a:noFill/>
          <a:ln/>
        </p:spPr>
        <p:txBody>
          <a:bodyPr wrap="square" lIns="0" tIns="0" rIns="0" bIns="0" rtlCol="0" anchor="t"/>
          <a:lstStyle/>
          <a:p>
            <a:pPr algn="ctr" indent="0" marL="0">
              <a:buNone/>
            </a:pPr>
            <a:r>
              <a:rPr lang="en-US" sz="1050" spc="150" kern="0" dirty="0">
                <a:solidFill>
                  <a:srgbClr val="4A6478"/>
                </a:solidFill>
                <a:latin typeface="Segoe UI Semibold" pitchFamily="34" charset="0"/>
                <a:ea typeface="Segoe UI Semibold" pitchFamily="34" charset="-122"/>
                <a:cs typeface="Segoe UI Semibold" pitchFamily="34" charset="-120"/>
              </a:rPr>
              <a:t>DIFFICOLTÀ INCONTRATE</a:t>
            </a:r>
            <a:endParaRPr lang="en-US" sz="1050" dirty="0"/>
          </a:p>
        </p:txBody>
      </p:sp>
      <p:sp>
        <p:nvSpPr>
          <p:cNvPr id="27" name="Text 23"/>
          <p:cNvSpPr/>
          <p:nvPr/>
        </p:nvSpPr>
        <p:spPr>
          <a:xfrm>
            <a:off x="2715768" y="5852160"/>
            <a:ext cx="2103120" cy="457200"/>
          </a:xfrm>
          <a:prstGeom prst="roundRect">
            <a:avLst>
              <a:gd name="adj" fmla="val 50000"/>
            </a:avLst>
          </a:prstGeom>
          <a:solidFill>
            <a:srgbClr val="FFFFFF"/>
          </a:solidFill>
          <a:ln w="9525">
            <a:solidFill>
              <a:srgbClr val="D6E3EC"/>
            </a:solidFill>
          </a:ln>
        </p:spPr>
        <p:txBody>
          <a:bodyPr wrap="square" lIns="0" tIns="0" rIns="0" bIns="0"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Bug nel dataset</a:t>
            </a:r>
            <a:endParaRPr lang="en-US" sz="1300" dirty="0"/>
          </a:p>
        </p:txBody>
      </p:sp>
      <p:sp>
        <p:nvSpPr>
          <p:cNvPr id="28" name="Text 24"/>
          <p:cNvSpPr/>
          <p:nvPr/>
        </p:nvSpPr>
        <p:spPr>
          <a:xfrm>
            <a:off x="5047488" y="5852160"/>
            <a:ext cx="2103120" cy="457200"/>
          </a:xfrm>
          <a:prstGeom prst="roundRect">
            <a:avLst>
              <a:gd name="adj" fmla="val 50000"/>
            </a:avLst>
          </a:prstGeom>
          <a:solidFill>
            <a:srgbClr val="FFFFFF"/>
          </a:solidFill>
          <a:ln w="9525">
            <a:solidFill>
              <a:srgbClr val="D6E3EC"/>
            </a:solidFill>
          </a:ln>
        </p:spPr>
        <p:txBody>
          <a:bodyPr wrap="square" lIns="0" tIns="0" rIns="0" bIns="0"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Bug di CICFlowMeter</a:t>
            </a:r>
            <a:endParaRPr lang="en-US" sz="1300" dirty="0"/>
          </a:p>
        </p:txBody>
      </p:sp>
      <p:sp>
        <p:nvSpPr>
          <p:cNvPr id="29" name="Text 26"/>
          <p:cNvSpPr/>
          <p:nvPr/>
        </p:nvSpPr>
        <p:spPr>
          <a:xfrm>
            <a:off x="7379208" y="5852160"/>
            <a:ext cx="2103120" cy="457200"/>
          </a:xfrm>
          <a:prstGeom prst="roundRect">
            <a:avLst>
              <a:gd name="adj" fmla="val 50000"/>
            </a:avLst>
          </a:prstGeom>
          <a:solidFill>
            <a:srgbClr val="FFFFFF"/>
          </a:solidFill>
          <a:ln w="9525">
            <a:solidFill>
              <a:srgbClr val="D6E3EC"/>
            </a:solidFill>
          </a:ln>
        </p:spPr>
        <p:txBody>
          <a:bodyPr wrap="square" lIns="0" tIns="0" rIns="0" bIns="0"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Classi sbilanciate</a:t>
            </a:r>
            <a:endParaRPr lang="en-US" sz="1300" dirty="0"/>
          </a:p>
        </p:txBody>
      </p:sp>
      <p:sp>
        <p:nvSpPr>
          <p:cNvPr id="30" name="TextBox 30"/>
          <p:cNvSpPr txBox="1"/>
          <p:nvPr/>
        </p:nvSpPr>
        <p:spPr>
          <a:xfrm>
            <a:off x="1234440" y="4754880"/>
            <a:ext cx="9692640" cy="237744"/>
          </a:xfrm>
          <a:prstGeom prst="rect">
            <a:avLst/>
          </a:prstGeom>
          <a:noFill/>
        </p:spPr>
        <p:txBody>
          <a:bodyPr wrap="square" lIns="0" rIns="0" tIns="0" bIns="0" anchor="t">
            <a:spAutoFit/>
          </a:bodyPr>
          <a:lstStyle/>
          <a:p>
            <a:pPr algn="l"/>
            <a:r>
              <a:rPr sz="1050" b="0" i="0" spc="100">
                <a:solidFill>
                  <a:srgbClr val="4A6478"/>
                </a:solidFill>
                <a:latin typeface="Segoe UI Semibold"/>
              </a:rPr>
              <a:t>SOGLIA REGOLABILE · TEST SET, MEDIA DI 5 SEED</a:t>
            </a:r>
          </a:p>
        </p:txBody>
      </p:sp>
      <p:sp>
        <p:nvSpPr>
          <p:cNvPr id="31" name="TextBox 31"/>
          <p:cNvSpPr txBox="1"/>
          <p:nvPr/>
        </p:nvSpPr>
        <p:spPr>
          <a:xfrm>
            <a:off x="1234440" y="5047488"/>
            <a:ext cx="548640" cy="201168"/>
          </a:xfrm>
          <a:prstGeom prst="rect">
            <a:avLst/>
          </a:prstGeom>
          <a:noFill/>
        </p:spPr>
        <p:txBody>
          <a:bodyPr wrap="square" lIns="0" rIns="0" tIns="0" bIns="0" anchor="ctr">
            <a:spAutoFit/>
          </a:bodyPr>
          <a:lstStyle/>
          <a:p>
            <a:pPr algn="r"/>
            <a:r>
              <a:rPr sz="1000" b="0" i="0">
                <a:solidFill>
                  <a:srgbClr val="0B2438"/>
                </a:solidFill>
                <a:latin typeface="Segoe UI"/>
              </a:rPr>
              <a:t>p99</a:t>
            </a:r>
          </a:p>
        </p:txBody>
      </p:sp>
      <p:sp>
        <p:nvSpPr>
          <p:cNvPr id="32" name="Rectangle 32"/>
          <p:cNvSpPr/>
          <p:nvPr/>
        </p:nvSpPr>
        <p:spPr>
          <a:xfrm>
            <a:off x="1874520" y="5084064"/>
            <a:ext cx="2032711" cy="12801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3"/>
          <p:cNvSpPr txBox="1"/>
          <p:nvPr/>
        </p:nvSpPr>
        <p:spPr>
          <a:xfrm>
            <a:off x="3980383" y="5047488"/>
            <a:ext cx="1828800" cy="201168"/>
          </a:xfrm>
          <a:prstGeom prst="rect">
            <a:avLst/>
          </a:prstGeom>
          <a:noFill/>
        </p:spPr>
        <p:txBody>
          <a:bodyPr wrap="square" lIns="0" rIns="0" tIns="0" bIns="0" anchor="ctr">
            <a:spAutoFit/>
          </a:bodyPr>
          <a:lstStyle/>
          <a:p>
            <a:pPr algn="l"/>
            <a:r>
              <a:rPr sz="1000" b="0" i="0">
                <a:solidFill>
                  <a:srgbClr val="4A6478"/>
                </a:solidFill>
                <a:latin typeface="Segoe UI"/>
              </a:rPr>
              <a:t>74,1% dei DoS riconosciuti</a:t>
            </a:r>
          </a:p>
        </p:txBody>
      </p:sp>
      <p:sp>
        <p:nvSpPr>
          <p:cNvPr id="34" name="TextBox 34"/>
          <p:cNvSpPr txBox="1"/>
          <p:nvPr/>
        </p:nvSpPr>
        <p:spPr>
          <a:xfrm>
            <a:off x="1234440" y="5276088"/>
            <a:ext cx="548640" cy="201168"/>
          </a:xfrm>
          <a:prstGeom prst="rect">
            <a:avLst/>
          </a:prstGeom>
          <a:noFill/>
        </p:spPr>
        <p:txBody>
          <a:bodyPr wrap="square" lIns="0" rIns="0" tIns="0" bIns="0" anchor="ctr">
            <a:spAutoFit/>
          </a:bodyPr>
          <a:lstStyle/>
          <a:p>
            <a:pPr algn="r"/>
            <a:r>
              <a:rPr sz="1000" b="0" i="0">
                <a:solidFill>
                  <a:srgbClr val="0B2438"/>
                </a:solidFill>
                <a:latin typeface="Segoe UI"/>
              </a:rPr>
              <a:t>p99,9</a:t>
            </a:r>
          </a:p>
        </p:txBody>
      </p:sp>
      <p:sp>
        <p:nvSpPr>
          <p:cNvPr id="35" name="Rectangle 35"/>
          <p:cNvSpPr/>
          <p:nvPr/>
        </p:nvSpPr>
        <p:spPr>
          <a:xfrm>
            <a:off x="1874520" y="5312664"/>
            <a:ext cx="1207008" cy="128016"/>
          </a:xfrm>
          <a:prstGeom prst="rect">
            <a:avLst/>
          </a:prstGeom>
          <a:solidFill>
            <a:srgbClr val="0C6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6"/>
          <p:cNvSpPr txBox="1"/>
          <p:nvPr/>
        </p:nvSpPr>
        <p:spPr>
          <a:xfrm>
            <a:off x="3154680" y="5276088"/>
            <a:ext cx="1828800" cy="201168"/>
          </a:xfrm>
          <a:prstGeom prst="rect">
            <a:avLst/>
          </a:prstGeom>
          <a:noFill/>
        </p:spPr>
        <p:txBody>
          <a:bodyPr wrap="square" lIns="0" rIns="0" tIns="0" bIns="0" anchor="ctr">
            <a:spAutoFit/>
          </a:bodyPr>
          <a:lstStyle/>
          <a:p>
            <a:pPr algn="l"/>
            <a:r>
              <a:rPr sz="1000" b="0" i="0">
                <a:solidFill>
                  <a:srgbClr val="4A6478"/>
                </a:solidFill>
                <a:latin typeface="Segoe UI"/>
              </a:rPr>
              <a:t>44,0% dei DoS riconosciuti</a:t>
            </a:r>
          </a:p>
        </p:txBody>
      </p:sp>
      <p:sp>
        <p:nvSpPr>
          <p:cNvPr id="37" name="TextBox 37"/>
          <p:cNvSpPr txBox="1"/>
          <p:nvPr/>
        </p:nvSpPr>
        <p:spPr>
          <a:xfrm>
            <a:off x="6373368" y="5047488"/>
            <a:ext cx="548640" cy="201168"/>
          </a:xfrm>
          <a:prstGeom prst="rect">
            <a:avLst/>
          </a:prstGeom>
          <a:noFill/>
        </p:spPr>
        <p:txBody>
          <a:bodyPr wrap="square" lIns="0" rIns="0" tIns="0" bIns="0" anchor="ctr">
            <a:spAutoFit/>
          </a:bodyPr>
          <a:lstStyle/>
          <a:p>
            <a:pPr algn="r"/>
            <a:r>
              <a:rPr sz="1000" b="0" i="0">
                <a:solidFill>
                  <a:srgbClr val="0B2438"/>
                </a:solidFill>
                <a:latin typeface="Segoe UI"/>
              </a:rPr>
              <a:t>p99</a:t>
            </a:r>
          </a:p>
        </p:txBody>
      </p:sp>
      <p:sp>
        <p:nvSpPr>
          <p:cNvPr id="38" name="Rectangle 38"/>
          <p:cNvSpPr/>
          <p:nvPr/>
        </p:nvSpPr>
        <p:spPr>
          <a:xfrm>
            <a:off x="7013448" y="5084064"/>
            <a:ext cx="2194560" cy="128016"/>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9"/>
          <p:cNvSpPr txBox="1"/>
          <p:nvPr/>
        </p:nvSpPr>
        <p:spPr>
          <a:xfrm>
            <a:off x="9281160" y="5047488"/>
            <a:ext cx="1828800" cy="201168"/>
          </a:xfrm>
          <a:prstGeom prst="rect">
            <a:avLst/>
          </a:prstGeom>
          <a:noFill/>
        </p:spPr>
        <p:txBody>
          <a:bodyPr wrap="square" lIns="0" rIns="0" tIns="0" bIns="0" anchor="ctr">
            <a:spAutoFit/>
          </a:bodyPr>
          <a:lstStyle/>
          <a:p>
            <a:pPr algn="l"/>
            <a:r>
              <a:rPr sz="1000" b="0" i="0">
                <a:solidFill>
                  <a:srgbClr val="4A6478"/>
                </a:solidFill>
                <a:latin typeface="Segoe UI"/>
              </a:rPr>
              <a:t>0,99% di falsi allarmi extra</a:t>
            </a:r>
          </a:p>
        </p:txBody>
      </p:sp>
      <p:sp>
        <p:nvSpPr>
          <p:cNvPr id="40" name="TextBox 40"/>
          <p:cNvSpPr txBox="1"/>
          <p:nvPr/>
        </p:nvSpPr>
        <p:spPr>
          <a:xfrm>
            <a:off x="6373368" y="5276088"/>
            <a:ext cx="548640" cy="201168"/>
          </a:xfrm>
          <a:prstGeom prst="rect">
            <a:avLst/>
          </a:prstGeom>
          <a:noFill/>
        </p:spPr>
        <p:txBody>
          <a:bodyPr wrap="square" lIns="0" rIns="0" tIns="0" bIns="0" anchor="ctr">
            <a:spAutoFit/>
          </a:bodyPr>
          <a:lstStyle/>
          <a:p>
            <a:pPr algn="r"/>
            <a:r>
              <a:rPr sz="1000" b="0" i="0">
                <a:solidFill>
                  <a:srgbClr val="0B2438"/>
                </a:solidFill>
                <a:latin typeface="Segoe UI"/>
              </a:rPr>
              <a:t>p99,9</a:t>
            </a:r>
          </a:p>
        </p:txBody>
      </p:sp>
      <p:sp>
        <p:nvSpPr>
          <p:cNvPr id="41" name="Rectangle 41"/>
          <p:cNvSpPr/>
          <p:nvPr/>
        </p:nvSpPr>
        <p:spPr>
          <a:xfrm>
            <a:off x="7013448" y="5312664"/>
            <a:ext cx="221672" cy="128016"/>
          </a:xfrm>
          <a:prstGeom prst="rect">
            <a:avLst/>
          </a:prstGeom>
          <a:solidFill>
            <a:srgbClr val="C9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2"/>
          <p:cNvSpPr txBox="1"/>
          <p:nvPr/>
        </p:nvSpPr>
        <p:spPr>
          <a:xfrm>
            <a:off x="7308272" y="5276088"/>
            <a:ext cx="1828800" cy="201168"/>
          </a:xfrm>
          <a:prstGeom prst="rect">
            <a:avLst/>
          </a:prstGeom>
          <a:noFill/>
        </p:spPr>
        <p:txBody>
          <a:bodyPr wrap="square" lIns="0" rIns="0" tIns="0" bIns="0" anchor="ctr">
            <a:spAutoFit/>
          </a:bodyPr>
          <a:lstStyle/>
          <a:p>
            <a:pPr algn="l"/>
            <a:r>
              <a:rPr sz="1000" b="0" i="0">
                <a:solidFill>
                  <a:srgbClr val="4A6478"/>
                </a:solidFill>
                <a:latin typeface="Segoe UI"/>
              </a:rPr>
              <a:t>0,10% di falsi allarmi extra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Image 0" descr="Logo Unimore">    </p:cNvPr>
          <p:cNvPicPr>
            <a:picLocks noChangeAspect="1"/>
          </p:cNvPicPr>
          <p:nvPr/>
        </p:nvPicPr>
        <p:blipFill>
          <a:blip r:embed="rId2"/>
          <a:stretch>
            <a:fillRect/>
          </a:stretch>
        </p:blipFill>
        <p:spPr>
          <a:xfrm>
            <a:off x="11023092" y="274320"/>
            <a:ext cx="566014" cy="640080"/>
          </a:xfrm>
          <a:prstGeom prst="rect">
            <a:avLst/>
          </a:prstGeom>
        </p:spPr>
      </p:pic>
      <p:sp>
        <p:nvSpPr>
          <p:cNvPr id="6" name="Text 2"/>
          <p:cNvSpPr/>
          <p:nvPr/>
        </p:nvSpPr>
        <p:spPr>
          <a:xfrm>
            <a:off x="4881982" y="384048"/>
            <a:ext cx="2427732"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06 · COSA VEDE, COSA NO</a:t>
            </a:r>
            <a:endParaRPr lang="en-US" sz="1050" dirty="0"/>
          </a:p>
        </p:txBody>
      </p:sp>
      <p:sp>
        <p:nvSpPr>
          <p:cNvPr id="7" name="Text 3"/>
          <p:cNvSpPr txBox="1"/>
          <p:nvPr/>
        </p:nvSpPr>
        <p:spPr>
          <a:xfrm>
            <a:off x="822960" y="868680"/>
            <a:ext cx="10545775" cy="822960"/>
          </a:xfrm>
          <a:prstGeom prst="rect">
            <a:avLst/>
          </a:prstGeom>
          <a:noFill/>
          <a:ln/>
        </p:spPr>
        <p:txBody>
          <a:bodyPr wrap="square" lIns="0" tIns="0" rIns="0" bIns="0" rtlCol="0" anchor="ctr"/>
          <a:lstStyle/>
          <a:p>
            <a:pPr algn="ctr" indent="0" marL="0">
              <a:buNone/>
            </a:pPr>
            <a:r>
              <a:rPr lang="en-US" sz="3600" dirty="0">
                <a:solidFill>
                  <a:srgbClr val="FFFFFF"/>
                </a:solidFill>
                <a:latin typeface="Georgia" pitchFamily="34" charset="0"/>
                <a:ea typeface="Georgia" pitchFamily="34" charset="-122"/>
                <a:cs typeface="Georgia" pitchFamily="34" charset="-120"/>
              </a:rPr>
              <a:t>IDS di rete e EDR: due </a:t>
            </a:r>
            <a:pPr algn="ctr" indent="0" marL="0">
              <a:buNone/>
            </a:pPr>
            <a:r>
              <a:rPr lang="en-US" sz="3600" i="1" dirty="0">
                <a:solidFill>
                  <a:srgbClr val="BCD1DE"/>
                </a:solidFill>
                <a:latin typeface="Georgia" pitchFamily="34" charset="0"/>
                <a:ea typeface="Georgia" pitchFamily="34" charset="-122"/>
                <a:cs typeface="Georgia" pitchFamily="34" charset="-120"/>
              </a:rPr>
              <a:t>punti di vista</a:t>
            </a:r>
            <a:endParaRPr lang="en-US" sz="3600" dirty="0"/>
          </a:p>
        </p:txBody>
      </p:sp>
      <p:sp>
        <p:nvSpPr>
          <p:cNvPr id="8" name="Shape 4"/>
          <p:cNvSpPr/>
          <p:nvPr/>
        </p:nvSpPr>
        <p:spPr>
          <a:xfrm>
            <a:off x="822960" y="1874520"/>
            <a:ext cx="10545775" cy="5486400"/>
          </a:xfrm>
          <a:prstGeom prst="roundRect">
            <a:avLst>
              <a:gd name="adj" fmla="val 5833"/>
            </a:avLst>
          </a:prstGeom>
          <a:solidFill>
            <a:srgbClr val="F7FAFC"/>
          </a:solidFill>
          <a:ln w="12700">
            <a:solidFill>
              <a:srgbClr val="FFFFFF"/>
            </a:solidFill>
            <a:prstDash val="solid"/>
          </a:ln>
          <a:effectLst>
            <a:outerShdw sx="100000" sy="100000" kx="0" ky="0" algn="bl" rotWithShape="0" blurRad="304800" dist="76200" dir="5400000">
              <a:srgbClr val="02223A">
                <a:alpha val="35000"/>
              </a:srgbClr>
            </a:outerShdw>
          </a:effectLst>
        </p:spPr>
      </p:sp>
      <p:sp>
        <p:nvSpPr>
          <p:cNvPr id="9" name="Shape 5"/>
          <p:cNvSpPr/>
          <p:nvPr/>
        </p:nvSpPr>
        <p:spPr>
          <a:xfrm>
            <a:off x="5547208" y="2011680"/>
            <a:ext cx="1097280" cy="73152"/>
          </a:xfrm>
          <a:prstGeom prst="roundRect">
            <a:avLst>
              <a:gd name="adj" fmla="val 50000"/>
            </a:avLst>
          </a:prstGeom>
          <a:solidFill>
            <a:srgbClr val="D6E3EC"/>
          </a:solidFill>
          <a:ln w="12700">
            <a:solidFill>
              <a:srgbClr val="D6E3EC"/>
            </a:solidFill>
            <a:prstDash val="solid"/>
          </a:ln>
        </p:spPr>
      </p:sp>
      <p:sp>
        <p:nvSpPr>
          <p:cNvPr id="10" name="Text 6"/>
          <p:cNvSpPr txBox="1"/>
          <p:nvPr/>
        </p:nvSpPr>
        <p:spPr>
          <a:xfrm>
            <a:off x="9997135" y="6473952"/>
            <a:ext cx="1097280" cy="228600"/>
          </a:xfrm>
          <a:prstGeom prst="rect">
            <a:avLst/>
          </a:prstGeom>
          <a:noFill/>
          <a:ln/>
        </p:spPr>
        <p:txBody>
          <a:bodyPr wrap="square" lIns="0" tIns="0" rIns="0" bIns="0" rtlCol="0" anchor="t"/>
          <a:lstStyle/>
          <a:p>
            <a:pPr algn="r" indent="0" marL="0">
              <a:buNone/>
            </a:pPr>
            <a:r>
              <a:rPr lang="en-US" sz="1000" dirty="0">
                <a:solidFill>
                  <a:srgbClr val="84A0B4"/>
                </a:solidFill>
                <a:latin typeface="Segoe UI" pitchFamily="34" charset="0"/>
                <a:ea typeface="Segoe UI" pitchFamily="34" charset="-122"/>
                <a:cs typeface="Segoe UI" pitchFamily="34" charset="-120"/>
              </a:rPr>
              <a:t>07 / 08</a:t>
            </a:r>
            <a:endParaRPr lang="en-US" sz="1000" dirty="0"/>
          </a:p>
        </p:txBody>
      </p:sp>
      <p:sp>
        <p:nvSpPr>
          <p:cNvPr id="11" name="Shape 7"/>
          <p:cNvSpPr/>
          <p:nvPr/>
        </p:nvSpPr>
        <p:spPr>
          <a:xfrm>
            <a:off x="1234440" y="2240280"/>
            <a:ext cx="4724248" cy="3154680"/>
          </a:xfrm>
          <a:prstGeom prst="roundRect">
            <a:avLst>
              <a:gd name="adj" fmla="val 4058"/>
            </a:avLst>
          </a:prstGeom>
          <a:solidFill>
            <a:srgbClr val="FFFFFF"/>
          </a:solidFill>
          <a:ln w="9525">
            <a:solidFill>
              <a:srgbClr val="D6E3EC"/>
            </a:solidFill>
            <a:prstDash val="solid"/>
          </a:ln>
        </p:spPr>
      </p:sp>
      <p:sp>
        <p:nvSpPr>
          <p:cNvPr id="12" name="Text 8"/>
          <p:cNvSpPr txBox="1"/>
          <p:nvPr/>
        </p:nvSpPr>
        <p:spPr>
          <a:xfrm>
            <a:off x="1508760" y="2423160"/>
            <a:ext cx="4175608" cy="365760"/>
          </a:xfrm>
          <a:prstGeom prst="rect">
            <a:avLst/>
          </a:prstGeom>
          <a:noFill/>
          <a:ln/>
        </p:spPr>
        <p:txBody>
          <a:bodyPr wrap="square" lIns="0" tIns="0" rIns="0" bIns="0" rtlCol="0" anchor="t"/>
          <a:lstStyle/>
          <a:p>
            <a:pPr indent="0" marL="0">
              <a:buNone/>
            </a:pPr>
            <a:r>
              <a:rPr lang="en-US" sz="1700" i="1" dirty="0">
                <a:solidFill>
                  <a:srgbClr val="045991"/>
                </a:solidFill>
                <a:latin typeface="Georgia" pitchFamily="34" charset="0"/>
                <a:ea typeface="Georgia" pitchFamily="34" charset="-122"/>
                <a:cs typeface="Georgia" pitchFamily="34" charset="-120"/>
              </a:rPr>
              <a:t>IDS di rete · questo progetto</a:t>
            </a:r>
            <a:endParaRPr lang="en-US" sz="1700" dirty="0"/>
          </a:p>
        </p:txBody>
      </p:sp>
      <p:sp>
        <p:nvSpPr>
          <p:cNvPr id="13" name="Shape 9"/>
          <p:cNvSpPr/>
          <p:nvPr/>
        </p:nvSpPr>
        <p:spPr>
          <a:xfrm>
            <a:off x="2179244" y="2926080"/>
            <a:ext cx="1737360" cy="457200"/>
          </a:xfrm>
          <a:prstGeom prst="roundRect">
            <a:avLst>
              <a:gd name="adj" fmla="val 28000"/>
            </a:avLst>
          </a:prstGeom>
          <a:solidFill>
            <a:srgbClr val="FFFFFF"/>
          </a:solidFill>
          <a:ln w="9525">
            <a:solidFill>
              <a:srgbClr val="D6E3EC"/>
            </a:solidFill>
            <a:prstDash val="solid"/>
          </a:ln>
        </p:spPr>
      </p:sp>
      <p:sp>
        <p:nvSpPr>
          <p:cNvPr id="14" name="Text 10"/>
          <p:cNvSpPr txBox="1"/>
          <p:nvPr/>
        </p:nvSpPr>
        <p:spPr>
          <a:xfrm>
            <a:off x="2179244" y="2926080"/>
            <a:ext cx="1737360" cy="457200"/>
          </a:xfrm>
          <a:prstGeom prst="rect">
            <a:avLst/>
          </a:prstGeom>
          <a:noFill/>
          <a:ln/>
        </p:spPr>
        <p:txBody>
          <a:bodyPr wrap="square" lIns="508" tIns="508" rIns="508" bIns="508"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Router / switch</a:t>
            </a:r>
            <a:endParaRPr lang="en-US" sz="1300" dirty="0"/>
          </a:p>
        </p:txBody>
      </p:sp>
      <p:sp>
        <p:nvSpPr>
          <p:cNvPr id="15" name="Shape 11"/>
          <p:cNvSpPr/>
          <p:nvPr/>
        </p:nvSpPr>
        <p:spPr>
          <a:xfrm flipH="1">
            <a:off x="2179244" y="3383280"/>
            <a:ext cx="868680" cy="502920"/>
          </a:xfrm>
          <a:prstGeom prst="line">
            <a:avLst/>
          </a:prstGeom>
          <a:noFill/>
          <a:ln w="15875">
            <a:solidFill>
              <a:srgbClr val="84A0B4"/>
            </a:solidFill>
            <a:prstDash val="solid"/>
          </a:ln>
        </p:spPr>
      </p:sp>
      <p:sp>
        <p:nvSpPr>
          <p:cNvPr id="16" name="Shape 12"/>
          <p:cNvSpPr/>
          <p:nvPr/>
        </p:nvSpPr>
        <p:spPr>
          <a:xfrm>
            <a:off x="1676324" y="3886200"/>
            <a:ext cx="1005840" cy="438912"/>
          </a:xfrm>
          <a:prstGeom prst="roundRect">
            <a:avLst>
              <a:gd name="adj" fmla="val 29167"/>
            </a:avLst>
          </a:prstGeom>
          <a:solidFill>
            <a:srgbClr val="FFFFFF"/>
          </a:solidFill>
          <a:ln w="9525">
            <a:solidFill>
              <a:srgbClr val="D6E3EC"/>
            </a:solidFill>
            <a:prstDash val="solid"/>
          </a:ln>
        </p:spPr>
      </p:sp>
      <p:sp>
        <p:nvSpPr>
          <p:cNvPr id="17" name="Text 13"/>
          <p:cNvSpPr txBox="1"/>
          <p:nvPr/>
        </p:nvSpPr>
        <p:spPr>
          <a:xfrm>
            <a:off x="1676324" y="3886200"/>
            <a:ext cx="1005840" cy="438912"/>
          </a:xfrm>
          <a:prstGeom prst="rect">
            <a:avLst/>
          </a:prstGeom>
          <a:noFill/>
          <a:ln/>
        </p:spPr>
        <p:txBody>
          <a:bodyPr wrap="square" lIns="508" tIns="508" rIns="508" bIns="508" rtlCol="0" anchor="ctr"/>
          <a:lstStyle/>
          <a:p>
            <a:pPr algn="ctr" indent="0" marL="0">
              <a:buNone/>
            </a:pPr>
            <a:r>
              <a:rPr lang="en-US" sz="1300" dirty="0">
                <a:solidFill>
                  <a:srgbClr val="4A6478"/>
                </a:solidFill>
                <a:latin typeface="Segoe UI Semibold" pitchFamily="34" charset="0"/>
                <a:ea typeface="Segoe UI Semibold" pitchFamily="34" charset="-122"/>
                <a:cs typeface="Segoe UI Semibold" pitchFamily="34" charset="-120"/>
              </a:rPr>
              <a:t>PC</a:t>
            </a:r>
            <a:endParaRPr lang="en-US" sz="1300" dirty="0"/>
          </a:p>
        </p:txBody>
      </p:sp>
      <p:sp>
        <p:nvSpPr>
          <p:cNvPr id="18" name="Shape 14"/>
          <p:cNvSpPr/>
          <p:nvPr/>
        </p:nvSpPr>
        <p:spPr>
          <a:xfrm>
            <a:off x="3047924" y="3383280"/>
            <a:ext cx="502920" cy="502920"/>
          </a:xfrm>
          <a:prstGeom prst="line">
            <a:avLst/>
          </a:prstGeom>
          <a:noFill/>
          <a:ln w="15875">
            <a:solidFill>
              <a:srgbClr val="84A0B4"/>
            </a:solidFill>
            <a:prstDash val="solid"/>
          </a:ln>
        </p:spPr>
      </p:sp>
      <p:sp>
        <p:nvSpPr>
          <p:cNvPr id="19" name="Shape 15"/>
          <p:cNvSpPr/>
          <p:nvPr/>
        </p:nvSpPr>
        <p:spPr>
          <a:xfrm>
            <a:off x="3047924" y="3886200"/>
            <a:ext cx="1005840" cy="438912"/>
          </a:xfrm>
          <a:prstGeom prst="roundRect">
            <a:avLst>
              <a:gd name="adj" fmla="val 29167"/>
            </a:avLst>
          </a:prstGeom>
          <a:solidFill>
            <a:srgbClr val="FFFFFF"/>
          </a:solidFill>
          <a:ln w="9525">
            <a:solidFill>
              <a:srgbClr val="D6E3EC"/>
            </a:solidFill>
            <a:prstDash val="solid"/>
          </a:ln>
        </p:spPr>
      </p:sp>
      <p:sp>
        <p:nvSpPr>
          <p:cNvPr id="20" name="Text 16"/>
          <p:cNvSpPr txBox="1"/>
          <p:nvPr/>
        </p:nvSpPr>
        <p:spPr>
          <a:xfrm>
            <a:off x="3047924" y="3886200"/>
            <a:ext cx="1005840" cy="438912"/>
          </a:xfrm>
          <a:prstGeom prst="rect">
            <a:avLst/>
          </a:prstGeom>
          <a:noFill/>
          <a:ln/>
        </p:spPr>
        <p:txBody>
          <a:bodyPr wrap="square" lIns="508" tIns="508" rIns="508" bIns="508" rtlCol="0" anchor="ctr"/>
          <a:lstStyle/>
          <a:p>
            <a:pPr algn="ctr" indent="0" marL="0">
              <a:buNone/>
            </a:pPr>
            <a:r>
              <a:rPr lang="en-US" sz="1300" dirty="0">
                <a:solidFill>
                  <a:srgbClr val="4A6478"/>
                </a:solidFill>
                <a:latin typeface="Segoe UI Semibold" pitchFamily="34" charset="0"/>
                <a:ea typeface="Segoe UI Semibold" pitchFamily="34" charset="-122"/>
                <a:cs typeface="Segoe UI Semibold" pitchFamily="34" charset="-120"/>
              </a:rPr>
              <a:t>PC</a:t>
            </a:r>
            <a:endParaRPr lang="en-US" sz="1300" dirty="0"/>
          </a:p>
        </p:txBody>
      </p:sp>
      <p:sp>
        <p:nvSpPr>
          <p:cNvPr id="21" name="Shape 17"/>
          <p:cNvSpPr/>
          <p:nvPr/>
        </p:nvSpPr>
        <p:spPr>
          <a:xfrm>
            <a:off x="3047924" y="3383280"/>
            <a:ext cx="1874520" cy="502920"/>
          </a:xfrm>
          <a:prstGeom prst="line">
            <a:avLst/>
          </a:prstGeom>
          <a:noFill/>
          <a:ln w="15875">
            <a:solidFill>
              <a:srgbClr val="84A0B4"/>
            </a:solidFill>
            <a:prstDash val="solid"/>
          </a:ln>
        </p:spPr>
      </p:sp>
      <p:sp>
        <p:nvSpPr>
          <p:cNvPr id="22" name="Shape 18"/>
          <p:cNvSpPr/>
          <p:nvPr/>
        </p:nvSpPr>
        <p:spPr>
          <a:xfrm>
            <a:off x="4419524" y="3886200"/>
            <a:ext cx="1005840" cy="438912"/>
          </a:xfrm>
          <a:prstGeom prst="roundRect">
            <a:avLst>
              <a:gd name="adj" fmla="val 29167"/>
            </a:avLst>
          </a:prstGeom>
          <a:solidFill>
            <a:srgbClr val="FFFFFF"/>
          </a:solidFill>
          <a:ln w="9525">
            <a:solidFill>
              <a:srgbClr val="D6E3EC"/>
            </a:solidFill>
            <a:prstDash val="solid"/>
          </a:ln>
        </p:spPr>
      </p:sp>
      <p:sp>
        <p:nvSpPr>
          <p:cNvPr id="23" name="Text 19"/>
          <p:cNvSpPr txBox="1"/>
          <p:nvPr/>
        </p:nvSpPr>
        <p:spPr>
          <a:xfrm>
            <a:off x="4419524" y="3886200"/>
            <a:ext cx="1005840" cy="438912"/>
          </a:xfrm>
          <a:prstGeom prst="rect">
            <a:avLst/>
          </a:prstGeom>
          <a:noFill/>
          <a:ln/>
        </p:spPr>
        <p:txBody>
          <a:bodyPr wrap="square" lIns="508" tIns="508" rIns="508" bIns="508" rtlCol="0" anchor="ctr"/>
          <a:lstStyle/>
          <a:p>
            <a:pPr algn="ctr" indent="0" marL="0">
              <a:buNone/>
            </a:pPr>
            <a:r>
              <a:rPr lang="en-US" sz="1300" dirty="0">
                <a:solidFill>
                  <a:srgbClr val="4A6478"/>
                </a:solidFill>
                <a:latin typeface="Segoe UI Semibold" pitchFamily="34" charset="0"/>
                <a:ea typeface="Segoe UI Semibold" pitchFamily="34" charset="-122"/>
                <a:cs typeface="Segoe UI Semibold" pitchFamily="34" charset="-120"/>
              </a:rPr>
              <a:t>Server</a:t>
            </a:r>
            <a:endParaRPr lang="en-US" sz="1300" dirty="0"/>
          </a:p>
        </p:txBody>
      </p:sp>
      <p:sp>
        <p:nvSpPr>
          <p:cNvPr id="24" name="Shape 20"/>
          <p:cNvSpPr/>
          <p:nvPr/>
        </p:nvSpPr>
        <p:spPr>
          <a:xfrm>
            <a:off x="4328084" y="2926080"/>
            <a:ext cx="1280160" cy="457200"/>
          </a:xfrm>
          <a:prstGeom prst="roundRect">
            <a:avLst>
              <a:gd name="adj" fmla="val 28000"/>
            </a:avLst>
          </a:prstGeom>
          <a:solidFill>
            <a:srgbClr val="FFFFFF"/>
          </a:solidFill>
          <a:ln w="9525">
            <a:solidFill>
              <a:srgbClr val="D6E3EC"/>
            </a:solidFill>
            <a:prstDash val="solid"/>
          </a:ln>
        </p:spPr>
      </p:sp>
      <p:sp>
        <p:nvSpPr>
          <p:cNvPr id="25" name="Text 21"/>
          <p:cNvSpPr txBox="1"/>
          <p:nvPr/>
        </p:nvSpPr>
        <p:spPr>
          <a:xfrm>
            <a:off x="4328084" y="2926080"/>
            <a:ext cx="1280160" cy="457200"/>
          </a:xfrm>
          <a:prstGeom prst="rect">
            <a:avLst/>
          </a:prstGeom>
          <a:noFill/>
          <a:ln/>
        </p:spPr>
        <p:txBody>
          <a:bodyPr wrap="square" lIns="508" tIns="508" rIns="508" bIns="508" rtlCol="0" anchor="ctr"/>
          <a:lstStyle/>
          <a:p>
            <a:pPr algn="ctr" indent="0" marL="0">
              <a:buNone/>
            </a:pPr>
            <a:r>
              <a:rPr lang="en-US" sz="1300" dirty="0">
                <a:solidFill>
                  <a:srgbClr val="0C649C"/>
                </a:solidFill>
                <a:latin typeface="Segoe UI Semibold" pitchFamily="34" charset="0"/>
                <a:ea typeface="Segoe UI Semibold" pitchFamily="34" charset="-122"/>
                <a:cs typeface="Segoe UI Semibold" pitchFamily="34" charset="-120"/>
              </a:rPr>
              <a:t>Sensore</a:t>
            </a:r>
            <a:endParaRPr lang="en-US" sz="1300" dirty="0"/>
          </a:p>
        </p:txBody>
      </p:sp>
      <p:sp>
        <p:nvSpPr>
          <p:cNvPr id="26" name="Shape 22"/>
          <p:cNvSpPr/>
          <p:nvPr/>
        </p:nvSpPr>
        <p:spPr>
          <a:xfrm>
            <a:off x="3916604" y="3154680"/>
            <a:ext cx="411480" cy="0"/>
          </a:xfrm>
          <a:prstGeom prst="line">
            <a:avLst/>
          </a:prstGeom>
          <a:noFill/>
          <a:ln w="15875">
            <a:solidFill>
              <a:srgbClr val="0C649C"/>
            </a:solidFill>
            <a:prstDash val="dash"/>
            <a:tailEnd type="triangle"/>
          </a:ln>
        </p:spPr>
      </p:sp>
      <p:sp>
        <p:nvSpPr>
          <p:cNvPr id="27" name="Text 23"/>
          <p:cNvSpPr txBox="1"/>
          <p:nvPr/>
        </p:nvSpPr>
        <p:spPr>
          <a:xfrm>
            <a:off x="1508760" y="4572000"/>
            <a:ext cx="4175608" cy="274320"/>
          </a:xfrm>
          <a:prstGeom prst="rect">
            <a:avLst/>
          </a:prstGeom>
          <a:noFill/>
          <a:ln/>
        </p:spPr>
        <p:txBody>
          <a:bodyPr wrap="square" lIns="0" tIns="0" rIns="0" bIns="0" rtlCol="0" anchor="t"/>
          <a:lstStyle/>
          <a:p>
            <a:pPr indent="0" marL="0">
              <a:buNone/>
            </a:pPr>
            <a:r>
              <a:rPr lang="en-US" sz="1300" dirty="0">
                <a:solidFill>
                  <a:srgbClr val="0B2438"/>
                </a:solidFill>
                <a:latin typeface="Segoe UI Semibold" pitchFamily="34" charset="0"/>
                <a:ea typeface="Segoe UI Semibold" pitchFamily="34" charset="-122"/>
                <a:cs typeface="Segoe UI Semibold" pitchFamily="34" charset="-120"/>
              </a:rPr>
              <a:t>Vede: </a:t>
            </a:r>
            <a:pPr indent="0" marL="0">
              <a:buNone/>
            </a:pPr>
            <a:r>
              <a:rPr lang="en-US" sz="1300" dirty="0">
                <a:solidFill>
                  <a:srgbClr val="4A6478"/>
                </a:solidFill>
                <a:latin typeface="Segoe UI" pitchFamily="34" charset="0"/>
                <a:ea typeface="Segoe UI" pitchFamily="34" charset="-122"/>
                <a:cs typeface="Segoe UI" pitchFamily="34" charset="-120"/>
              </a:rPr>
              <a:t>tempi, dimensioni, flag TCP</a:t>
            </a:r>
            <a:endParaRPr lang="en-US" sz="1300" dirty="0"/>
          </a:p>
        </p:txBody>
      </p:sp>
      <p:sp>
        <p:nvSpPr>
          <p:cNvPr id="28" name="Text 24"/>
          <p:cNvSpPr txBox="1"/>
          <p:nvPr/>
        </p:nvSpPr>
        <p:spPr>
          <a:xfrm>
            <a:off x="1508760" y="4892040"/>
            <a:ext cx="4175608" cy="274320"/>
          </a:xfrm>
          <a:prstGeom prst="rect">
            <a:avLst/>
          </a:prstGeom>
          <a:noFill/>
          <a:ln/>
        </p:spPr>
        <p:txBody>
          <a:bodyPr wrap="square" lIns="0" tIns="0" rIns="0" bIns="0" rtlCol="0" anchor="t"/>
          <a:lstStyle/>
          <a:p>
            <a:pPr indent="0" marL="0">
              <a:buNone/>
            </a:pPr>
            <a:r>
              <a:rPr lang="en-US" sz="1300" dirty="0">
                <a:solidFill>
                  <a:srgbClr val="9A3B1B"/>
                </a:solidFill>
                <a:latin typeface="Segoe UI Semibold" pitchFamily="34" charset="0"/>
                <a:ea typeface="Segoe UI Semibold" pitchFamily="34" charset="-122"/>
                <a:cs typeface="Segoe UI Semibold" pitchFamily="34" charset="-120"/>
              </a:rPr>
              <a:t>Non vede: </a:t>
            </a:r>
            <a:pPr indent="0" marL="0">
              <a:buNone/>
            </a:pPr>
            <a:r>
              <a:rPr lang="en-US" sz="1300" dirty="0">
                <a:solidFill>
                  <a:srgbClr val="4A6478"/>
                </a:solidFill>
                <a:latin typeface="Segoe UI" pitchFamily="34" charset="0"/>
                <a:ea typeface="Segoe UI" pitchFamily="34" charset="-122"/>
                <a:cs typeface="Segoe UI" pitchFamily="34" charset="-120"/>
              </a:rPr>
              <a:t>il contenuto dei pacchetti (payload)</a:t>
            </a:r>
            <a:endParaRPr lang="en-US" sz="1300" dirty="0"/>
          </a:p>
        </p:txBody>
      </p:sp>
      <p:sp>
        <p:nvSpPr>
          <p:cNvPr id="29" name="Shape 25"/>
          <p:cNvSpPr/>
          <p:nvPr/>
        </p:nvSpPr>
        <p:spPr>
          <a:xfrm>
            <a:off x="6233008" y="2240280"/>
            <a:ext cx="4724248" cy="3154680"/>
          </a:xfrm>
          <a:prstGeom prst="roundRect">
            <a:avLst>
              <a:gd name="adj" fmla="val 4058"/>
            </a:avLst>
          </a:prstGeom>
          <a:solidFill>
            <a:srgbClr val="FFFFFF"/>
          </a:solidFill>
          <a:ln w="9525">
            <a:solidFill>
              <a:srgbClr val="D6E3EC"/>
            </a:solidFill>
            <a:prstDash val="solid"/>
          </a:ln>
        </p:spPr>
      </p:sp>
      <p:sp>
        <p:nvSpPr>
          <p:cNvPr id="30" name="Text 26"/>
          <p:cNvSpPr txBox="1"/>
          <p:nvPr/>
        </p:nvSpPr>
        <p:spPr>
          <a:xfrm>
            <a:off x="6507328" y="2423160"/>
            <a:ext cx="4175608" cy="365760"/>
          </a:xfrm>
          <a:prstGeom prst="rect">
            <a:avLst/>
          </a:prstGeom>
          <a:noFill/>
          <a:ln/>
        </p:spPr>
        <p:txBody>
          <a:bodyPr wrap="square" lIns="0" tIns="0" rIns="0" bIns="0" rtlCol="0" anchor="t"/>
          <a:lstStyle/>
          <a:p>
            <a:pPr indent="0" marL="0">
              <a:buNone/>
            </a:pPr>
            <a:r>
              <a:rPr lang="en-US" sz="1700" i="1" dirty="0">
                <a:solidFill>
                  <a:srgbClr val="045991"/>
                </a:solidFill>
                <a:latin typeface="Georgia" pitchFamily="34" charset="0"/>
                <a:ea typeface="Georgia" pitchFamily="34" charset="-122"/>
                <a:cs typeface="Georgia" pitchFamily="34" charset="-120"/>
              </a:rPr>
              <a:t>EDR · un agente su ogni host</a:t>
            </a:r>
            <a:endParaRPr lang="en-US" sz="1700" dirty="0"/>
          </a:p>
        </p:txBody>
      </p:sp>
      <p:sp>
        <p:nvSpPr>
          <p:cNvPr id="31" name="Shape 27"/>
          <p:cNvSpPr/>
          <p:nvPr/>
        </p:nvSpPr>
        <p:spPr>
          <a:xfrm>
            <a:off x="8000771" y="2926080"/>
            <a:ext cx="1188720" cy="457200"/>
          </a:xfrm>
          <a:prstGeom prst="roundRect">
            <a:avLst>
              <a:gd name="adj" fmla="val 28000"/>
            </a:avLst>
          </a:prstGeom>
          <a:solidFill>
            <a:srgbClr val="FFFFFF"/>
          </a:solidFill>
          <a:ln w="9525">
            <a:solidFill>
              <a:srgbClr val="D6E3EC"/>
            </a:solidFill>
            <a:prstDash val="solid"/>
          </a:ln>
        </p:spPr>
      </p:sp>
      <p:sp>
        <p:nvSpPr>
          <p:cNvPr id="32" name="Text 28"/>
          <p:cNvSpPr txBox="1"/>
          <p:nvPr/>
        </p:nvSpPr>
        <p:spPr>
          <a:xfrm>
            <a:off x="8000771" y="2926080"/>
            <a:ext cx="1188720" cy="457200"/>
          </a:xfrm>
          <a:prstGeom prst="rect">
            <a:avLst/>
          </a:prstGeom>
          <a:noFill/>
          <a:ln/>
        </p:spPr>
        <p:txBody>
          <a:bodyPr wrap="square" lIns="508" tIns="508" rIns="508" bIns="508" rtlCol="0" anchor="ctr"/>
          <a:lstStyle/>
          <a:p>
            <a:pPr algn="ctr" indent="0" marL="0">
              <a:buNone/>
            </a:pPr>
            <a:r>
              <a:rPr lang="en-US" sz="1300" dirty="0">
                <a:solidFill>
                  <a:srgbClr val="0B2438"/>
                </a:solidFill>
                <a:latin typeface="Segoe UI Semibold" pitchFamily="34" charset="0"/>
                <a:ea typeface="Segoe UI Semibold" pitchFamily="34" charset="-122"/>
                <a:cs typeface="Segoe UI Semibold" pitchFamily="34" charset="-120"/>
              </a:rPr>
              <a:t>Switch</a:t>
            </a:r>
            <a:endParaRPr lang="en-US" sz="1300" dirty="0"/>
          </a:p>
        </p:txBody>
      </p:sp>
      <p:sp>
        <p:nvSpPr>
          <p:cNvPr id="33" name="Shape 29"/>
          <p:cNvSpPr/>
          <p:nvPr/>
        </p:nvSpPr>
        <p:spPr>
          <a:xfrm flipH="1">
            <a:off x="7177811" y="3383280"/>
            <a:ext cx="1417320" cy="502920"/>
          </a:xfrm>
          <a:prstGeom prst="line">
            <a:avLst/>
          </a:prstGeom>
          <a:noFill/>
          <a:ln w="15875">
            <a:solidFill>
              <a:srgbClr val="84A0B4"/>
            </a:solidFill>
            <a:prstDash val="solid"/>
          </a:ln>
        </p:spPr>
      </p:sp>
      <p:sp>
        <p:nvSpPr>
          <p:cNvPr id="34" name="Shape 30"/>
          <p:cNvSpPr/>
          <p:nvPr/>
        </p:nvSpPr>
        <p:spPr>
          <a:xfrm>
            <a:off x="6674891" y="3886200"/>
            <a:ext cx="1005840" cy="438912"/>
          </a:xfrm>
          <a:prstGeom prst="roundRect">
            <a:avLst>
              <a:gd name="adj" fmla="val 29167"/>
            </a:avLst>
          </a:prstGeom>
          <a:solidFill>
            <a:srgbClr val="FFFFFF"/>
          </a:solidFill>
          <a:ln w="9525">
            <a:solidFill>
              <a:srgbClr val="D6E3EC"/>
            </a:solidFill>
            <a:prstDash val="solid"/>
          </a:ln>
        </p:spPr>
      </p:sp>
      <p:sp>
        <p:nvSpPr>
          <p:cNvPr id="35" name="Text 31"/>
          <p:cNvSpPr txBox="1"/>
          <p:nvPr/>
        </p:nvSpPr>
        <p:spPr>
          <a:xfrm>
            <a:off x="6674891" y="3886200"/>
            <a:ext cx="1005840" cy="438912"/>
          </a:xfrm>
          <a:prstGeom prst="rect">
            <a:avLst/>
          </a:prstGeom>
          <a:noFill/>
          <a:ln/>
        </p:spPr>
        <p:txBody>
          <a:bodyPr wrap="square" lIns="508" tIns="508" rIns="508" bIns="508" rtlCol="0" anchor="ctr"/>
          <a:lstStyle/>
          <a:p>
            <a:pPr algn="ctr" indent="0" marL="0">
              <a:buNone/>
            </a:pPr>
            <a:r>
              <a:rPr lang="en-US" sz="1300" dirty="0">
                <a:solidFill>
                  <a:srgbClr val="4A6478"/>
                </a:solidFill>
                <a:latin typeface="Segoe UI Semibold" pitchFamily="34" charset="0"/>
                <a:ea typeface="Segoe UI Semibold" pitchFamily="34" charset="-122"/>
                <a:cs typeface="Segoe UI Semibold" pitchFamily="34" charset="-120"/>
              </a:rPr>
              <a:t>PC</a:t>
            </a:r>
            <a:endParaRPr lang="en-US" sz="1300" dirty="0"/>
          </a:p>
        </p:txBody>
      </p:sp>
      <p:sp>
        <p:nvSpPr>
          <p:cNvPr id="36" name="Shape 32"/>
          <p:cNvSpPr/>
          <p:nvPr/>
        </p:nvSpPr>
        <p:spPr>
          <a:xfrm>
            <a:off x="7525283" y="3767328"/>
            <a:ext cx="237744" cy="237744"/>
          </a:xfrm>
          <a:prstGeom prst="ellipse">
            <a:avLst/>
          </a:prstGeom>
          <a:solidFill>
            <a:srgbClr val="0C649C"/>
          </a:solidFill>
          <a:ln w="12700">
            <a:solidFill>
              <a:srgbClr val="FFFFFF"/>
            </a:solidFill>
            <a:prstDash val="solid"/>
          </a:ln>
        </p:spPr>
      </p:sp>
      <p:sp>
        <p:nvSpPr>
          <p:cNvPr id="37" name="Shape 33"/>
          <p:cNvSpPr/>
          <p:nvPr/>
        </p:nvSpPr>
        <p:spPr>
          <a:xfrm flipH="1">
            <a:off x="8549411" y="3383280"/>
            <a:ext cx="45720" cy="502920"/>
          </a:xfrm>
          <a:prstGeom prst="line">
            <a:avLst/>
          </a:prstGeom>
          <a:noFill/>
          <a:ln w="15875">
            <a:solidFill>
              <a:srgbClr val="84A0B4"/>
            </a:solidFill>
            <a:prstDash val="solid"/>
          </a:ln>
        </p:spPr>
      </p:sp>
      <p:sp>
        <p:nvSpPr>
          <p:cNvPr id="38" name="Shape 34"/>
          <p:cNvSpPr/>
          <p:nvPr/>
        </p:nvSpPr>
        <p:spPr>
          <a:xfrm>
            <a:off x="8046491" y="3886200"/>
            <a:ext cx="1005840" cy="438912"/>
          </a:xfrm>
          <a:prstGeom prst="roundRect">
            <a:avLst>
              <a:gd name="adj" fmla="val 29167"/>
            </a:avLst>
          </a:prstGeom>
          <a:solidFill>
            <a:srgbClr val="FFFFFF"/>
          </a:solidFill>
          <a:ln w="9525">
            <a:solidFill>
              <a:srgbClr val="D6E3EC"/>
            </a:solidFill>
            <a:prstDash val="solid"/>
          </a:ln>
        </p:spPr>
      </p:sp>
      <p:sp>
        <p:nvSpPr>
          <p:cNvPr id="39" name="Text 35"/>
          <p:cNvSpPr txBox="1"/>
          <p:nvPr/>
        </p:nvSpPr>
        <p:spPr>
          <a:xfrm>
            <a:off x="8046491" y="3886200"/>
            <a:ext cx="1005840" cy="438912"/>
          </a:xfrm>
          <a:prstGeom prst="rect">
            <a:avLst/>
          </a:prstGeom>
          <a:noFill/>
          <a:ln/>
        </p:spPr>
        <p:txBody>
          <a:bodyPr wrap="square" lIns="508" tIns="508" rIns="508" bIns="508" rtlCol="0" anchor="ctr"/>
          <a:lstStyle/>
          <a:p>
            <a:pPr algn="ctr" indent="0" marL="0">
              <a:buNone/>
            </a:pPr>
            <a:r>
              <a:rPr lang="en-US" sz="1300" dirty="0">
                <a:solidFill>
                  <a:srgbClr val="4A6478"/>
                </a:solidFill>
                <a:latin typeface="Segoe UI Semibold" pitchFamily="34" charset="0"/>
                <a:ea typeface="Segoe UI Semibold" pitchFamily="34" charset="-122"/>
                <a:cs typeface="Segoe UI Semibold" pitchFamily="34" charset="-120"/>
              </a:rPr>
              <a:t>PC</a:t>
            </a:r>
            <a:endParaRPr lang="en-US" sz="1300" dirty="0"/>
          </a:p>
        </p:txBody>
      </p:sp>
      <p:sp>
        <p:nvSpPr>
          <p:cNvPr id="40" name="Shape 36"/>
          <p:cNvSpPr/>
          <p:nvPr/>
        </p:nvSpPr>
        <p:spPr>
          <a:xfrm>
            <a:off x="8896883" y="3767328"/>
            <a:ext cx="237744" cy="237744"/>
          </a:xfrm>
          <a:prstGeom prst="ellipse">
            <a:avLst/>
          </a:prstGeom>
          <a:solidFill>
            <a:srgbClr val="0C649C"/>
          </a:solidFill>
          <a:ln w="12700">
            <a:solidFill>
              <a:srgbClr val="FFFFFF"/>
            </a:solidFill>
            <a:prstDash val="solid"/>
          </a:ln>
        </p:spPr>
      </p:sp>
      <p:sp>
        <p:nvSpPr>
          <p:cNvPr id="41" name="Shape 37"/>
          <p:cNvSpPr/>
          <p:nvPr/>
        </p:nvSpPr>
        <p:spPr>
          <a:xfrm>
            <a:off x="8595131" y="3383280"/>
            <a:ext cx="1325880" cy="502920"/>
          </a:xfrm>
          <a:prstGeom prst="line">
            <a:avLst/>
          </a:prstGeom>
          <a:noFill/>
          <a:ln w="15875">
            <a:solidFill>
              <a:srgbClr val="84A0B4"/>
            </a:solidFill>
            <a:prstDash val="solid"/>
          </a:ln>
        </p:spPr>
      </p:sp>
      <p:sp>
        <p:nvSpPr>
          <p:cNvPr id="42" name="Shape 38"/>
          <p:cNvSpPr/>
          <p:nvPr/>
        </p:nvSpPr>
        <p:spPr>
          <a:xfrm>
            <a:off x="9418091" y="3886200"/>
            <a:ext cx="1005840" cy="438912"/>
          </a:xfrm>
          <a:prstGeom prst="roundRect">
            <a:avLst>
              <a:gd name="adj" fmla="val 29167"/>
            </a:avLst>
          </a:prstGeom>
          <a:solidFill>
            <a:srgbClr val="FFFFFF"/>
          </a:solidFill>
          <a:ln w="9525">
            <a:solidFill>
              <a:srgbClr val="D6E3EC"/>
            </a:solidFill>
            <a:prstDash val="solid"/>
          </a:ln>
        </p:spPr>
      </p:sp>
      <p:sp>
        <p:nvSpPr>
          <p:cNvPr id="43" name="Text 39"/>
          <p:cNvSpPr txBox="1"/>
          <p:nvPr/>
        </p:nvSpPr>
        <p:spPr>
          <a:xfrm>
            <a:off x="9418091" y="3886200"/>
            <a:ext cx="1005840" cy="438912"/>
          </a:xfrm>
          <a:prstGeom prst="rect">
            <a:avLst/>
          </a:prstGeom>
          <a:noFill/>
          <a:ln/>
        </p:spPr>
        <p:txBody>
          <a:bodyPr wrap="square" lIns="508" tIns="508" rIns="508" bIns="508" rtlCol="0" anchor="ctr"/>
          <a:lstStyle/>
          <a:p>
            <a:pPr algn="ctr" indent="0" marL="0">
              <a:buNone/>
            </a:pPr>
            <a:r>
              <a:rPr lang="en-US" sz="1300" dirty="0">
                <a:solidFill>
                  <a:srgbClr val="4A6478"/>
                </a:solidFill>
                <a:latin typeface="Segoe UI Semibold" pitchFamily="34" charset="0"/>
                <a:ea typeface="Segoe UI Semibold" pitchFamily="34" charset="-122"/>
                <a:cs typeface="Segoe UI Semibold" pitchFamily="34" charset="-120"/>
              </a:rPr>
              <a:t>Server</a:t>
            </a:r>
            <a:endParaRPr lang="en-US" sz="1300" dirty="0"/>
          </a:p>
        </p:txBody>
      </p:sp>
      <p:sp>
        <p:nvSpPr>
          <p:cNvPr id="44" name="Shape 40"/>
          <p:cNvSpPr/>
          <p:nvPr/>
        </p:nvSpPr>
        <p:spPr>
          <a:xfrm>
            <a:off x="10268483" y="3767328"/>
            <a:ext cx="237744" cy="237744"/>
          </a:xfrm>
          <a:prstGeom prst="ellipse">
            <a:avLst/>
          </a:prstGeom>
          <a:solidFill>
            <a:srgbClr val="0C649C"/>
          </a:solidFill>
          <a:ln w="12700">
            <a:solidFill>
              <a:srgbClr val="FFFFFF"/>
            </a:solidFill>
            <a:prstDash val="solid"/>
          </a:ln>
        </p:spPr>
      </p:sp>
      <p:sp>
        <p:nvSpPr>
          <p:cNvPr id="45" name="Text 41"/>
          <p:cNvSpPr txBox="1"/>
          <p:nvPr/>
        </p:nvSpPr>
        <p:spPr>
          <a:xfrm>
            <a:off x="6507328" y="4572000"/>
            <a:ext cx="4175608" cy="274320"/>
          </a:xfrm>
          <a:prstGeom prst="rect">
            <a:avLst/>
          </a:prstGeom>
          <a:noFill/>
          <a:ln/>
        </p:spPr>
        <p:txBody>
          <a:bodyPr wrap="square" lIns="0" tIns="0" rIns="0" bIns="0" rtlCol="0" anchor="t"/>
          <a:lstStyle/>
          <a:p>
            <a:pPr indent="0" marL="0">
              <a:buNone/>
            </a:pPr>
            <a:r>
              <a:rPr lang="en-US" sz="1300" dirty="0">
                <a:solidFill>
                  <a:srgbClr val="0B2438"/>
                </a:solidFill>
                <a:latin typeface="Segoe UI Semibold" pitchFamily="34" charset="0"/>
                <a:ea typeface="Segoe UI Semibold" pitchFamily="34" charset="-122"/>
                <a:cs typeface="Segoe UI Semibold" pitchFamily="34" charset="-120"/>
              </a:rPr>
              <a:t>Vede: </a:t>
            </a:r>
            <a:pPr indent="0" marL="0">
              <a:buNone/>
            </a:pPr>
            <a:r>
              <a:rPr lang="en-US" sz="1300" dirty="0">
                <a:solidFill>
                  <a:srgbClr val="4A6478"/>
                </a:solidFill>
                <a:latin typeface="Segoe UI" pitchFamily="34" charset="0"/>
                <a:ea typeface="Segoe UI" pitchFamily="34" charset="-122"/>
                <a:cs typeface="Segoe UI" pitchFamily="34" charset="-120"/>
              </a:rPr>
              <a:t>processi, utenti, payload decifrato</a:t>
            </a:r>
            <a:endParaRPr lang="en-US" sz="1300" dirty="0"/>
          </a:p>
        </p:txBody>
      </p:sp>
      <p:sp>
        <p:nvSpPr>
          <p:cNvPr id="46" name="Text 42"/>
          <p:cNvSpPr txBox="1"/>
          <p:nvPr/>
        </p:nvSpPr>
        <p:spPr>
          <a:xfrm>
            <a:off x="6507328" y="4892040"/>
            <a:ext cx="4175608" cy="274320"/>
          </a:xfrm>
          <a:prstGeom prst="rect">
            <a:avLst/>
          </a:prstGeom>
          <a:noFill/>
          <a:ln/>
        </p:spPr>
        <p:txBody>
          <a:bodyPr wrap="square" lIns="0" tIns="0" rIns="0" bIns="0" rtlCol="0" anchor="t"/>
          <a:lstStyle/>
          <a:p>
            <a:pPr indent="0" marL="0">
              <a:buNone/>
            </a:pPr>
            <a:r>
              <a:rPr lang="en-US" sz="1300" dirty="0">
                <a:solidFill>
                  <a:srgbClr val="4A6478"/>
                </a:solidFill>
                <a:latin typeface="Segoe UI" pitchFamily="34" charset="0"/>
                <a:ea typeface="Segoe UI" pitchFamily="34" charset="-122"/>
                <a:cs typeface="Segoe UI" pitchFamily="34" charset="-120"/>
              </a:rPr>
              <a:t>CrowdStrike · SentinelOne · Defender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Text 0"/>
          <p:cNvSpPr txBox="1"/>
          <p:nvPr/>
        </p:nvSpPr>
        <p:spPr>
          <a:xfrm>
            <a:off x="6400800" y="411480"/>
            <a:ext cx="4434840" cy="274320"/>
          </a:xfrm>
          <a:prstGeom prst="rect">
            <a:avLst/>
          </a:prstGeom>
          <a:noFill/>
          <a:ln/>
        </p:spPr>
        <p:txBody>
          <a:bodyPr wrap="square" lIns="0" tIns="0" rIns="0" bIns="0" rtlCol="0" anchor="ctr"/>
          <a:lstStyle/>
          <a:p>
            <a:pPr algn="r" indent="0" marL="0">
              <a:buNone/>
            </a:pPr>
            <a:r>
              <a:rPr lang="en-US" sz="1200" dirty="0">
                <a:solidFill>
                  <a:srgbClr val="BCD1DE"/>
                </a:solidFill>
                <a:latin typeface="Segoe UI" pitchFamily="34" charset="0"/>
                <a:ea typeface="Segoe UI" pitchFamily="34" charset="-122"/>
                <a:cs typeface="Segoe UI" pitchFamily="34" charset="-120"/>
              </a:rPr>
              <a:t>Valerio Querzoli · Unimore</a:t>
            </a:r>
            <a:endParaRPr lang="en-US" sz="1200" dirty="0"/>
          </a:p>
        </p:txBody>
      </p:sp>
      <p:sp>
        <p:nvSpPr>
          <p:cNvPr id="4" name="Shape 1"/>
          <p:cNvSpPr/>
          <p:nvPr/>
        </p:nvSpPr>
        <p:spPr>
          <a:xfrm>
            <a:off x="10972800" y="228600"/>
            <a:ext cx="667512" cy="731520"/>
          </a:xfrm>
          <a:prstGeom prst="roundRect">
            <a:avLst>
              <a:gd name="adj" fmla="val 8219"/>
            </a:avLst>
          </a:prstGeom>
          <a:solidFill>
            <a:srgbClr val="FFFFFF"/>
          </a:solidFill>
          <a:ln w="6350">
            <a:solidFill>
              <a:srgbClr val="FFFFFF"/>
            </a:solidFill>
            <a:prstDash val="solid"/>
          </a:ln>
        </p:spPr>
      </p:sp>
      <p:pic>
        <p:nvPicPr>
          <p:cNvPr id="5" name="Image 0" descr="Logo Unimore">    </p:cNvPr>
          <p:cNvPicPr>
            <a:picLocks noChangeAspect="1"/>
          </p:cNvPicPr>
          <p:nvPr/>
        </p:nvPicPr>
        <p:blipFill>
          <a:blip r:embed="rId2"/>
          <a:stretch>
            <a:fillRect/>
          </a:stretch>
        </p:blipFill>
        <p:spPr>
          <a:xfrm>
            <a:off x="11023092" y="274320"/>
            <a:ext cx="566014" cy="640080"/>
          </a:xfrm>
          <a:prstGeom prst="rect">
            <a:avLst/>
          </a:prstGeom>
        </p:spPr>
      </p:pic>
      <p:sp>
        <p:nvSpPr>
          <p:cNvPr id="6" name="Text 2"/>
          <p:cNvSpPr/>
          <p:nvPr/>
        </p:nvSpPr>
        <p:spPr>
          <a:xfrm>
            <a:off x="5154016" y="384048"/>
            <a:ext cx="1883664" cy="329184"/>
          </a:xfrm>
          <a:prstGeom prst="roundRect">
            <a:avLst>
              <a:gd name="adj" fmla="val 50000"/>
            </a:avLst>
          </a:prstGeom>
          <a:solidFill>
            <a:srgbClr val="FFFFFF">
              <a:alpha val="18000"/>
            </a:srgbClr>
          </a:solidFill>
          <a:ln w="9525">
            <a:solidFill>
              <a:srgbClr val="FFFFFF">
                <a:alpha val="50000"/>
              </a:srgbClr>
            </a:solidFill>
          </a:ln>
        </p:spPr>
        <p:txBody>
          <a:bodyPr wrap="square" lIns="0" tIns="0" rIns="0" bIns="0" rtlCol="0" anchor="ctr"/>
          <a:lstStyle/>
          <a:p>
            <a:pPr algn="ctr" indent="0" marL="0">
              <a:buNone/>
            </a:pPr>
            <a:r>
              <a:rPr lang="en-US" sz="1050" spc="150" kern="0" dirty="0">
                <a:solidFill>
                  <a:srgbClr val="FFFFFF"/>
                </a:solidFill>
                <a:latin typeface="Segoe UI Semibold" pitchFamily="34" charset="0"/>
                <a:ea typeface="Segoe UI Semibold" pitchFamily="34" charset="-122"/>
                <a:cs typeface="Segoe UI Semibold" pitchFamily="34" charset="-120"/>
              </a:rPr>
              <a:t>07 · CONCLUSIONE</a:t>
            </a:r>
            <a:endParaRPr lang="en-US" sz="1050" dirty="0"/>
          </a:p>
        </p:txBody>
      </p:sp>
      <p:sp>
        <p:nvSpPr>
          <p:cNvPr id="7" name="Text 3"/>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1000" dirty="0">
                <a:solidFill>
                  <a:srgbClr val="BCD1DE"/>
                </a:solidFill>
                <a:latin typeface="Segoe UI" pitchFamily="34" charset="0"/>
                <a:ea typeface="Segoe UI" pitchFamily="34" charset="-122"/>
                <a:cs typeface="Segoe UI" pitchFamily="34" charset="-120"/>
              </a:rPr>
              <a:t>08 / 08</a:t>
            </a:r>
            <a:endParaRPr lang="en-US" sz="1000" dirty="0"/>
          </a:p>
        </p:txBody>
      </p:sp>
      <p:sp>
        <p:nvSpPr>
          <p:cNvPr id="8" name="Text 4"/>
          <p:cNvSpPr txBox="1"/>
          <p:nvPr/>
        </p:nvSpPr>
        <p:spPr>
          <a:xfrm>
            <a:off x="822960" y="868680"/>
            <a:ext cx="10545775" cy="868680"/>
          </a:xfrm>
          <a:prstGeom prst="rect">
            <a:avLst/>
          </a:prstGeom>
          <a:noFill/>
          <a:ln/>
        </p:spPr>
        <p:txBody>
          <a:bodyPr wrap="square" lIns="0" tIns="0" rIns="0" bIns="0" rtlCol="0" anchor="ctr"/>
          <a:lstStyle/>
          <a:p>
            <a:pPr algn="ctr" indent="0" marL="0">
              <a:buNone/>
            </a:pPr>
            <a:r>
              <a:rPr lang="en-US" sz="3800" dirty="0">
                <a:solidFill>
                  <a:srgbClr val="FFFFFF"/>
                </a:solidFill>
                <a:latin typeface="Georgia" pitchFamily="34" charset="0"/>
                <a:ea typeface="Georgia" pitchFamily="34" charset="-122"/>
                <a:cs typeface="Georgia" pitchFamily="34" charset="-120"/>
              </a:rPr>
              <a:t>Zero-day, limiti e </a:t>
            </a:r>
            <a:pPr algn="ctr" indent="0" marL="0">
              <a:buNone/>
            </a:pPr>
            <a:r>
              <a:rPr lang="en-US" sz="3800" i="1" dirty="0">
                <a:solidFill>
                  <a:srgbClr val="BCD1DE"/>
                </a:solidFill>
                <a:latin typeface="Georgia" pitchFamily="34" charset="0"/>
                <a:ea typeface="Georgia" pitchFamily="34" charset="-122"/>
                <a:cs typeface="Georgia" pitchFamily="34" charset="-120"/>
              </a:rPr>
              <a:t>conclusione</a:t>
            </a:r>
            <a:endParaRPr lang="en-US" sz="3800" dirty="0"/>
          </a:p>
        </p:txBody>
      </p:sp>
      <p:sp>
        <p:nvSpPr>
          <p:cNvPr id="9" name="Text 5"/>
          <p:cNvSpPr txBox="1"/>
          <p:nvPr/>
        </p:nvSpPr>
        <p:spPr>
          <a:xfrm>
            <a:off x="822960" y="1920240"/>
            <a:ext cx="10545775" cy="237744"/>
          </a:xfrm>
          <a:prstGeom prst="rect">
            <a:avLst/>
          </a:prstGeom>
          <a:noFill/>
          <a:ln/>
        </p:spPr>
        <p:txBody>
          <a:bodyPr wrap="square" lIns="0" tIns="0" rIns="0" bIns="0" rtlCol="0" anchor="t"/>
          <a:lstStyle/>
          <a:p>
            <a:pPr algn="ctr" indent="0" marL="0">
              <a:buNone/>
            </a:pPr>
            <a:r>
              <a:rPr lang="en-US" sz="1050" spc="150" kern="0" dirty="0">
                <a:solidFill>
                  <a:srgbClr val="84B4CC"/>
                </a:solidFill>
                <a:latin typeface="Segoe UI Semibold" pitchFamily="34" charset="0"/>
                <a:ea typeface="Segoe UI Semibold" pitchFamily="34" charset="-122"/>
                <a:cs typeface="Segoe UI Semibold" pitchFamily="34" charset="-120"/>
              </a:rPr>
              <a:t>COME VIENE VISTO UNO ZERO-DAY</a:t>
            </a:r>
            <a:endParaRPr lang="en-US" sz="1050" dirty="0"/>
          </a:p>
        </p:txBody>
      </p:sp>
      <p:sp>
        <p:nvSpPr>
          <p:cNvPr id="10" name="Shape 6"/>
          <p:cNvSpPr/>
          <p:nvPr/>
        </p:nvSpPr>
        <p:spPr>
          <a:xfrm>
            <a:off x="1203808" y="2240280"/>
            <a:ext cx="4754880" cy="1005840"/>
          </a:xfrm>
          <a:prstGeom prst="roundRect">
            <a:avLst>
              <a:gd name="adj" fmla="val 18182"/>
            </a:avLst>
          </a:prstGeom>
          <a:solidFill>
            <a:srgbClr val="FFFFFF">
              <a:alpha val="14000"/>
            </a:srgbClr>
          </a:solidFill>
          <a:ln w="9525">
            <a:solidFill>
              <a:srgbClr val="FFFFFF">
                <a:alpha val="45000"/>
              </a:srgbClr>
            </a:solidFill>
            <a:prstDash val="solid"/>
          </a:ln>
        </p:spPr>
      </p:sp>
      <p:sp>
        <p:nvSpPr>
          <p:cNvPr id="11" name="Text 7"/>
          <p:cNvSpPr txBox="1"/>
          <p:nvPr/>
        </p:nvSpPr>
        <p:spPr>
          <a:xfrm>
            <a:off x="1478128" y="2240280"/>
            <a:ext cx="4206240" cy="1005840"/>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Reso visibile, non risolto</a:t>
            </a:r>
            <a:endParaRPr lang="en-US" sz="1400" dirty="0"/>
          </a:p>
          <a:p>
            <a:pPr indent="0" marL="0">
              <a:buNone/>
            </a:pPr>
            <a:r>
              <a:rPr lang="en-US" sz="1200" dirty="0">
                <a:solidFill>
                  <a:srgbClr val="BCD1DE"/>
                </a:solidFill>
                <a:latin typeface="Segoe UI" pitchFamily="34" charset="0"/>
                <a:ea typeface="Segoe UI" pitchFamily="34" charset="-122"/>
                <a:cs typeface="Segoe UI" pitchFamily="34" charset="-120"/>
              </a:rPr>
              <a:t>Diventa un allarme da verificare, non una classificazione certa.</a:t>
            </a:r>
            <a:endParaRPr lang="en-US" sz="1400" dirty="0"/>
          </a:p>
        </p:txBody>
      </p:sp>
      <p:sp>
        <p:nvSpPr>
          <p:cNvPr id="12" name="Shape 8"/>
          <p:cNvSpPr/>
          <p:nvPr/>
        </p:nvSpPr>
        <p:spPr>
          <a:xfrm>
            <a:off x="6233008" y="2240280"/>
            <a:ext cx="4754880" cy="1005840"/>
          </a:xfrm>
          <a:prstGeom prst="roundRect">
            <a:avLst>
              <a:gd name="adj" fmla="val 18182"/>
            </a:avLst>
          </a:prstGeom>
          <a:solidFill>
            <a:srgbClr val="FFFFFF">
              <a:alpha val="14000"/>
            </a:srgbClr>
          </a:solidFill>
          <a:ln w="9525">
            <a:solidFill>
              <a:srgbClr val="FFFFFF">
                <a:alpha val="45000"/>
              </a:srgbClr>
            </a:solidFill>
            <a:prstDash val="solid"/>
          </a:ln>
        </p:spPr>
      </p:sp>
      <p:sp>
        <p:nvSpPr>
          <p:cNvPr id="13" name="Text 9"/>
          <p:cNvSpPr txBox="1"/>
          <p:nvPr/>
        </p:nvSpPr>
        <p:spPr>
          <a:xfrm>
            <a:off x="6507328" y="2240280"/>
            <a:ext cx="4206240" cy="1005840"/>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Anomalia, non attacco</a:t>
            </a:r>
            <a:endParaRPr lang="en-US" sz="1400" dirty="0"/>
          </a:p>
          <a:p>
            <a:pPr indent="0" marL="0">
              <a:buNone/>
            </a:pPr>
            <a:r>
              <a:rPr lang="en-US" sz="1200" dirty="0">
                <a:solidFill>
                  <a:srgbClr val="BCD1DE"/>
                </a:solidFill>
                <a:latin typeface="Segoe UI" pitchFamily="34" charset="0"/>
                <a:ea typeface="Segoe UI" pitchFamily="34" charset="-122"/>
                <a:cs typeface="Segoe UI" pitchFamily="34" charset="-120"/>
              </a:rPr>
              <a:t>Anche traffico legittimo mai visto fa scattare l'allarme.</a:t>
            </a:r>
            <a:endParaRPr lang="en-US" sz="1400" dirty="0"/>
          </a:p>
        </p:txBody>
      </p:sp>
      <p:sp>
        <p:nvSpPr>
          <p:cNvPr id="14" name="Text 10"/>
          <p:cNvSpPr txBox="1"/>
          <p:nvPr/>
        </p:nvSpPr>
        <p:spPr>
          <a:xfrm>
            <a:off x="822960" y="3429000"/>
            <a:ext cx="10545775" cy="237744"/>
          </a:xfrm>
          <a:prstGeom prst="rect">
            <a:avLst/>
          </a:prstGeom>
          <a:noFill/>
          <a:ln/>
        </p:spPr>
        <p:txBody>
          <a:bodyPr wrap="square" lIns="0" tIns="0" rIns="0" bIns="0" rtlCol="0" anchor="t"/>
          <a:lstStyle/>
          <a:p>
            <a:pPr algn="ctr" indent="0" marL="0">
              <a:buNone/>
            </a:pPr>
            <a:r>
              <a:rPr lang="en-US" sz="1050" spc="150" kern="0" dirty="0">
                <a:solidFill>
                  <a:srgbClr val="84B4CC"/>
                </a:solidFill>
                <a:latin typeface="Segoe UI Semibold" pitchFamily="34" charset="0"/>
                <a:ea typeface="Segoe UI Semibold" pitchFamily="34" charset="-122"/>
                <a:cs typeface="Segoe UI Semibold" pitchFamily="34" charset="-120"/>
              </a:rPr>
              <a:t>LIMITI</a:t>
            </a:r>
            <a:endParaRPr lang="en-US" sz="1050" dirty="0"/>
          </a:p>
        </p:txBody>
      </p:sp>
      <p:sp>
        <p:nvSpPr>
          <p:cNvPr id="15" name="Text 11"/>
          <p:cNvSpPr txBox="1"/>
          <p:nvPr/>
        </p:nvSpPr>
        <p:spPr>
          <a:xfrm>
            <a:off x="822960" y="3675888"/>
            <a:ext cx="10545775" cy="640080"/>
          </a:xfrm>
          <a:prstGeom prst="rect">
            <a:avLst/>
          </a:prstGeom>
          <a:noFill/>
          <a:ln/>
        </p:spPr>
        <p:txBody>
          <a:bodyPr wrap="square" lIns="0" tIns="0" rIns="0" bIns="0" rtlCol="0" anchor="t"/>
          <a:lstStyle/>
          <a:p>
            <a:pPr algn="ctr" indent="0" marL="0">
              <a:buNone/>
            </a:pPr>
            <a:r>
              <a:rPr lang="en-US" sz="1400" dirty="0">
                <a:solidFill>
                  <a:srgbClr val="FFFFFF"/>
                </a:solidFill>
                <a:latin typeface="Segoe UI" pitchFamily="34" charset="0"/>
                <a:ea typeface="Segoe UI" pitchFamily="34" charset="-122"/>
                <a:cs typeface="Segoe UI" pitchFamily="34" charset="-120"/>
              </a:rPr>
              <a:t>Trasferimento tra reti · un flusso alla volta (niente pattern nel tempo) · solo livello di rete</a:t>
            </a:r>
            <a:endParaRPr lang="en-US" sz="1400" dirty="0"/>
          </a:p>
          <a:p>
            <a:pPr algn="ctr" indent="0" marL="0">
              <a:buNone/>
            </a:pPr>
            <a:r>
              <a:rPr lang="en-US" sz="1200" dirty="0">
                <a:solidFill>
                  <a:srgbClr val="FFFFFF"/>
                </a:solidFill>
                <a:latin typeface="Segoe UI" pitchFamily="34" charset="0"/>
                <a:ea typeface="Segoe UI" pitchFamily="34" charset="-122"/>
                <a:cs typeface="Segoe UI" pitchFamily="34" charset="-120"/>
              </a:rPr>
              <a:t>Split casuale: numeri in-dominio ottimistici · stime affidabili solo sui DoS (Infiltration 7 casi, Heartbleed 1)</a:t>
            </a:r>
            <a:endParaRPr lang="en-US" sz="1400" dirty="0"/>
          </a:p>
        </p:txBody>
      </p:sp>
      <p:sp>
        <p:nvSpPr>
          <p:cNvPr id="16" name="Text 12"/>
          <p:cNvSpPr txBox="1"/>
          <p:nvPr/>
        </p:nvSpPr>
        <p:spPr>
          <a:xfrm>
            <a:off x="1280160" y="4206240"/>
            <a:ext cx="9631375" cy="1188720"/>
          </a:xfrm>
          <a:prstGeom prst="rect">
            <a:avLst/>
          </a:prstGeom>
          <a:noFill/>
          <a:ln/>
        </p:spPr>
        <p:txBody>
          <a:bodyPr wrap="square" lIns="0" tIns="0" rIns="0" bIns="0" rtlCol="0" anchor="ctr"/>
          <a:lstStyle/>
          <a:p>
            <a:pPr algn="ctr" indent="0" marL="0">
              <a:buNone/>
            </a:pPr>
            <a:r>
              <a:rPr lang="en-US" sz="2600" dirty="0">
                <a:solidFill>
                  <a:srgbClr val="FFFFFF"/>
                </a:solidFill>
                <a:latin typeface="Georgia" pitchFamily="34" charset="0"/>
                <a:ea typeface="Georgia" pitchFamily="34" charset="-122"/>
                <a:cs typeface="Georgia" pitchFamily="34" charset="-120"/>
              </a:rPr>
              <a:t>Un secondo livello non sostituisce il classificatore: recupera minacce specifiche che il classificatore manca, a un costo di falsi allarmi misurato.</a:t>
            </a:r>
            <a:endParaRPr lang="en-US" sz="2600" dirty="0"/>
          </a:p>
        </p:txBody>
      </p:sp>
      <p:sp>
        <p:nvSpPr>
          <p:cNvPr id="17" name="Text 13"/>
          <p:cNvSpPr/>
          <p:nvPr/>
        </p:nvSpPr>
        <p:spPr>
          <a:xfrm>
            <a:off x="4769968" y="5715000"/>
            <a:ext cx="2651760" cy="457200"/>
          </a:xfrm>
          <a:prstGeom prst="roundRect">
            <a:avLst>
              <a:gd name="adj" fmla="val 50000"/>
            </a:avLst>
          </a:prstGeom>
          <a:solidFill>
            <a:srgbClr val="FFFFFF"/>
          </a:solidFill>
          <a:ln w="9525">
            <a:solidFill>
              <a:srgbClr val="FFFFFF"/>
            </a:solidFill>
          </a:ln>
        </p:spPr>
        <p:txBody>
          <a:bodyPr wrap="square" lIns="0" tIns="0" rIns="0" bIns="0" rtlCol="0" anchor="ctr"/>
          <a:lstStyle/>
          <a:p>
            <a:pPr algn="ctr" indent="0" marL="0">
              <a:buNone/>
            </a:pPr>
            <a:r>
              <a:rPr lang="en-US" sz="1300" dirty="0">
                <a:solidFill>
                  <a:srgbClr val="045991"/>
                </a:solidFill>
                <a:latin typeface="Segoe UI Semibold" pitchFamily="34" charset="0"/>
                <a:ea typeface="Segoe UI Semibold" pitchFamily="34" charset="-122"/>
                <a:cs typeface="Segoe UI Semibold" pitchFamily="34" charset="-120"/>
              </a:rPr>
              <a:t>Grazie — domande? →</a:t>
            </a:r>
            <a:endParaRPr lang="en-US" sz="1300" dirty="0"/>
          </a:p>
        </p:txBody>
      </p:sp>
      <p:sp>
        <p:nvSpPr>
          <p:cNvPr id="18" name="TextBox 17"/>
          <p:cNvSpPr txBox="1"/>
          <p:nvPr/>
        </p:nvSpPr>
        <p:spPr>
          <a:xfrm>
            <a:off x="822960" y="5422392"/>
            <a:ext cx="10543032" cy="274320"/>
          </a:xfrm>
          <a:prstGeom prst="rect">
            <a:avLst/>
          </a:prstGeom>
          <a:noFill/>
        </p:spPr>
        <p:txBody>
          <a:bodyPr wrap="square" lIns="0" rIns="0" tIns="0" bIns="0" anchor="ctr">
            <a:spAutoFit/>
          </a:bodyPr>
          <a:lstStyle/>
          <a:p>
            <a:pPr algn="ctr"/>
            <a:r>
              <a:rPr sz="1200" b="0" i="0">
                <a:solidFill>
                  <a:srgbClr val="BCD1DE"/>
                </a:solidFill>
                <a:latin typeface="Segoe UI"/>
              </a:rPr>
              <a:t>Sviluppo futuro: affiancare un EDR (agente sull’host: processi, utenti, payload decifrato)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 IDS ibrido per il traffico di rete</dc:title>
  <dc:subject>PptxGenJS Presentation</dc:subject>
  <dc:creator>PptxGenJS</dc:creator>
  <cp:lastModifiedBy>PptxGenJS</cp:lastModifiedBy>
  <cp:revision>1</cp:revision>
  <dcterms:created xsi:type="dcterms:W3CDTF">2026-10-08T08:44:45Z</dcterms:created>
  <dcterms:modified xsi:type="dcterms:W3CDTF">2026-10-08T08:44:45Z</dcterms:modified>
</cp:coreProperties>
</file>