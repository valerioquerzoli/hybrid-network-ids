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7"/>
    <p:sldId id="260" r:id="rId6"/>
    <p:sldId id="261" r:id="rId5"/>
    <p:sldId id="262" r:id="rId4"/>
    <p:sldId id="263" r:id="rId3"/>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un IDS, un sistema che riconosce attacchi guardando il traffico di rete.
Il problema di partenza: un classificatore supervisionato riconosce solo gli attacchi che ha già visto in addestramento. Un attacco nuovo, uno zero-day, rischia di passare in silenzio.
Obiettivi: primo, riconoscere bene gli attacchi noti. Secondo, aggiungere un livello che segnali anche quelli mai visti. Terzo, misurare onestamente quanto aiuta questo secondo livello, anche dove non funziona.
Non voglio dimostrare che una rete neurale batte gli alberi: voglio capire dove aggiunge sicurezza.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image-1.png"/><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3"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4"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5" name="Text 2"/>
          <p:cNvSpPr/>
          <p:nvPr/>
        </p:nvSpPr>
        <p:spPr>
          <a:xfrm>
            <a:off x="4765396" y="384048"/>
            <a:ext cx="2660904"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PROJECT-WORK · CORSO AI/CV</a:t>
            </a:r>
            <a:endParaRPr lang="en-US" sz="1050" dirty="0"/>
          </a:p>
        </p:txBody>
      </p:sp>
      <p:sp>
        <p:nvSpPr>
          <p:cNvPr id="6" name="Text 3"/>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1000" dirty="0">
                <a:solidFill>
                  <a:srgbClr val="BCD1DE"/>
                </a:solidFill>
                <a:latin typeface="Segoe UI" pitchFamily="34" charset="0"/>
                <a:ea typeface="Segoe UI" pitchFamily="34" charset="-122"/>
                <a:cs typeface="Segoe UI" pitchFamily="34" charset="-120"/>
              </a:rPr>
              <a:t>01 / 08</a:t>
            </a:r>
            <a:endParaRPr lang="en-US" sz="1000" dirty="0"/>
          </a:p>
        </p:txBody>
      </p:sp>
      <p:sp>
        <p:nvSpPr>
          <p:cNvPr id="8" name="Text 4"/>
          <p:cNvSpPr txBox="1"/>
          <p:nvPr/>
        </p:nvSpPr>
        <p:spPr>
          <a:xfrm>
            <a:off x="822960" y="1005840"/>
            <a:ext cx="10545775" cy="1143000"/>
          </a:xfrm>
          <a:prstGeom prst="rect">
            <a:avLst/>
          </a:prstGeom>
          <a:noFill/>
          <a:ln/>
        </p:spPr>
        <p:txBody>
          <a:bodyPr wrap="square" lIns="0" tIns="0" rIns="0" bIns="0" rtlCol="0" anchor="ctr"/>
          <a:lstStyle/>
          <a:p>
            <a:pPr algn="ctr" indent="0" marL="0">
              <a:buNone/>
            </a:pPr>
            <a:r>
              <a:rPr lang="en-US" sz="5000" dirty="0">
                <a:solidFill>
                  <a:srgbClr val="FFFFFF"/>
                </a:solidFill>
                <a:latin typeface="Georgia" pitchFamily="34" charset="0"/>
                <a:ea typeface="Georgia" pitchFamily="34" charset="-122"/>
                <a:cs typeface="Georgia" pitchFamily="34" charset="-120"/>
              </a:rPr>
              <a:t>Un IDS </a:t>
            </a:r>
            <a:pPr algn="ctr" indent="0" marL="0">
              <a:buNone/>
            </a:pPr>
            <a:r>
              <a:rPr lang="en-US" sz="5000" i="1" dirty="0">
                <a:solidFill>
                  <a:srgbClr val="BCD1DE"/>
                </a:solidFill>
                <a:latin typeface="Georgia" pitchFamily="34" charset="0"/>
                <a:ea typeface="Georgia" pitchFamily="34" charset="-122"/>
                <a:cs typeface="Georgia" pitchFamily="34" charset="-120"/>
              </a:rPr>
              <a:t>ibrido</a:t>
            </a:r>
            <a:pPr algn="ctr" indent="0" marL="0">
              <a:buNone/>
            </a:pPr>
            <a:r>
              <a:rPr lang="en-US" sz="5000" dirty="0">
                <a:solidFill>
                  <a:srgbClr val="FFFFFF"/>
                </a:solidFill>
                <a:latin typeface="Georgia" pitchFamily="34" charset="0"/>
                <a:ea typeface="Georgia" pitchFamily="34" charset="-122"/>
                <a:cs typeface="Georgia" pitchFamily="34" charset="-120"/>
              </a:rPr>
              <a:t> per il traffico di rete</a:t>
            </a:r>
            <a:endParaRPr lang="en-US" sz="5000" dirty="0"/>
          </a:p>
        </p:txBody>
      </p:sp>
      <p:sp>
        <p:nvSpPr>
          <p:cNvPr id="9" name="Text 5"/>
          <p:cNvSpPr txBox="1"/>
          <p:nvPr/>
        </p:nvSpPr>
        <p:spPr>
          <a:xfrm>
            <a:off x="822960" y="2240280"/>
            <a:ext cx="10545775" cy="411480"/>
          </a:xfrm>
          <a:prstGeom prst="rect">
            <a:avLst/>
          </a:prstGeom>
          <a:noFill/>
          <a:ln/>
        </p:spPr>
        <p:txBody>
          <a:bodyPr wrap="square" lIns="0" tIns="0" rIns="0" bIns="0" rtlCol="0" anchor="t"/>
          <a:lstStyle/>
          <a:p>
            <a:pPr algn="ctr" indent="0" marL="0">
              <a:buNone/>
            </a:pPr>
            <a:r>
              <a:rPr lang="en-US" sz="2000" dirty="0">
                <a:solidFill>
                  <a:srgbClr val="BCD1DE"/>
                </a:solidFill>
                <a:latin typeface="Segoe UI Light" pitchFamily="34" charset="0"/>
                <a:ea typeface="Segoe UI Light" pitchFamily="34" charset="-122"/>
                <a:cs typeface="Segoe UI Light" pitchFamily="34" charset="-120"/>
              </a:rPr>
              <a:t>Classificazione supervisionata + autoencoder</a:t>
            </a:r>
            <a:endParaRPr lang="en-US" sz="2000" dirty="0"/>
          </a:p>
        </p:txBody>
      </p:sp>
      <p:sp>
        <p:nvSpPr>
          <p:cNvPr id="10" name="Text 6"/>
          <p:cNvSpPr txBox="1"/>
          <p:nvPr/>
        </p:nvSpPr>
        <p:spPr>
          <a:xfrm>
            <a:off x="822960" y="3063240"/>
            <a:ext cx="10545775" cy="237744"/>
          </a:xfrm>
          <a:prstGeom prst="rect">
            <a:avLst/>
          </a:prstGeom>
          <a:noFill/>
          <a:ln/>
        </p:spPr>
        <p:txBody>
          <a:bodyPr wrap="square" lIns="0" tIns="0" rIns="0" bIns="0" rtlCol="0" anchor="t"/>
          <a:lstStyle/>
          <a:p>
            <a:pPr algn="ctr" indent="0" marL="0">
              <a:buNone/>
            </a:pPr>
            <a:r>
              <a:rPr lang="en-US" sz="1050" spc="150" kern="0" dirty="0">
                <a:solidFill>
                  <a:srgbClr val="84B4CC"/>
                </a:solidFill>
                <a:latin typeface="Segoe UI Semibold" pitchFamily="34" charset="0"/>
                <a:ea typeface="Segoe UI Semibold" pitchFamily="34" charset="-122"/>
                <a:cs typeface="Segoe UI Semibold" pitchFamily="34" charset="-120"/>
              </a:rPr>
              <a:t>IL PROBLEMA</a:t>
            </a:r>
            <a:endParaRPr lang="en-US" sz="1050" dirty="0"/>
          </a:p>
        </p:txBody>
      </p:sp>
      <p:sp>
        <p:nvSpPr>
          <p:cNvPr id="11" name="Text 7"/>
          <p:cNvSpPr txBox="1"/>
          <p:nvPr/>
        </p:nvSpPr>
        <p:spPr>
          <a:xfrm>
            <a:off x="822960" y="3337560"/>
            <a:ext cx="10545775" cy="457200"/>
          </a:xfrm>
          <a:prstGeom prst="rect">
            <a:avLst/>
          </a:prstGeom>
          <a:noFill/>
          <a:ln/>
        </p:spPr>
        <p:txBody>
          <a:bodyPr wrap="square" lIns="0" tIns="0" rIns="0" bIns="0" rtlCol="0" anchor="t"/>
          <a:lstStyle/>
          <a:p>
            <a:pPr algn="ctr" indent="0" marL="0">
              <a:buNone/>
            </a:pPr>
            <a:r>
              <a:rPr lang="en-US" sz="2200" i="1" dirty="0">
                <a:solidFill>
                  <a:srgbClr val="FFFFFF"/>
                </a:solidFill>
                <a:latin typeface="Georgia" pitchFamily="34" charset="0"/>
                <a:ea typeface="Georgia" pitchFamily="34" charset="-122"/>
                <a:cs typeface="Georgia" pitchFamily="34" charset="-120"/>
              </a:rPr>
              <a:t>Un classificatore riconosce solo gli attacchi che ha già visto.</a:t>
            </a:r>
            <a:endParaRPr lang="en-US" sz="2200" dirty="0"/>
          </a:p>
        </p:txBody>
      </p:sp>
      <p:sp>
        <p:nvSpPr>
          <p:cNvPr id="12" name="Text 8"/>
          <p:cNvSpPr txBox="1"/>
          <p:nvPr/>
        </p:nvSpPr>
        <p:spPr>
          <a:xfrm>
            <a:off x="822960" y="4251960"/>
            <a:ext cx="10545775" cy="237744"/>
          </a:xfrm>
          <a:prstGeom prst="rect">
            <a:avLst/>
          </a:prstGeom>
          <a:noFill/>
          <a:ln/>
        </p:spPr>
        <p:txBody>
          <a:bodyPr wrap="square" lIns="0" tIns="0" rIns="0" bIns="0" rtlCol="0" anchor="t"/>
          <a:lstStyle/>
          <a:p>
            <a:pPr algn="ctr" indent="0" marL="0">
              <a:buNone/>
            </a:pPr>
            <a:r>
              <a:rPr lang="en-US" sz="1050" spc="150" kern="0" dirty="0">
                <a:solidFill>
                  <a:srgbClr val="84B4CC"/>
                </a:solidFill>
                <a:latin typeface="Segoe UI Semibold" pitchFamily="34" charset="0"/>
                <a:ea typeface="Segoe UI Semibold" pitchFamily="34" charset="-122"/>
                <a:cs typeface="Segoe UI Semibold" pitchFamily="34" charset="-120"/>
              </a:rPr>
              <a:t>OBIETTIVI</a:t>
            </a:r>
            <a:endParaRPr lang="en-US" sz="1050" dirty="0"/>
          </a:p>
        </p:txBody>
      </p:sp>
      <p:sp>
        <p:nvSpPr>
          <p:cNvPr id="13" name="Shape 9"/>
          <p:cNvSpPr/>
          <p:nvPr/>
        </p:nvSpPr>
        <p:spPr>
          <a:xfrm>
            <a:off x="952348" y="4572000"/>
            <a:ext cx="3246120" cy="1325880"/>
          </a:xfrm>
          <a:prstGeom prst="roundRect">
            <a:avLst>
              <a:gd name="adj" fmla="val 13793"/>
            </a:avLst>
          </a:prstGeom>
          <a:solidFill>
            <a:srgbClr val="FFFFFF">
              <a:alpha val="14000"/>
            </a:srgbClr>
          </a:solidFill>
          <a:ln w="9525">
            <a:solidFill>
              <a:srgbClr val="FFFFFF">
                <a:alpha val="45000"/>
              </a:srgbClr>
            </a:solidFill>
            <a:prstDash val="solid"/>
          </a:ln>
        </p:spPr>
      </p:sp>
      <p:sp>
        <p:nvSpPr>
          <p:cNvPr id="14" name="Text 10"/>
          <p:cNvSpPr txBox="1"/>
          <p:nvPr/>
        </p:nvSpPr>
        <p:spPr>
          <a:xfrm>
            <a:off x="1226668" y="4572000"/>
            <a:ext cx="548640" cy="1325880"/>
          </a:xfrm>
          <a:prstGeom prst="rect">
            <a:avLst/>
          </a:prstGeom>
          <a:noFill/>
          <a:ln/>
        </p:spPr>
        <p:txBody>
          <a:bodyPr wrap="square" lIns="0" tIns="0" rIns="0" bIns="0" rtlCol="0" anchor="ctr"/>
          <a:lstStyle/>
          <a:p>
            <a:pPr indent="0" marL="0">
              <a:buNone/>
            </a:pPr>
            <a:r>
              <a:rPr lang="en-US" sz="3400" i="1" dirty="0">
                <a:solidFill>
                  <a:srgbClr val="BCD1DE"/>
                </a:solidFill>
                <a:latin typeface="Georgia" pitchFamily="34" charset="0"/>
                <a:ea typeface="Georgia" pitchFamily="34" charset="-122"/>
                <a:cs typeface="Georgia" pitchFamily="34" charset="-120"/>
              </a:rPr>
              <a:t>1</a:t>
            </a:r>
            <a:endParaRPr lang="en-US" sz="3400" dirty="0"/>
          </a:p>
        </p:txBody>
      </p:sp>
      <p:sp>
        <p:nvSpPr>
          <p:cNvPr id="15" name="Text 11"/>
          <p:cNvSpPr txBox="1"/>
          <p:nvPr/>
        </p:nvSpPr>
        <p:spPr>
          <a:xfrm>
            <a:off x="1821028" y="4572000"/>
            <a:ext cx="2148840" cy="13258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Riconoscere gli attacchi noti</a:t>
            </a:r>
            <a:endParaRPr lang="en-US" sz="1400" dirty="0"/>
          </a:p>
        </p:txBody>
      </p:sp>
      <p:sp>
        <p:nvSpPr>
          <p:cNvPr id="16" name="Shape 12"/>
          <p:cNvSpPr/>
          <p:nvPr/>
        </p:nvSpPr>
        <p:spPr>
          <a:xfrm>
            <a:off x="4472788" y="4572000"/>
            <a:ext cx="3246120" cy="1325880"/>
          </a:xfrm>
          <a:prstGeom prst="roundRect">
            <a:avLst>
              <a:gd name="adj" fmla="val 13793"/>
            </a:avLst>
          </a:prstGeom>
          <a:solidFill>
            <a:srgbClr val="FFFFFF">
              <a:alpha val="14000"/>
            </a:srgbClr>
          </a:solidFill>
          <a:ln w="9525">
            <a:solidFill>
              <a:srgbClr val="FFFFFF">
                <a:alpha val="45000"/>
              </a:srgbClr>
            </a:solidFill>
            <a:prstDash val="solid"/>
          </a:ln>
        </p:spPr>
      </p:sp>
      <p:sp>
        <p:nvSpPr>
          <p:cNvPr id="17" name="Text 13"/>
          <p:cNvSpPr txBox="1"/>
          <p:nvPr/>
        </p:nvSpPr>
        <p:spPr>
          <a:xfrm>
            <a:off x="4747108" y="4572000"/>
            <a:ext cx="548640" cy="1325880"/>
          </a:xfrm>
          <a:prstGeom prst="rect">
            <a:avLst/>
          </a:prstGeom>
          <a:noFill/>
          <a:ln/>
        </p:spPr>
        <p:txBody>
          <a:bodyPr wrap="square" lIns="0" tIns="0" rIns="0" bIns="0" rtlCol="0" anchor="ctr"/>
          <a:lstStyle/>
          <a:p>
            <a:pPr indent="0" marL="0">
              <a:buNone/>
            </a:pPr>
            <a:r>
              <a:rPr lang="en-US" sz="3400" i="1" dirty="0">
                <a:solidFill>
                  <a:srgbClr val="BCD1DE"/>
                </a:solidFill>
                <a:latin typeface="Georgia" pitchFamily="34" charset="0"/>
                <a:ea typeface="Georgia" pitchFamily="34" charset="-122"/>
                <a:cs typeface="Georgia" pitchFamily="34" charset="-120"/>
              </a:rPr>
              <a:t>2</a:t>
            </a:r>
            <a:endParaRPr lang="en-US" sz="3400" dirty="0"/>
          </a:p>
        </p:txBody>
      </p:sp>
      <p:sp>
        <p:nvSpPr>
          <p:cNvPr id="18" name="Text 14"/>
          <p:cNvSpPr txBox="1"/>
          <p:nvPr/>
        </p:nvSpPr>
        <p:spPr>
          <a:xfrm>
            <a:off x="5341468" y="4572000"/>
            <a:ext cx="2148840" cy="13258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Segnalare quelli mai visti</a:t>
            </a:r>
            <a:endParaRPr lang="en-US" sz="1400" dirty="0"/>
          </a:p>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(zero-day)</a:t>
            </a:r>
            <a:endParaRPr lang="en-US" sz="1400" dirty="0"/>
          </a:p>
        </p:txBody>
      </p:sp>
      <p:sp>
        <p:nvSpPr>
          <p:cNvPr id="19" name="Shape 15"/>
          <p:cNvSpPr/>
          <p:nvPr/>
        </p:nvSpPr>
        <p:spPr>
          <a:xfrm>
            <a:off x="7993228" y="4572000"/>
            <a:ext cx="3246120" cy="1325880"/>
          </a:xfrm>
          <a:prstGeom prst="roundRect">
            <a:avLst>
              <a:gd name="adj" fmla="val 13793"/>
            </a:avLst>
          </a:prstGeom>
          <a:solidFill>
            <a:srgbClr val="FFFFFF">
              <a:alpha val="14000"/>
            </a:srgbClr>
          </a:solidFill>
          <a:ln w="9525">
            <a:solidFill>
              <a:srgbClr val="FFFFFF">
                <a:alpha val="45000"/>
              </a:srgbClr>
            </a:solidFill>
            <a:prstDash val="solid"/>
          </a:ln>
        </p:spPr>
      </p:sp>
      <p:sp>
        <p:nvSpPr>
          <p:cNvPr id="20" name="Text 16"/>
          <p:cNvSpPr txBox="1"/>
          <p:nvPr/>
        </p:nvSpPr>
        <p:spPr>
          <a:xfrm>
            <a:off x="8267548" y="4572000"/>
            <a:ext cx="548640" cy="1325880"/>
          </a:xfrm>
          <a:prstGeom prst="rect">
            <a:avLst/>
          </a:prstGeom>
          <a:noFill/>
          <a:ln/>
        </p:spPr>
        <p:txBody>
          <a:bodyPr wrap="square" lIns="0" tIns="0" rIns="0" bIns="0" rtlCol="0" anchor="ctr"/>
          <a:lstStyle/>
          <a:p>
            <a:pPr indent="0" marL="0">
              <a:buNone/>
            </a:pPr>
            <a:r>
              <a:rPr lang="en-US" sz="3400" i="1" dirty="0">
                <a:solidFill>
                  <a:srgbClr val="BCD1DE"/>
                </a:solidFill>
                <a:latin typeface="Georgia" pitchFamily="34" charset="0"/>
                <a:ea typeface="Georgia" pitchFamily="34" charset="-122"/>
                <a:cs typeface="Georgia" pitchFamily="34" charset="-120"/>
              </a:rPr>
              <a:t>3</a:t>
            </a:r>
            <a:endParaRPr lang="en-US" sz="3400" dirty="0"/>
          </a:p>
        </p:txBody>
      </p:sp>
      <p:sp>
        <p:nvSpPr>
          <p:cNvPr id="21" name="Text 17"/>
          <p:cNvSpPr txBox="1"/>
          <p:nvPr/>
        </p:nvSpPr>
        <p:spPr>
          <a:xfrm>
            <a:off x="8861908" y="4572000"/>
            <a:ext cx="2148840" cy="13258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Misurare onestamente quanto aiuta il secondo livello</a:t>
            </a:r>
            <a:endParaRPr lang="en-US" sz="14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426310" y="384048"/>
            <a:ext cx="1339380"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01 · DATI</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Dati: CIC-IDS2017 e </a:t>
            </a:r>
            <a:r>
              <a:rPr sz="3400" b="0" i="1">
                <a:solidFill>
                  <a:srgbClr val="BCD1DE"/>
                </a:solidFill>
                <a:latin typeface="Georgia"/>
              </a:rPr>
              <a:t>pulizia</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02 / 08</a:t>
            </a:r>
          </a:p>
        </p:txBody>
      </p:sp>
      <p:sp>
        <p:nvSpPr>
          <p:cNvPr id="11" name="TextBox 106"/>
          <p:cNvSpPr txBox="1"/>
          <p:nvPr/>
        </p:nvSpPr>
        <p:spPr>
          <a:xfrm>
            <a:off x="1234440" y="2157984"/>
            <a:ext cx="5486400" cy="237744"/>
          </a:xfrm>
          <a:prstGeom prst="rect">
            <a:avLst/>
          </a:prstGeom>
          <a:noFill/>
        </p:spPr>
        <p:txBody>
          <a:bodyPr wrap="square" lIns="0" rIns="0" tIns="0" bIns="0" anchor="t">
            <a:spAutoFit/>
          </a:bodyPr>
          <a:lstStyle/>
          <a:p>
            <a:pPr algn="l"/>
            <a:r>
              <a:rPr sz="1050" b="0" i="0" spc="100">
                <a:solidFill>
                  <a:srgbClr val="4A6478"/>
                </a:solidFill>
                <a:latin typeface="Segoe UI Semibold"/>
              </a:rPr>
              <a:t>UN FLUSSO = UNA RIGA DI NUMERI</a:t>
            </a:r>
          </a:p>
        </p:txBody>
      </p:sp>
      <p:sp>
        <p:nvSpPr>
          <p:cNvPr id="12" name="Rounded Rectangle 107"/>
          <p:cNvSpPr/>
          <p:nvPr/>
        </p:nvSpPr>
        <p:spPr>
          <a:xfrm>
            <a:off x="1234440" y="2432304"/>
            <a:ext cx="1527048" cy="329184"/>
          </a:xfrm>
          <a:prstGeom prst="roundRect">
            <a:avLst>
              <a:gd name="adj" fmla="val 50000"/>
            </a:avLst>
          </a:prstGeom>
          <a:solidFill>
            <a:srgbClr val="0C649C"/>
          </a:solidFill>
          <a:ln w="9525">
            <a:solidFill>
              <a:srgbClr val="0C64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08"/>
          <p:cNvSpPr txBox="1"/>
          <p:nvPr/>
        </p:nvSpPr>
        <p:spPr>
          <a:xfrm>
            <a:off x="1234440" y="2432304"/>
            <a:ext cx="1527048" cy="329184"/>
          </a:xfrm>
          <a:prstGeom prst="rect">
            <a:avLst/>
          </a:prstGeom>
          <a:noFill/>
        </p:spPr>
        <p:txBody>
          <a:bodyPr wrap="square" lIns="0" rIns="0" tIns="0" bIns="0" anchor="ctr">
            <a:spAutoFit/>
          </a:bodyPr>
          <a:lstStyle/>
          <a:p>
            <a:pPr algn="ctr"/>
            <a:r>
              <a:rPr sz="1050" b="1" i="0">
                <a:solidFill>
                  <a:srgbClr val="FFFFFF"/>
                </a:solidFill>
                <a:latin typeface="Segoe UI"/>
              </a:rPr>
              <a:t>CICFlowMeter →</a:t>
            </a:r>
          </a:p>
        </p:txBody>
      </p:sp>
      <p:sp>
        <p:nvSpPr>
          <p:cNvPr id="14" name="Rounded Rectangle 109"/>
          <p:cNvSpPr/>
          <p:nvPr/>
        </p:nvSpPr>
        <p:spPr>
          <a:xfrm>
            <a:off x="2962656" y="2432304"/>
            <a:ext cx="813816"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10"/>
          <p:cNvSpPr txBox="1"/>
          <p:nvPr/>
        </p:nvSpPr>
        <p:spPr>
          <a:xfrm>
            <a:off x="2962656" y="2432304"/>
            <a:ext cx="813816" cy="329184"/>
          </a:xfrm>
          <a:prstGeom prst="rect">
            <a:avLst/>
          </a:prstGeom>
          <a:noFill/>
        </p:spPr>
        <p:txBody>
          <a:bodyPr wrap="square" lIns="0" rIns="0" tIns="0" bIns="0" anchor="ctr">
            <a:spAutoFit/>
          </a:bodyPr>
          <a:lstStyle/>
          <a:p>
            <a:pPr algn="ctr"/>
            <a:r>
              <a:rPr sz="1050" b="0" i="0">
                <a:solidFill>
                  <a:srgbClr val="0B2438"/>
                </a:solidFill>
                <a:latin typeface="Segoe UI"/>
              </a:rPr>
              <a:t>durata</a:t>
            </a:r>
          </a:p>
        </p:txBody>
      </p:sp>
      <p:sp>
        <p:nvSpPr>
          <p:cNvPr id="16" name="Rounded Rectangle 111"/>
          <p:cNvSpPr/>
          <p:nvPr/>
        </p:nvSpPr>
        <p:spPr>
          <a:xfrm>
            <a:off x="3858768" y="2432304"/>
            <a:ext cx="813816"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12"/>
          <p:cNvSpPr txBox="1"/>
          <p:nvPr/>
        </p:nvSpPr>
        <p:spPr>
          <a:xfrm>
            <a:off x="3858768" y="2432304"/>
            <a:ext cx="813816" cy="329184"/>
          </a:xfrm>
          <a:prstGeom prst="rect">
            <a:avLst/>
          </a:prstGeom>
          <a:noFill/>
        </p:spPr>
        <p:txBody>
          <a:bodyPr wrap="square" lIns="0" rIns="0" tIns="0" bIns="0" anchor="ctr">
            <a:spAutoFit/>
          </a:bodyPr>
          <a:lstStyle/>
          <a:p>
            <a:pPr algn="ctr"/>
            <a:r>
              <a:rPr sz="1050" b="0" i="0">
                <a:solidFill>
                  <a:srgbClr val="0B2438"/>
                </a:solidFill>
                <a:latin typeface="Segoe UI"/>
              </a:rPr>
              <a:t>byte →</a:t>
            </a:r>
          </a:p>
        </p:txBody>
      </p:sp>
      <p:sp>
        <p:nvSpPr>
          <p:cNvPr id="18" name="Rounded Rectangle 113"/>
          <p:cNvSpPr/>
          <p:nvPr/>
        </p:nvSpPr>
        <p:spPr>
          <a:xfrm>
            <a:off x="4754880" y="2432304"/>
            <a:ext cx="813816"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14"/>
          <p:cNvSpPr txBox="1"/>
          <p:nvPr/>
        </p:nvSpPr>
        <p:spPr>
          <a:xfrm>
            <a:off x="4754880" y="2432304"/>
            <a:ext cx="813816" cy="329184"/>
          </a:xfrm>
          <a:prstGeom prst="rect">
            <a:avLst/>
          </a:prstGeom>
          <a:noFill/>
        </p:spPr>
        <p:txBody>
          <a:bodyPr wrap="square" lIns="0" rIns="0" tIns="0" bIns="0" anchor="ctr">
            <a:spAutoFit/>
          </a:bodyPr>
          <a:lstStyle/>
          <a:p>
            <a:pPr algn="ctr"/>
            <a:r>
              <a:rPr sz="1050" b="0" i="0">
                <a:solidFill>
                  <a:srgbClr val="0B2438"/>
                </a:solidFill>
                <a:latin typeface="Segoe UI"/>
              </a:rPr>
              <a:t>byte ←</a:t>
            </a:r>
          </a:p>
        </p:txBody>
      </p:sp>
      <p:sp>
        <p:nvSpPr>
          <p:cNvPr id="20" name="Rounded Rectangle 115"/>
          <p:cNvSpPr/>
          <p:nvPr/>
        </p:nvSpPr>
        <p:spPr>
          <a:xfrm>
            <a:off x="5650992" y="2432304"/>
            <a:ext cx="1824228"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116"/>
          <p:cNvSpPr txBox="1"/>
          <p:nvPr/>
        </p:nvSpPr>
        <p:spPr>
          <a:xfrm>
            <a:off x="5650992" y="2432304"/>
            <a:ext cx="1824228" cy="329184"/>
          </a:xfrm>
          <a:prstGeom prst="rect">
            <a:avLst/>
          </a:prstGeom>
          <a:noFill/>
        </p:spPr>
        <p:txBody>
          <a:bodyPr wrap="square" lIns="0" rIns="0" tIns="0" bIns="0" anchor="ctr">
            <a:spAutoFit/>
          </a:bodyPr>
          <a:lstStyle/>
          <a:p>
            <a:pPr algn="ctr"/>
            <a:r>
              <a:rPr sz="1050" b="0" i="0">
                <a:solidFill>
                  <a:srgbClr val="0B2438"/>
                </a:solidFill>
                <a:latin typeface="Segoe UI"/>
              </a:rPr>
              <a:t>tempo tra pacchetti</a:t>
            </a:r>
          </a:p>
        </p:txBody>
      </p:sp>
      <p:sp>
        <p:nvSpPr>
          <p:cNvPr id="22" name="Rounded Rectangle 117"/>
          <p:cNvSpPr/>
          <p:nvPr/>
        </p:nvSpPr>
        <p:spPr>
          <a:xfrm>
            <a:off x="7557516" y="2432304"/>
            <a:ext cx="969264"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118"/>
          <p:cNvSpPr txBox="1"/>
          <p:nvPr/>
        </p:nvSpPr>
        <p:spPr>
          <a:xfrm>
            <a:off x="7557516" y="2432304"/>
            <a:ext cx="969264" cy="329184"/>
          </a:xfrm>
          <a:prstGeom prst="rect">
            <a:avLst/>
          </a:prstGeom>
          <a:noFill/>
        </p:spPr>
        <p:txBody>
          <a:bodyPr wrap="square" lIns="0" rIns="0" tIns="0" bIns="0" anchor="ctr">
            <a:spAutoFit/>
          </a:bodyPr>
          <a:lstStyle/>
          <a:p>
            <a:pPr algn="ctr"/>
            <a:r>
              <a:rPr sz="1050" b="0" i="0">
                <a:solidFill>
                  <a:srgbClr val="0B2438"/>
                </a:solidFill>
                <a:latin typeface="Segoe UI"/>
              </a:rPr>
              <a:t>flag SYN</a:t>
            </a:r>
          </a:p>
        </p:txBody>
      </p:sp>
      <p:sp>
        <p:nvSpPr>
          <p:cNvPr id="24" name="Rounded Rectangle 119"/>
          <p:cNvSpPr/>
          <p:nvPr/>
        </p:nvSpPr>
        <p:spPr>
          <a:xfrm>
            <a:off x="8609076" y="2432304"/>
            <a:ext cx="425196"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120"/>
          <p:cNvSpPr txBox="1"/>
          <p:nvPr/>
        </p:nvSpPr>
        <p:spPr>
          <a:xfrm>
            <a:off x="8609076" y="2432304"/>
            <a:ext cx="425196" cy="329184"/>
          </a:xfrm>
          <a:prstGeom prst="rect">
            <a:avLst/>
          </a:prstGeom>
          <a:noFill/>
        </p:spPr>
        <p:txBody>
          <a:bodyPr wrap="square" lIns="0" rIns="0" tIns="0" bIns="0" anchor="ctr">
            <a:spAutoFit/>
          </a:bodyPr>
          <a:lstStyle/>
          <a:p>
            <a:pPr algn="ctr"/>
            <a:r>
              <a:rPr sz="1050" b="0" i="0">
                <a:solidFill>
                  <a:srgbClr val="0B2438"/>
                </a:solidFill>
                <a:latin typeface="Segoe UI"/>
              </a:rPr>
              <a:t>…</a:t>
            </a:r>
          </a:p>
        </p:txBody>
      </p:sp>
      <p:sp>
        <p:nvSpPr>
          <p:cNvPr id="26" name="Rounded Rectangle 121"/>
          <p:cNvSpPr/>
          <p:nvPr/>
        </p:nvSpPr>
        <p:spPr>
          <a:xfrm>
            <a:off x="9116568" y="2432304"/>
            <a:ext cx="1046988" cy="329184"/>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122"/>
          <p:cNvSpPr txBox="1"/>
          <p:nvPr/>
        </p:nvSpPr>
        <p:spPr>
          <a:xfrm>
            <a:off x="9116568" y="2432304"/>
            <a:ext cx="1046988" cy="329184"/>
          </a:xfrm>
          <a:prstGeom prst="rect">
            <a:avLst/>
          </a:prstGeom>
          <a:noFill/>
        </p:spPr>
        <p:txBody>
          <a:bodyPr wrap="square" lIns="0" rIns="0" tIns="0" bIns="0" anchor="ctr">
            <a:spAutoFit/>
          </a:bodyPr>
          <a:lstStyle/>
          <a:p>
            <a:pPr algn="ctr"/>
            <a:r>
              <a:rPr sz="1050" b="1" i="0">
                <a:solidFill>
                  <a:srgbClr val="0C649C"/>
                </a:solidFill>
                <a:latin typeface="Segoe UI"/>
              </a:rPr>
              <a:t>etichetta</a:t>
            </a:r>
          </a:p>
        </p:txBody>
      </p:sp>
      <p:sp>
        <p:nvSpPr>
          <p:cNvPr id="28" name="TextBox 123"/>
          <p:cNvSpPr txBox="1"/>
          <p:nvPr/>
        </p:nvSpPr>
        <p:spPr>
          <a:xfrm>
            <a:off x="1234440" y="2971800"/>
            <a:ext cx="5669280" cy="237744"/>
          </a:xfrm>
          <a:prstGeom prst="rect">
            <a:avLst/>
          </a:prstGeom>
          <a:noFill/>
        </p:spPr>
        <p:txBody>
          <a:bodyPr wrap="square" lIns="0" rIns="0" tIns="0" bIns="0" anchor="t">
            <a:spAutoFit/>
          </a:bodyPr>
          <a:lstStyle/>
          <a:p>
            <a:pPr algn="l"/>
            <a:r>
              <a:rPr sz="1050" b="0" i="0" spc="100">
                <a:solidFill>
                  <a:srgbClr val="4A6478"/>
                </a:solidFill>
                <a:latin typeface="Segoe UI Semibold"/>
              </a:rPr>
              <a:t>FLUSSI PER CLASSE · SCALA LOGARITMICA</a:t>
            </a:r>
          </a:p>
        </p:txBody>
      </p:sp>
      <p:sp>
        <p:nvSpPr>
          <p:cNvPr id="29" name="TextBox 124"/>
          <p:cNvSpPr txBox="1"/>
          <p:nvPr/>
        </p:nvSpPr>
        <p:spPr>
          <a:xfrm>
            <a:off x="1234440" y="3255264"/>
            <a:ext cx="1920240" cy="187452"/>
          </a:xfrm>
          <a:prstGeom prst="rect">
            <a:avLst/>
          </a:prstGeom>
          <a:noFill/>
        </p:spPr>
        <p:txBody>
          <a:bodyPr wrap="square" lIns="0" rIns="0" tIns="0" bIns="0" anchor="ctr">
            <a:spAutoFit/>
          </a:bodyPr>
          <a:lstStyle/>
          <a:p>
            <a:pPr algn="r"/>
            <a:r>
              <a:rPr sz="900" b="0" i="0">
                <a:solidFill>
                  <a:srgbClr val="0B2438"/>
                </a:solidFill>
                <a:latin typeface="Segoe UI"/>
              </a:rPr>
              <a:t>Benign</a:t>
            </a:r>
          </a:p>
        </p:txBody>
      </p:sp>
      <p:sp>
        <p:nvSpPr>
          <p:cNvPr id="30" name="Rectangle 125"/>
          <p:cNvSpPr/>
          <p:nvPr/>
        </p:nvSpPr>
        <p:spPr>
          <a:xfrm>
            <a:off x="3246120" y="3287268"/>
            <a:ext cx="2741043" cy="12344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126"/>
          <p:cNvSpPr txBox="1"/>
          <p:nvPr/>
        </p:nvSpPr>
        <p:spPr>
          <a:xfrm>
            <a:off x="6042027" y="3255264"/>
            <a:ext cx="914400" cy="187452"/>
          </a:xfrm>
          <a:prstGeom prst="rect">
            <a:avLst/>
          </a:prstGeom>
          <a:noFill/>
        </p:spPr>
        <p:txBody>
          <a:bodyPr wrap="square" lIns="0" rIns="0" tIns="0" bIns="0" anchor="ctr">
            <a:spAutoFit/>
          </a:bodyPr>
          <a:lstStyle/>
          <a:p>
            <a:pPr algn="l"/>
            <a:r>
              <a:rPr sz="850" b="0" i="0">
                <a:solidFill>
                  <a:srgbClr val="4A6478"/>
                </a:solidFill>
                <a:latin typeface="Segoe UI"/>
              </a:rPr>
              <a:t>1.977.318</a:t>
            </a:r>
          </a:p>
        </p:txBody>
      </p:sp>
      <p:sp>
        <p:nvSpPr>
          <p:cNvPr id="32" name="TextBox 127"/>
          <p:cNvSpPr txBox="1"/>
          <p:nvPr/>
        </p:nvSpPr>
        <p:spPr>
          <a:xfrm>
            <a:off x="1234440" y="3442716"/>
            <a:ext cx="1920240" cy="187452"/>
          </a:xfrm>
          <a:prstGeom prst="rect">
            <a:avLst/>
          </a:prstGeom>
          <a:noFill/>
        </p:spPr>
        <p:txBody>
          <a:bodyPr wrap="square" lIns="0" rIns="0" tIns="0" bIns="0" anchor="ctr">
            <a:spAutoFit/>
          </a:bodyPr>
          <a:lstStyle/>
          <a:p>
            <a:pPr algn="r"/>
            <a:r>
              <a:rPr sz="900" b="0" i="0">
                <a:solidFill>
                  <a:srgbClr val="0B2438"/>
                </a:solidFill>
                <a:latin typeface="Segoe UI"/>
              </a:rPr>
              <a:t>DoS Hulk</a:t>
            </a:r>
          </a:p>
        </p:txBody>
      </p:sp>
      <p:sp>
        <p:nvSpPr>
          <p:cNvPr id="33" name="Rectangle 128"/>
          <p:cNvSpPr/>
          <p:nvPr/>
        </p:nvSpPr>
        <p:spPr>
          <a:xfrm>
            <a:off x="3246120" y="3474720"/>
            <a:ext cx="2280254"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129"/>
          <p:cNvSpPr txBox="1"/>
          <p:nvPr/>
        </p:nvSpPr>
        <p:spPr>
          <a:xfrm>
            <a:off x="5581238" y="3442716"/>
            <a:ext cx="914400" cy="187452"/>
          </a:xfrm>
          <a:prstGeom prst="rect">
            <a:avLst/>
          </a:prstGeom>
          <a:noFill/>
        </p:spPr>
        <p:txBody>
          <a:bodyPr wrap="square" lIns="0" rIns="0" tIns="0" bIns="0" anchor="ctr">
            <a:spAutoFit/>
          </a:bodyPr>
          <a:lstStyle/>
          <a:p>
            <a:pPr algn="l"/>
            <a:r>
              <a:rPr sz="850" b="0" i="0">
                <a:solidFill>
                  <a:srgbClr val="4A6478"/>
                </a:solidFill>
                <a:latin typeface="Segoe UI"/>
              </a:rPr>
              <a:t>172.846</a:t>
            </a:r>
          </a:p>
        </p:txBody>
      </p:sp>
      <p:sp>
        <p:nvSpPr>
          <p:cNvPr id="35" name="TextBox 130"/>
          <p:cNvSpPr txBox="1"/>
          <p:nvPr/>
        </p:nvSpPr>
        <p:spPr>
          <a:xfrm>
            <a:off x="1234440" y="3630168"/>
            <a:ext cx="1920240" cy="187452"/>
          </a:xfrm>
          <a:prstGeom prst="rect">
            <a:avLst/>
          </a:prstGeom>
          <a:noFill/>
        </p:spPr>
        <p:txBody>
          <a:bodyPr wrap="square" lIns="0" rIns="0" tIns="0" bIns="0" anchor="ctr">
            <a:spAutoFit/>
          </a:bodyPr>
          <a:lstStyle/>
          <a:p>
            <a:pPr algn="r"/>
            <a:r>
              <a:rPr sz="900" b="0" i="0">
                <a:solidFill>
                  <a:srgbClr val="0B2438"/>
                </a:solidFill>
                <a:latin typeface="Segoe UI"/>
              </a:rPr>
              <a:t>DDoS</a:t>
            </a:r>
          </a:p>
        </p:txBody>
      </p:sp>
      <p:sp>
        <p:nvSpPr>
          <p:cNvPr id="36" name="Rectangle 131"/>
          <p:cNvSpPr/>
          <p:nvPr/>
        </p:nvSpPr>
        <p:spPr>
          <a:xfrm>
            <a:off x="3246120" y="3662172"/>
            <a:ext cx="2223482"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132"/>
          <p:cNvSpPr txBox="1"/>
          <p:nvPr/>
        </p:nvSpPr>
        <p:spPr>
          <a:xfrm>
            <a:off x="5524466" y="3630168"/>
            <a:ext cx="914400" cy="187452"/>
          </a:xfrm>
          <a:prstGeom prst="rect">
            <a:avLst/>
          </a:prstGeom>
          <a:noFill/>
        </p:spPr>
        <p:txBody>
          <a:bodyPr wrap="square" lIns="0" rIns="0" tIns="0" bIns="0" anchor="ctr">
            <a:spAutoFit/>
          </a:bodyPr>
          <a:lstStyle/>
          <a:p>
            <a:pPr algn="l"/>
            <a:r>
              <a:rPr sz="850" b="0" i="0">
                <a:solidFill>
                  <a:srgbClr val="4A6478"/>
                </a:solidFill>
                <a:latin typeface="Segoe UI"/>
              </a:rPr>
              <a:t>128.014</a:t>
            </a:r>
          </a:p>
        </p:txBody>
      </p:sp>
      <p:sp>
        <p:nvSpPr>
          <p:cNvPr id="38" name="TextBox 133"/>
          <p:cNvSpPr txBox="1"/>
          <p:nvPr/>
        </p:nvSpPr>
        <p:spPr>
          <a:xfrm>
            <a:off x="1234440" y="3817620"/>
            <a:ext cx="1920240" cy="187452"/>
          </a:xfrm>
          <a:prstGeom prst="rect">
            <a:avLst/>
          </a:prstGeom>
          <a:noFill/>
        </p:spPr>
        <p:txBody>
          <a:bodyPr wrap="square" lIns="0" rIns="0" tIns="0" bIns="0" anchor="ctr">
            <a:spAutoFit/>
          </a:bodyPr>
          <a:lstStyle/>
          <a:p>
            <a:pPr algn="r"/>
            <a:r>
              <a:rPr sz="900" b="0" i="0">
                <a:solidFill>
                  <a:srgbClr val="0B2438"/>
                </a:solidFill>
                <a:latin typeface="Segoe UI"/>
              </a:rPr>
              <a:t>DoS GoldenEye</a:t>
            </a:r>
          </a:p>
        </p:txBody>
      </p:sp>
      <p:sp>
        <p:nvSpPr>
          <p:cNvPr id="39" name="Rectangle 134"/>
          <p:cNvSpPr/>
          <p:nvPr/>
        </p:nvSpPr>
        <p:spPr>
          <a:xfrm>
            <a:off x="3246120" y="3849624"/>
            <a:ext cx="1746761"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135"/>
          <p:cNvSpPr txBox="1"/>
          <p:nvPr/>
        </p:nvSpPr>
        <p:spPr>
          <a:xfrm>
            <a:off x="5047745" y="3817620"/>
            <a:ext cx="914400" cy="187452"/>
          </a:xfrm>
          <a:prstGeom prst="rect">
            <a:avLst/>
          </a:prstGeom>
          <a:noFill/>
        </p:spPr>
        <p:txBody>
          <a:bodyPr wrap="square" lIns="0" rIns="0" tIns="0" bIns="0" anchor="ctr">
            <a:spAutoFit/>
          </a:bodyPr>
          <a:lstStyle/>
          <a:p>
            <a:pPr algn="l"/>
            <a:r>
              <a:rPr sz="850" b="0" i="0">
                <a:solidFill>
                  <a:srgbClr val="4A6478"/>
                </a:solidFill>
                <a:latin typeface="Segoe UI"/>
              </a:rPr>
              <a:t>10.286</a:t>
            </a:r>
          </a:p>
        </p:txBody>
      </p:sp>
      <p:sp>
        <p:nvSpPr>
          <p:cNvPr id="41" name="TextBox 136"/>
          <p:cNvSpPr txBox="1"/>
          <p:nvPr/>
        </p:nvSpPr>
        <p:spPr>
          <a:xfrm>
            <a:off x="1234440" y="4005072"/>
            <a:ext cx="1920240" cy="187452"/>
          </a:xfrm>
          <a:prstGeom prst="rect">
            <a:avLst/>
          </a:prstGeom>
          <a:noFill/>
        </p:spPr>
        <p:txBody>
          <a:bodyPr wrap="square" lIns="0" rIns="0" tIns="0" bIns="0" anchor="ctr">
            <a:spAutoFit/>
          </a:bodyPr>
          <a:lstStyle/>
          <a:p>
            <a:pPr algn="r"/>
            <a:r>
              <a:rPr sz="900" b="0" i="0">
                <a:solidFill>
                  <a:srgbClr val="0B2438"/>
                </a:solidFill>
                <a:latin typeface="Segoe UI"/>
              </a:rPr>
              <a:t>FTP-Patator</a:t>
            </a:r>
          </a:p>
        </p:txBody>
      </p:sp>
      <p:sp>
        <p:nvSpPr>
          <p:cNvPr id="42" name="Rectangle 137"/>
          <p:cNvSpPr/>
          <p:nvPr/>
        </p:nvSpPr>
        <p:spPr>
          <a:xfrm>
            <a:off x="3246120" y="4037076"/>
            <a:ext cx="1642659"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138"/>
          <p:cNvSpPr txBox="1"/>
          <p:nvPr/>
        </p:nvSpPr>
        <p:spPr>
          <a:xfrm>
            <a:off x="4943643" y="4005072"/>
            <a:ext cx="914400" cy="187452"/>
          </a:xfrm>
          <a:prstGeom prst="rect">
            <a:avLst/>
          </a:prstGeom>
          <a:noFill/>
        </p:spPr>
        <p:txBody>
          <a:bodyPr wrap="square" lIns="0" rIns="0" tIns="0" bIns="0" anchor="ctr">
            <a:spAutoFit/>
          </a:bodyPr>
          <a:lstStyle/>
          <a:p>
            <a:pPr algn="l"/>
            <a:r>
              <a:rPr sz="850" b="0" i="0">
                <a:solidFill>
                  <a:srgbClr val="4A6478"/>
                </a:solidFill>
                <a:latin typeface="Segoe UI"/>
              </a:rPr>
              <a:t>5.931</a:t>
            </a:r>
          </a:p>
        </p:txBody>
      </p:sp>
      <p:sp>
        <p:nvSpPr>
          <p:cNvPr id="44" name="TextBox 139"/>
          <p:cNvSpPr txBox="1"/>
          <p:nvPr/>
        </p:nvSpPr>
        <p:spPr>
          <a:xfrm>
            <a:off x="1234440" y="4192524"/>
            <a:ext cx="1920240" cy="187452"/>
          </a:xfrm>
          <a:prstGeom prst="rect">
            <a:avLst/>
          </a:prstGeom>
          <a:noFill/>
        </p:spPr>
        <p:txBody>
          <a:bodyPr wrap="square" lIns="0" rIns="0" tIns="0" bIns="0" anchor="ctr">
            <a:spAutoFit/>
          </a:bodyPr>
          <a:lstStyle/>
          <a:p>
            <a:pPr algn="r"/>
            <a:r>
              <a:rPr sz="900" b="0" i="0">
                <a:solidFill>
                  <a:srgbClr val="0B2438"/>
                </a:solidFill>
                <a:latin typeface="Segoe UI"/>
              </a:rPr>
              <a:t>DoS slowloris</a:t>
            </a:r>
          </a:p>
        </p:txBody>
      </p:sp>
      <p:sp>
        <p:nvSpPr>
          <p:cNvPr id="45" name="Rectangle 140"/>
          <p:cNvSpPr/>
          <p:nvPr/>
        </p:nvSpPr>
        <p:spPr>
          <a:xfrm>
            <a:off x="3246120" y="4224528"/>
            <a:ext cx="1624399"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141"/>
          <p:cNvSpPr txBox="1"/>
          <p:nvPr/>
        </p:nvSpPr>
        <p:spPr>
          <a:xfrm>
            <a:off x="4925383" y="4192524"/>
            <a:ext cx="914400" cy="187452"/>
          </a:xfrm>
          <a:prstGeom prst="rect">
            <a:avLst/>
          </a:prstGeom>
          <a:noFill/>
        </p:spPr>
        <p:txBody>
          <a:bodyPr wrap="square" lIns="0" rIns="0" tIns="0" bIns="0" anchor="ctr">
            <a:spAutoFit/>
          </a:bodyPr>
          <a:lstStyle/>
          <a:p>
            <a:pPr algn="l"/>
            <a:r>
              <a:rPr sz="850" b="0" i="0">
                <a:solidFill>
                  <a:srgbClr val="4A6478"/>
                </a:solidFill>
                <a:latin typeface="Segoe UI"/>
              </a:rPr>
              <a:t>5.385</a:t>
            </a:r>
          </a:p>
        </p:txBody>
      </p:sp>
      <p:sp>
        <p:nvSpPr>
          <p:cNvPr id="47" name="TextBox 142"/>
          <p:cNvSpPr txBox="1"/>
          <p:nvPr/>
        </p:nvSpPr>
        <p:spPr>
          <a:xfrm>
            <a:off x="1234440" y="4379976"/>
            <a:ext cx="1920240" cy="187452"/>
          </a:xfrm>
          <a:prstGeom prst="rect">
            <a:avLst/>
          </a:prstGeom>
          <a:noFill/>
        </p:spPr>
        <p:txBody>
          <a:bodyPr wrap="square" lIns="0" rIns="0" tIns="0" bIns="0" anchor="ctr">
            <a:spAutoFit/>
          </a:bodyPr>
          <a:lstStyle/>
          <a:p>
            <a:pPr algn="r"/>
            <a:r>
              <a:rPr sz="900" b="0" i="0">
                <a:solidFill>
                  <a:srgbClr val="0B2438"/>
                </a:solidFill>
                <a:latin typeface="Segoe UI"/>
              </a:rPr>
              <a:t>DoS Slowhttptest</a:t>
            </a:r>
          </a:p>
        </p:txBody>
      </p:sp>
      <p:sp>
        <p:nvSpPr>
          <p:cNvPr id="48" name="Rectangle 143"/>
          <p:cNvSpPr/>
          <p:nvPr/>
        </p:nvSpPr>
        <p:spPr>
          <a:xfrm>
            <a:off x="3246120" y="4411980"/>
            <a:ext cx="1618805"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144"/>
          <p:cNvSpPr txBox="1"/>
          <p:nvPr/>
        </p:nvSpPr>
        <p:spPr>
          <a:xfrm>
            <a:off x="4919789" y="4379976"/>
            <a:ext cx="914400" cy="187452"/>
          </a:xfrm>
          <a:prstGeom prst="rect">
            <a:avLst/>
          </a:prstGeom>
          <a:noFill/>
        </p:spPr>
        <p:txBody>
          <a:bodyPr wrap="square" lIns="0" rIns="0" tIns="0" bIns="0" anchor="ctr">
            <a:spAutoFit/>
          </a:bodyPr>
          <a:lstStyle/>
          <a:p>
            <a:pPr algn="l"/>
            <a:r>
              <a:rPr sz="850" b="0" i="0">
                <a:solidFill>
                  <a:srgbClr val="4A6478"/>
                </a:solidFill>
                <a:latin typeface="Segoe UI"/>
              </a:rPr>
              <a:t>5.228</a:t>
            </a:r>
          </a:p>
        </p:txBody>
      </p:sp>
      <p:sp>
        <p:nvSpPr>
          <p:cNvPr id="50" name="TextBox 145"/>
          <p:cNvSpPr txBox="1"/>
          <p:nvPr/>
        </p:nvSpPr>
        <p:spPr>
          <a:xfrm>
            <a:off x="1234440" y="4567428"/>
            <a:ext cx="1920240" cy="187452"/>
          </a:xfrm>
          <a:prstGeom prst="rect">
            <a:avLst/>
          </a:prstGeom>
          <a:noFill/>
        </p:spPr>
        <p:txBody>
          <a:bodyPr wrap="square" lIns="0" rIns="0" tIns="0" bIns="0" anchor="ctr">
            <a:spAutoFit/>
          </a:bodyPr>
          <a:lstStyle/>
          <a:p>
            <a:pPr algn="r"/>
            <a:r>
              <a:rPr sz="900" b="0" i="0">
                <a:solidFill>
                  <a:srgbClr val="0B2438"/>
                </a:solidFill>
                <a:latin typeface="Segoe UI"/>
              </a:rPr>
              <a:t>SSH-Patator</a:t>
            </a:r>
          </a:p>
        </p:txBody>
      </p:sp>
      <p:sp>
        <p:nvSpPr>
          <p:cNvPr id="51" name="Rectangle 146"/>
          <p:cNvSpPr/>
          <p:nvPr/>
        </p:nvSpPr>
        <p:spPr>
          <a:xfrm>
            <a:off x="3246120" y="4599432"/>
            <a:ext cx="1527112"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147"/>
          <p:cNvSpPr txBox="1"/>
          <p:nvPr/>
        </p:nvSpPr>
        <p:spPr>
          <a:xfrm>
            <a:off x="4828096" y="4567428"/>
            <a:ext cx="914400" cy="187452"/>
          </a:xfrm>
          <a:prstGeom prst="rect">
            <a:avLst/>
          </a:prstGeom>
          <a:noFill/>
        </p:spPr>
        <p:txBody>
          <a:bodyPr wrap="square" lIns="0" rIns="0" tIns="0" bIns="0" anchor="ctr">
            <a:spAutoFit/>
          </a:bodyPr>
          <a:lstStyle/>
          <a:p>
            <a:pPr algn="l"/>
            <a:r>
              <a:rPr sz="850" b="0" i="0">
                <a:solidFill>
                  <a:srgbClr val="4A6478"/>
                </a:solidFill>
                <a:latin typeface="Segoe UI"/>
              </a:rPr>
              <a:t>3.219</a:t>
            </a:r>
          </a:p>
        </p:txBody>
      </p:sp>
      <p:sp>
        <p:nvSpPr>
          <p:cNvPr id="53" name="TextBox 148"/>
          <p:cNvSpPr txBox="1"/>
          <p:nvPr/>
        </p:nvSpPr>
        <p:spPr>
          <a:xfrm>
            <a:off x="1234440" y="4754880"/>
            <a:ext cx="1920240" cy="187452"/>
          </a:xfrm>
          <a:prstGeom prst="rect">
            <a:avLst/>
          </a:prstGeom>
          <a:noFill/>
        </p:spPr>
        <p:txBody>
          <a:bodyPr wrap="square" lIns="0" rIns="0" tIns="0" bIns="0" anchor="ctr">
            <a:spAutoFit/>
          </a:bodyPr>
          <a:lstStyle/>
          <a:p>
            <a:pPr algn="r"/>
            <a:r>
              <a:rPr sz="900" b="0" i="0">
                <a:solidFill>
                  <a:srgbClr val="0B2438"/>
                </a:solidFill>
                <a:latin typeface="Segoe UI"/>
              </a:rPr>
              <a:t>PortScan</a:t>
            </a:r>
          </a:p>
        </p:txBody>
      </p:sp>
      <p:sp>
        <p:nvSpPr>
          <p:cNvPr id="54" name="Rectangle 149"/>
          <p:cNvSpPr/>
          <p:nvPr/>
        </p:nvSpPr>
        <p:spPr>
          <a:xfrm>
            <a:off x="3246120" y="4786884"/>
            <a:ext cx="1432922"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150"/>
          <p:cNvSpPr txBox="1"/>
          <p:nvPr/>
        </p:nvSpPr>
        <p:spPr>
          <a:xfrm>
            <a:off x="4733906" y="4754880"/>
            <a:ext cx="914400" cy="187452"/>
          </a:xfrm>
          <a:prstGeom prst="rect">
            <a:avLst/>
          </a:prstGeom>
          <a:noFill/>
        </p:spPr>
        <p:txBody>
          <a:bodyPr wrap="square" lIns="0" rIns="0" tIns="0" bIns="0" anchor="ctr">
            <a:spAutoFit/>
          </a:bodyPr>
          <a:lstStyle/>
          <a:p>
            <a:pPr algn="l"/>
            <a:r>
              <a:rPr sz="850" b="0" i="0">
                <a:solidFill>
                  <a:srgbClr val="4A6478"/>
                </a:solidFill>
                <a:latin typeface="Segoe UI"/>
              </a:rPr>
              <a:t>1.956</a:t>
            </a:r>
          </a:p>
        </p:txBody>
      </p:sp>
      <p:sp>
        <p:nvSpPr>
          <p:cNvPr id="56" name="TextBox 151"/>
          <p:cNvSpPr txBox="1"/>
          <p:nvPr/>
        </p:nvSpPr>
        <p:spPr>
          <a:xfrm>
            <a:off x="1234440" y="4942332"/>
            <a:ext cx="1920240" cy="187452"/>
          </a:xfrm>
          <a:prstGeom prst="rect">
            <a:avLst/>
          </a:prstGeom>
          <a:noFill/>
        </p:spPr>
        <p:txBody>
          <a:bodyPr wrap="square" lIns="0" rIns="0" tIns="0" bIns="0" anchor="ctr">
            <a:spAutoFit/>
          </a:bodyPr>
          <a:lstStyle/>
          <a:p>
            <a:pPr algn="r"/>
            <a:r>
              <a:rPr sz="900" b="0" i="0">
                <a:solidFill>
                  <a:srgbClr val="0B2438"/>
                </a:solidFill>
                <a:latin typeface="Segoe UI"/>
              </a:rPr>
              <a:t>Web Attack - Brute Force</a:t>
            </a:r>
          </a:p>
        </p:txBody>
      </p:sp>
      <p:sp>
        <p:nvSpPr>
          <p:cNvPr id="57" name="Rectangle 152"/>
          <p:cNvSpPr/>
          <p:nvPr/>
        </p:nvSpPr>
        <p:spPr>
          <a:xfrm>
            <a:off x="3246120" y="4974336"/>
            <a:ext cx="1378915"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153"/>
          <p:cNvSpPr txBox="1"/>
          <p:nvPr/>
        </p:nvSpPr>
        <p:spPr>
          <a:xfrm>
            <a:off x="4679899" y="4942332"/>
            <a:ext cx="914400" cy="187452"/>
          </a:xfrm>
          <a:prstGeom prst="rect">
            <a:avLst/>
          </a:prstGeom>
          <a:noFill/>
        </p:spPr>
        <p:txBody>
          <a:bodyPr wrap="square" lIns="0" rIns="0" tIns="0" bIns="0" anchor="ctr">
            <a:spAutoFit/>
          </a:bodyPr>
          <a:lstStyle/>
          <a:p>
            <a:pPr algn="l"/>
            <a:r>
              <a:rPr sz="850" b="0" i="0">
                <a:solidFill>
                  <a:srgbClr val="4A6478"/>
                </a:solidFill>
                <a:latin typeface="Segoe UI"/>
              </a:rPr>
              <a:t>1.470</a:t>
            </a:r>
          </a:p>
        </p:txBody>
      </p:sp>
      <p:sp>
        <p:nvSpPr>
          <p:cNvPr id="59" name="TextBox 154"/>
          <p:cNvSpPr txBox="1"/>
          <p:nvPr/>
        </p:nvSpPr>
        <p:spPr>
          <a:xfrm>
            <a:off x="1234440" y="5129784"/>
            <a:ext cx="1920240" cy="187452"/>
          </a:xfrm>
          <a:prstGeom prst="rect">
            <a:avLst/>
          </a:prstGeom>
          <a:noFill/>
        </p:spPr>
        <p:txBody>
          <a:bodyPr wrap="square" lIns="0" rIns="0" tIns="0" bIns="0" anchor="ctr">
            <a:spAutoFit/>
          </a:bodyPr>
          <a:lstStyle/>
          <a:p>
            <a:pPr algn="r"/>
            <a:r>
              <a:rPr sz="900" b="0" i="0">
                <a:solidFill>
                  <a:srgbClr val="0B2438"/>
                </a:solidFill>
                <a:latin typeface="Segoe UI"/>
              </a:rPr>
              <a:t>Bot</a:t>
            </a:r>
          </a:p>
        </p:txBody>
      </p:sp>
      <p:sp>
        <p:nvSpPr>
          <p:cNvPr id="60" name="Rectangle 155"/>
          <p:cNvSpPr/>
          <p:nvPr/>
        </p:nvSpPr>
        <p:spPr>
          <a:xfrm>
            <a:off x="3246120" y="5161788"/>
            <a:ext cx="1374622"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156"/>
          <p:cNvSpPr txBox="1"/>
          <p:nvPr/>
        </p:nvSpPr>
        <p:spPr>
          <a:xfrm>
            <a:off x="4675606" y="5129784"/>
            <a:ext cx="914400" cy="187452"/>
          </a:xfrm>
          <a:prstGeom prst="rect">
            <a:avLst/>
          </a:prstGeom>
          <a:noFill/>
        </p:spPr>
        <p:txBody>
          <a:bodyPr wrap="square" lIns="0" rIns="0" tIns="0" bIns="0" anchor="ctr">
            <a:spAutoFit/>
          </a:bodyPr>
          <a:lstStyle/>
          <a:p>
            <a:pPr algn="l"/>
            <a:r>
              <a:rPr sz="850" b="0" i="0">
                <a:solidFill>
                  <a:srgbClr val="4A6478"/>
                </a:solidFill>
                <a:latin typeface="Segoe UI"/>
              </a:rPr>
              <a:t>1.437</a:t>
            </a:r>
          </a:p>
        </p:txBody>
      </p:sp>
      <p:sp>
        <p:nvSpPr>
          <p:cNvPr id="62" name="TextBox 157"/>
          <p:cNvSpPr txBox="1"/>
          <p:nvPr/>
        </p:nvSpPr>
        <p:spPr>
          <a:xfrm>
            <a:off x="1234440" y="5317236"/>
            <a:ext cx="1920240" cy="187452"/>
          </a:xfrm>
          <a:prstGeom prst="rect">
            <a:avLst/>
          </a:prstGeom>
          <a:noFill/>
        </p:spPr>
        <p:txBody>
          <a:bodyPr wrap="square" lIns="0" rIns="0" tIns="0" bIns="0" anchor="ctr">
            <a:spAutoFit/>
          </a:bodyPr>
          <a:lstStyle/>
          <a:p>
            <a:pPr algn="r"/>
            <a:r>
              <a:rPr sz="900" b="0" i="0">
                <a:solidFill>
                  <a:srgbClr val="0B2438"/>
                </a:solidFill>
                <a:latin typeface="Segoe UI"/>
              </a:rPr>
              <a:t>Web Attack - XSS</a:t>
            </a:r>
          </a:p>
        </p:txBody>
      </p:sp>
      <p:sp>
        <p:nvSpPr>
          <p:cNvPr id="63" name="Rectangle 158"/>
          <p:cNvSpPr/>
          <p:nvPr/>
        </p:nvSpPr>
        <p:spPr>
          <a:xfrm>
            <a:off x="3246120" y="5349240"/>
            <a:ext cx="1225204" cy="12344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159"/>
          <p:cNvSpPr txBox="1"/>
          <p:nvPr/>
        </p:nvSpPr>
        <p:spPr>
          <a:xfrm>
            <a:off x="4526188" y="5317236"/>
            <a:ext cx="914400" cy="187452"/>
          </a:xfrm>
          <a:prstGeom prst="rect">
            <a:avLst/>
          </a:prstGeom>
          <a:noFill/>
        </p:spPr>
        <p:txBody>
          <a:bodyPr wrap="square" lIns="0" rIns="0" tIns="0" bIns="0" anchor="ctr">
            <a:spAutoFit/>
          </a:bodyPr>
          <a:lstStyle/>
          <a:p>
            <a:pPr algn="l"/>
            <a:r>
              <a:rPr sz="850" b="0" i="0">
                <a:solidFill>
                  <a:srgbClr val="4A6478"/>
                </a:solidFill>
                <a:latin typeface="Segoe UI"/>
              </a:rPr>
              <a:t>652</a:t>
            </a:r>
          </a:p>
        </p:txBody>
      </p:sp>
      <p:sp>
        <p:nvSpPr>
          <p:cNvPr id="65" name="TextBox 160"/>
          <p:cNvSpPr txBox="1"/>
          <p:nvPr/>
        </p:nvSpPr>
        <p:spPr>
          <a:xfrm>
            <a:off x="1234440" y="5504688"/>
            <a:ext cx="1920240" cy="187452"/>
          </a:xfrm>
          <a:prstGeom prst="rect">
            <a:avLst/>
          </a:prstGeom>
          <a:noFill/>
        </p:spPr>
        <p:txBody>
          <a:bodyPr wrap="square" lIns="0" rIns="0" tIns="0" bIns="0" anchor="ctr">
            <a:spAutoFit/>
          </a:bodyPr>
          <a:lstStyle/>
          <a:p>
            <a:pPr algn="r"/>
            <a:r>
              <a:rPr sz="900" b="0" i="0">
                <a:solidFill>
                  <a:srgbClr val="0B2438"/>
                </a:solidFill>
                <a:latin typeface="Segoe UI"/>
              </a:rPr>
              <a:t>Infiltration</a:t>
            </a:r>
          </a:p>
        </p:txBody>
      </p:sp>
      <p:sp>
        <p:nvSpPr>
          <p:cNvPr id="66" name="Rectangle 161"/>
          <p:cNvSpPr/>
          <p:nvPr/>
        </p:nvSpPr>
        <p:spPr>
          <a:xfrm>
            <a:off x="3246120" y="5536692"/>
            <a:ext cx="677548" cy="123444"/>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162"/>
          <p:cNvSpPr txBox="1"/>
          <p:nvPr/>
        </p:nvSpPr>
        <p:spPr>
          <a:xfrm>
            <a:off x="3978532" y="5504688"/>
            <a:ext cx="914400" cy="187452"/>
          </a:xfrm>
          <a:prstGeom prst="rect">
            <a:avLst/>
          </a:prstGeom>
          <a:noFill/>
        </p:spPr>
        <p:txBody>
          <a:bodyPr wrap="square" lIns="0" rIns="0" tIns="0" bIns="0" anchor="ctr">
            <a:spAutoFit/>
          </a:bodyPr>
          <a:lstStyle/>
          <a:p>
            <a:pPr algn="l"/>
            <a:r>
              <a:rPr sz="850" b="0" i="0">
                <a:solidFill>
                  <a:srgbClr val="4A6478"/>
                </a:solidFill>
                <a:latin typeface="Segoe UI"/>
              </a:rPr>
              <a:t>36</a:t>
            </a:r>
          </a:p>
        </p:txBody>
      </p:sp>
      <p:sp>
        <p:nvSpPr>
          <p:cNvPr id="68" name="TextBox 163"/>
          <p:cNvSpPr txBox="1"/>
          <p:nvPr/>
        </p:nvSpPr>
        <p:spPr>
          <a:xfrm>
            <a:off x="1234440" y="5692140"/>
            <a:ext cx="1920240" cy="187452"/>
          </a:xfrm>
          <a:prstGeom prst="rect">
            <a:avLst/>
          </a:prstGeom>
          <a:noFill/>
        </p:spPr>
        <p:txBody>
          <a:bodyPr wrap="square" lIns="0" rIns="0" tIns="0" bIns="0" anchor="ctr">
            <a:spAutoFit/>
          </a:bodyPr>
          <a:lstStyle/>
          <a:p>
            <a:pPr algn="r"/>
            <a:r>
              <a:rPr sz="900" b="0" i="0">
                <a:solidFill>
                  <a:srgbClr val="0B2438"/>
                </a:solidFill>
                <a:latin typeface="Segoe UI"/>
              </a:rPr>
              <a:t>Web Attack - Sql Injection</a:t>
            </a:r>
          </a:p>
        </p:txBody>
      </p:sp>
      <p:sp>
        <p:nvSpPr>
          <p:cNvPr id="69" name="Rectangle 164"/>
          <p:cNvSpPr/>
          <p:nvPr/>
        </p:nvSpPr>
        <p:spPr>
          <a:xfrm>
            <a:off x="3246120" y="5724144"/>
            <a:ext cx="575638" cy="123444"/>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165"/>
          <p:cNvSpPr txBox="1"/>
          <p:nvPr/>
        </p:nvSpPr>
        <p:spPr>
          <a:xfrm>
            <a:off x="3876622" y="5692140"/>
            <a:ext cx="914400" cy="187452"/>
          </a:xfrm>
          <a:prstGeom prst="rect">
            <a:avLst/>
          </a:prstGeom>
          <a:noFill/>
        </p:spPr>
        <p:txBody>
          <a:bodyPr wrap="square" lIns="0" rIns="0" tIns="0" bIns="0" anchor="ctr">
            <a:spAutoFit/>
          </a:bodyPr>
          <a:lstStyle/>
          <a:p>
            <a:pPr algn="l"/>
            <a:r>
              <a:rPr sz="850" b="0" i="0">
                <a:solidFill>
                  <a:srgbClr val="4A6478"/>
                </a:solidFill>
                <a:latin typeface="Segoe UI"/>
              </a:rPr>
              <a:t>21</a:t>
            </a:r>
          </a:p>
        </p:txBody>
      </p:sp>
      <p:sp>
        <p:nvSpPr>
          <p:cNvPr id="71" name="TextBox 166"/>
          <p:cNvSpPr txBox="1"/>
          <p:nvPr/>
        </p:nvSpPr>
        <p:spPr>
          <a:xfrm>
            <a:off x="1234440" y="5879592"/>
            <a:ext cx="1920240" cy="187452"/>
          </a:xfrm>
          <a:prstGeom prst="rect">
            <a:avLst/>
          </a:prstGeom>
          <a:noFill/>
        </p:spPr>
        <p:txBody>
          <a:bodyPr wrap="square" lIns="0" rIns="0" tIns="0" bIns="0" anchor="ctr">
            <a:spAutoFit/>
          </a:bodyPr>
          <a:lstStyle/>
          <a:p>
            <a:pPr algn="r"/>
            <a:r>
              <a:rPr sz="900" b="0" i="0">
                <a:solidFill>
                  <a:srgbClr val="0B2438"/>
                </a:solidFill>
                <a:latin typeface="Segoe UI"/>
              </a:rPr>
              <a:t>Heartbleed</a:t>
            </a:r>
          </a:p>
        </p:txBody>
      </p:sp>
      <p:sp>
        <p:nvSpPr>
          <p:cNvPr id="72" name="Rectangle 167"/>
          <p:cNvSpPr/>
          <p:nvPr/>
        </p:nvSpPr>
        <p:spPr>
          <a:xfrm>
            <a:off x="3246120" y="5911596"/>
            <a:ext cx="453378" cy="123444"/>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168"/>
          <p:cNvSpPr txBox="1"/>
          <p:nvPr/>
        </p:nvSpPr>
        <p:spPr>
          <a:xfrm>
            <a:off x="3754362" y="5879592"/>
            <a:ext cx="914400" cy="187452"/>
          </a:xfrm>
          <a:prstGeom prst="rect">
            <a:avLst/>
          </a:prstGeom>
          <a:noFill/>
        </p:spPr>
        <p:txBody>
          <a:bodyPr wrap="square" lIns="0" rIns="0" tIns="0" bIns="0" anchor="ctr">
            <a:spAutoFit/>
          </a:bodyPr>
          <a:lstStyle/>
          <a:p>
            <a:pPr algn="l"/>
            <a:r>
              <a:rPr sz="850" b="0" i="0">
                <a:solidFill>
                  <a:srgbClr val="4A6478"/>
                </a:solidFill>
                <a:latin typeface="Segoe UI"/>
              </a:rPr>
              <a:t>11</a:t>
            </a:r>
          </a:p>
        </p:txBody>
      </p:sp>
      <p:sp>
        <p:nvSpPr>
          <p:cNvPr id="74" name="TextBox 169"/>
          <p:cNvSpPr txBox="1"/>
          <p:nvPr/>
        </p:nvSpPr>
        <p:spPr>
          <a:xfrm>
            <a:off x="1234440" y="6108192"/>
            <a:ext cx="5669280" cy="201168"/>
          </a:xfrm>
          <a:prstGeom prst="rect">
            <a:avLst/>
          </a:prstGeom>
          <a:noFill/>
        </p:spPr>
        <p:txBody>
          <a:bodyPr wrap="square" lIns="0" rIns="0" tIns="0" bIns="0" anchor="t">
            <a:spAutoFit/>
          </a:bodyPr>
          <a:lstStyle/>
          <a:p>
            <a:pPr algn="l"/>
            <a:r>
              <a:rPr sz="900" b="0" i="0">
                <a:solidFill>
                  <a:srgbClr val="9A3B1B"/>
                </a:solidFill>
                <a:latin typeface="Segoe UI"/>
              </a:rPr>
              <a:t>■ </a:t>
            </a:r>
            <a:r>
              <a:rPr sz="900" b="0" i="0">
                <a:solidFill>
                  <a:srgbClr val="4A6478"/>
                </a:solidFill>
                <a:latin typeface="Segoe UI"/>
              </a:rPr>
              <a:t>meno di 50 flussi su 2,3 milioni: classi quasi invisibili al training</a:t>
            </a:r>
          </a:p>
        </p:txBody>
      </p:sp>
      <p:sp>
        <p:nvSpPr>
          <p:cNvPr id="75" name="TextBox 170"/>
          <p:cNvSpPr txBox="1"/>
          <p:nvPr/>
        </p:nvSpPr>
        <p:spPr>
          <a:xfrm>
            <a:off x="7178040" y="2971800"/>
            <a:ext cx="3657600" cy="237744"/>
          </a:xfrm>
          <a:prstGeom prst="rect">
            <a:avLst/>
          </a:prstGeom>
          <a:noFill/>
        </p:spPr>
        <p:txBody>
          <a:bodyPr wrap="square" lIns="0" rIns="0" tIns="0" bIns="0" anchor="t">
            <a:spAutoFit/>
          </a:bodyPr>
          <a:lstStyle/>
          <a:p>
            <a:pPr algn="l"/>
            <a:r>
              <a:rPr sz="1050" b="0" i="0" spc="100">
                <a:solidFill>
                  <a:srgbClr val="4A6478"/>
                </a:solidFill>
                <a:latin typeface="Segoe UI Semibold"/>
              </a:rPr>
              <a:t>PULIZIA</a:t>
            </a:r>
          </a:p>
        </p:txBody>
      </p:sp>
      <p:sp>
        <p:nvSpPr>
          <p:cNvPr id="76" name="Rounded Rectangle 171"/>
          <p:cNvSpPr/>
          <p:nvPr/>
        </p:nvSpPr>
        <p:spPr>
          <a:xfrm>
            <a:off x="7178040" y="3255264"/>
            <a:ext cx="3776472" cy="457200"/>
          </a:xfrm>
          <a:prstGeom prst="roundRect">
            <a:avLst>
              <a:gd name="adj" fmla="val 2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172"/>
          <p:cNvSpPr txBox="1"/>
          <p:nvPr/>
        </p:nvSpPr>
        <p:spPr>
          <a:xfrm>
            <a:off x="7315200" y="3255264"/>
            <a:ext cx="1280160" cy="457200"/>
          </a:xfrm>
          <a:prstGeom prst="rect">
            <a:avLst/>
          </a:prstGeom>
          <a:noFill/>
        </p:spPr>
        <p:txBody>
          <a:bodyPr wrap="square" lIns="0" rIns="0" tIns="0" bIns="0" anchor="ctr">
            <a:spAutoFit/>
          </a:bodyPr>
          <a:lstStyle/>
          <a:p>
            <a:pPr algn="l"/>
            <a:r>
              <a:rPr sz="1600" b="0" i="0">
                <a:solidFill>
                  <a:srgbClr val="0B2438"/>
                </a:solidFill>
                <a:latin typeface="Georgia"/>
              </a:rPr>
              <a:t>2.313.810</a:t>
            </a:r>
          </a:p>
        </p:txBody>
      </p:sp>
      <p:sp>
        <p:nvSpPr>
          <p:cNvPr id="78" name="TextBox 173"/>
          <p:cNvSpPr txBox="1"/>
          <p:nvPr/>
        </p:nvSpPr>
        <p:spPr>
          <a:xfrm>
            <a:off x="8641080" y="3255264"/>
            <a:ext cx="2240280" cy="457200"/>
          </a:xfrm>
          <a:prstGeom prst="rect">
            <a:avLst/>
          </a:prstGeom>
          <a:noFill/>
        </p:spPr>
        <p:txBody>
          <a:bodyPr wrap="square" lIns="0" rIns="0" tIns="0" bIns="0" anchor="ctr">
            <a:spAutoFit/>
          </a:bodyPr>
          <a:lstStyle/>
          <a:p>
            <a:pPr algn="l"/>
            <a:r>
              <a:rPr sz="1000" b="0" i="0">
                <a:solidFill>
                  <a:srgbClr val="4A6478"/>
                </a:solidFill>
                <a:latin typeface="Segoe UI"/>
              </a:rPr>
              <a:t>righe del dataset originale</a:t>
            </a:r>
          </a:p>
        </p:txBody>
      </p:sp>
      <p:cxnSp>
        <p:nvCxnSpPr>
          <p:cNvPr id="79" name="Connector 174"/>
          <p:cNvCxnSpPr/>
          <p:nvPr/>
        </p:nvCxnSpPr>
        <p:spPr>
          <a:xfrm>
            <a:off x="7955280" y="3712464"/>
            <a:ext cx="0" cy="109728"/>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Rounded Rectangle 175"/>
          <p:cNvSpPr/>
          <p:nvPr/>
        </p:nvSpPr>
        <p:spPr>
          <a:xfrm>
            <a:off x="7178040" y="3822192"/>
            <a:ext cx="3776472" cy="457200"/>
          </a:xfrm>
          <a:prstGeom prst="roundRect">
            <a:avLst>
              <a:gd name="adj" fmla="val 2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176"/>
          <p:cNvSpPr txBox="1"/>
          <p:nvPr/>
        </p:nvSpPr>
        <p:spPr>
          <a:xfrm>
            <a:off x="7315200" y="3822192"/>
            <a:ext cx="1280160" cy="457200"/>
          </a:xfrm>
          <a:prstGeom prst="rect">
            <a:avLst/>
          </a:prstGeom>
          <a:noFill/>
        </p:spPr>
        <p:txBody>
          <a:bodyPr wrap="square" lIns="0" rIns="0" tIns="0" bIns="0" anchor="ctr">
            <a:spAutoFit/>
          </a:bodyPr>
          <a:lstStyle/>
          <a:p>
            <a:pPr algn="l"/>
            <a:r>
              <a:rPr sz="1600" b="0" i="0">
                <a:solidFill>
                  <a:srgbClr val="C98A3E"/>
                </a:solidFill>
                <a:latin typeface="Georgia"/>
              </a:rPr>
              <a:t>2.143</a:t>
            </a:r>
          </a:p>
        </p:txBody>
      </p:sp>
      <p:sp>
        <p:nvSpPr>
          <p:cNvPr id="82" name="TextBox 177"/>
          <p:cNvSpPr txBox="1"/>
          <p:nvPr/>
        </p:nvSpPr>
        <p:spPr>
          <a:xfrm>
            <a:off x="8641080" y="3822192"/>
            <a:ext cx="2240280" cy="457200"/>
          </a:xfrm>
          <a:prstGeom prst="rect">
            <a:avLst/>
          </a:prstGeom>
          <a:noFill/>
        </p:spPr>
        <p:txBody>
          <a:bodyPr wrap="square" lIns="0" rIns="0" tIns="0" bIns="0" anchor="ctr">
            <a:spAutoFit/>
          </a:bodyPr>
          <a:lstStyle/>
          <a:p>
            <a:pPr algn="l"/>
            <a:r>
              <a:rPr sz="1000" b="0" i="0">
                <a:solidFill>
                  <a:srgbClr val="4A6478"/>
                </a:solidFill>
                <a:latin typeface="Segoe UI"/>
              </a:rPr>
              <a:t>etichette corrette (carattere corrotto)</a:t>
            </a:r>
          </a:p>
        </p:txBody>
      </p:sp>
      <p:cxnSp>
        <p:nvCxnSpPr>
          <p:cNvPr id="83" name="Connector 178"/>
          <p:cNvCxnSpPr/>
          <p:nvPr/>
        </p:nvCxnSpPr>
        <p:spPr>
          <a:xfrm>
            <a:off x="7955280" y="4279392"/>
            <a:ext cx="0" cy="109728"/>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Rounded Rectangle 179"/>
          <p:cNvSpPr/>
          <p:nvPr/>
        </p:nvSpPr>
        <p:spPr>
          <a:xfrm>
            <a:off x="7178040" y="4389120"/>
            <a:ext cx="3776472" cy="457200"/>
          </a:xfrm>
          <a:prstGeom prst="roundRect">
            <a:avLst>
              <a:gd name="adj" fmla="val 2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180"/>
          <p:cNvSpPr txBox="1"/>
          <p:nvPr/>
        </p:nvSpPr>
        <p:spPr>
          <a:xfrm>
            <a:off x="7315200" y="4389120"/>
            <a:ext cx="1280160" cy="457200"/>
          </a:xfrm>
          <a:prstGeom prst="rect">
            <a:avLst/>
          </a:prstGeom>
          <a:noFill/>
        </p:spPr>
        <p:txBody>
          <a:bodyPr wrap="square" lIns="0" rIns="0" tIns="0" bIns="0" anchor="ctr">
            <a:spAutoFit/>
          </a:bodyPr>
          <a:lstStyle/>
          <a:p>
            <a:pPr algn="l"/>
            <a:r>
              <a:rPr sz="1600" b="0" i="0">
                <a:solidFill>
                  <a:srgbClr val="9A3B1B"/>
                </a:solidFill>
                <a:latin typeface="Georgia"/>
              </a:rPr>
              <a:t>− 2.843</a:t>
            </a:r>
          </a:p>
        </p:txBody>
      </p:sp>
      <p:sp>
        <p:nvSpPr>
          <p:cNvPr id="86" name="TextBox 181"/>
          <p:cNvSpPr txBox="1"/>
          <p:nvPr/>
        </p:nvSpPr>
        <p:spPr>
          <a:xfrm>
            <a:off x="8641080" y="4389120"/>
            <a:ext cx="2240280" cy="457200"/>
          </a:xfrm>
          <a:prstGeom prst="rect">
            <a:avLst/>
          </a:prstGeom>
          <a:noFill/>
        </p:spPr>
        <p:txBody>
          <a:bodyPr wrap="square" lIns="0" rIns="0" tIns="0" bIns="0" anchor="ctr">
            <a:spAutoFit/>
          </a:bodyPr>
          <a:lstStyle/>
          <a:p>
            <a:pPr algn="l"/>
            <a:r>
              <a:rPr sz="1000" b="0" i="0">
                <a:solidFill>
                  <a:srgbClr val="4A6478"/>
                </a:solidFill>
                <a:latin typeface="Segoe UI"/>
              </a:rPr>
              <a:t>righe rimosse: valori negativi impossibili</a:t>
            </a:r>
          </a:p>
        </p:txBody>
      </p:sp>
      <p:cxnSp>
        <p:nvCxnSpPr>
          <p:cNvPr id="87" name="Connector 182"/>
          <p:cNvCxnSpPr/>
          <p:nvPr/>
        </p:nvCxnSpPr>
        <p:spPr>
          <a:xfrm>
            <a:off x="7955280" y="4846320"/>
            <a:ext cx="0" cy="109728"/>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Rounded Rectangle 183"/>
          <p:cNvSpPr/>
          <p:nvPr/>
        </p:nvSpPr>
        <p:spPr>
          <a:xfrm>
            <a:off x="7178040" y="4956048"/>
            <a:ext cx="3776472" cy="457200"/>
          </a:xfrm>
          <a:prstGeom prst="roundRect">
            <a:avLst>
              <a:gd name="adj" fmla="val 20000"/>
            </a:avLst>
          </a:prstGeom>
          <a:solidFill>
            <a:srgbClr val="0C649C"/>
          </a:solidFill>
          <a:ln w="9525">
            <a:solidFill>
              <a:srgbClr val="0C649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184"/>
          <p:cNvSpPr txBox="1"/>
          <p:nvPr/>
        </p:nvSpPr>
        <p:spPr>
          <a:xfrm>
            <a:off x="7315200" y="4956048"/>
            <a:ext cx="1280160" cy="457200"/>
          </a:xfrm>
          <a:prstGeom prst="rect">
            <a:avLst/>
          </a:prstGeom>
          <a:noFill/>
        </p:spPr>
        <p:txBody>
          <a:bodyPr wrap="square" lIns="0" rIns="0" tIns="0" bIns="0" anchor="ctr">
            <a:spAutoFit/>
          </a:bodyPr>
          <a:lstStyle/>
          <a:p>
            <a:pPr algn="l"/>
            <a:r>
              <a:rPr sz="1600" b="0" i="0">
                <a:solidFill>
                  <a:srgbClr val="FFFFFF"/>
                </a:solidFill>
                <a:latin typeface="Georgia"/>
              </a:rPr>
              <a:t>2.310.967</a:t>
            </a:r>
          </a:p>
        </p:txBody>
      </p:sp>
      <p:sp>
        <p:nvSpPr>
          <p:cNvPr id="90" name="TextBox 185"/>
          <p:cNvSpPr txBox="1"/>
          <p:nvPr/>
        </p:nvSpPr>
        <p:spPr>
          <a:xfrm>
            <a:off x="8641080" y="4956048"/>
            <a:ext cx="2240280" cy="457200"/>
          </a:xfrm>
          <a:prstGeom prst="rect">
            <a:avLst/>
          </a:prstGeom>
          <a:noFill/>
        </p:spPr>
        <p:txBody>
          <a:bodyPr wrap="square" lIns="0" rIns="0" tIns="0" bIns="0" anchor="ctr">
            <a:spAutoFit/>
          </a:bodyPr>
          <a:lstStyle/>
          <a:p>
            <a:pPr algn="l"/>
            <a:r>
              <a:rPr sz="1000" b="0" i="0">
                <a:solidFill>
                  <a:srgbClr val="FFFFFF"/>
                </a:solidFill>
                <a:latin typeface="Segoe UI"/>
              </a:rPr>
              <a:t>flussi puliti</a:t>
            </a:r>
          </a:p>
        </p:txBody>
      </p:sp>
      <p:sp>
        <p:nvSpPr>
          <p:cNvPr id="91" name="TextBox 186"/>
          <p:cNvSpPr txBox="1"/>
          <p:nvPr/>
        </p:nvSpPr>
        <p:spPr>
          <a:xfrm>
            <a:off x="7178040" y="5541264"/>
            <a:ext cx="3840480" cy="237744"/>
          </a:xfrm>
          <a:prstGeom prst="rect">
            <a:avLst/>
          </a:prstGeom>
          <a:noFill/>
        </p:spPr>
        <p:txBody>
          <a:bodyPr wrap="square" lIns="0" rIns="0" tIns="0" bIns="0" anchor="t">
            <a:spAutoFit/>
          </a:bodyPr>
          <a:lstStyle/>
          <a:p>
            <a:pPr algn="l"/>
            <a:r>
              <a:rPr sz="1050" b="0" i="0" spc="100">
                <a:solidFill>
                  <a:srgbClr val="4A6478"/>
                </a:solidFill>
                <a:latin typeface="Segoe UI Semibold"/>
              </a:rPr>
              <a:t>SPLIT STRATIFICATO 60 / 20 / 20</a:t>
            </a:r>
          </a:p>
        </p:txBody>
      </p:sp>
      <p:sp>
        <p:nvSpPr>
          <p:cNvPr id="92" name="Rectangle 187"/>
          <p:cNvSpPr/>
          <p:nvPr/>
        </p:nvSpPr>
        <p:spPr>
          <a:xfrm>
            <a:off x="7178040" y="5815584"/>
            <a:ext cx="2265883" cy="274320"/>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188"/>
          <p:cNvSpPr/>
          <p:nvPr/>
        </p:nvSpPr>
        <p:spPr>
          <a:xfrm>
            <a:off x="9443923" y="5815584"/>
            <a:ext cx="755294" cy="274320"/>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189"/>
          <p:cNvSpPr/>
          <p:nvPr/>
        </p:nvSpPr>
        <p:spPr>
          <a:xfrm>
            <a:off x="10199218" y="5815584"/>
            <a:ext cx="755294" cy="274320"/>
          </a:xfrm>
          <a:prstGeom prst="rect">
            <a:avLst/>
          </a:prstGeom>
          <a:solidFill>
            <a:srgbClr val="0B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190"/>
          <p:cNvSpPr txBox="1"/>
          <p:nvPr/>
        </p:nvSpPr>
        <p:spPr>
          <a:xfrm>
            <a:off x="7178040" y="5815584"/>
            <a:ext cx="2265883" cy="274320"/>
          </a:xfrm>
          <a:prstGeom prst="rect">
            <a:avLst/>
          </a:prstGeom>
          <a:noFill/>
        </p:spPr>
        <p:txBody>
          <a:bodyPr wrap="square" lIns="0" rIns="0" tIns="0" bIns="0" anchor="ctr">
            <a:spAutoFit/>
          </a:bodyPr>
          <a:lstStyle/>
          <a:p>
            <a:pPr algn="ctr"/>
            <a:r>
              <a:rPr sz="950" b="0" i="0">
                <a:solidFill>
                  <a:srgbClr val="FFFFFF"/>
                </a:solidFill>
                <a:latin typeface="Segoe UI"/>
              </a:rPr>
              <a:t>train · 1.386.580</a:t>
            </a:r>
          </a:p>
        </p:txBody>
      </p:sp>
      <p:sp>
        <p:nvSpPr>
          <p:cNvPr id="96" name="TextBox 191"/>
          <p:cNvSpPr txBox="1"/>
          <p:nvPr/>
        </p:nvSpPr>
        <p:spPr>
          <a:xfrm>
            <a:off x="9443923" y="5815584"/>
            <a:ext cx="755294" cy="274320"/>
          </a:xfrm>
          <a:prstGeom prst="rect">
            <a:avLst/>
          </a:prstGeom>
          <a:noFill/>
        </p:spPr>
        <p:txBody>
          <a:bodyPr wrap="square" lIns="0" rIns="0" tIns="0" bIns="0" anchor="ctr">
            <a:spAutoFit/>
          </a:bodyPr>
          <a:lstStyle/>
          <a:p>
            <a:pPr algn="ctr"/>
            <a:r>
              <a:rPr sz="950" b="0" i="0">
                <a:solidFill>
                  <a:srgbClr val="FFFFFF"/>
                </a:solidFill>
                <a:latin typeface="Segoe UI"/>
              </a:rPr>
              <a:t>val</a:t>
            </a:r>
          </a:p>
        </p:txBody>
      </p:sp>
      <p:sp>
        <p:nvSpPr>
          <p:cNvPr id="97" name="TextBox 192"/>
          <p:cNvSpPr txBox="1"/>
          <p:nvPr/>
        </p:nvSpPr>
        <p:spPr>
          <a:xfrm>
            <a:off x="10199218" y="5815584"/>
            <a:ext cx="755294" cy="274320"/>
          </a:xfrm>
          <a:prstGeom prst="rect">
            <a:avLst/>
          </a:prstGeom>
          <a:noFill/>
        </p:spPr>
        <p:txBody>
          <a:bodyPr wrap="square" lIns="0" rIns="0" tIns="0" bIns="0" anchor="ctr">
            <a:spAutoFit/>
          </a:bodyPr>
          <a:lstStyle/>
          <a:p>
            <a:pPr algn="ctr"/>
            <a:r>
              <a:rPr sz="950" b="0" i="0">
                <a:solidFill>
                  <a:srgbClr val="FFFFFF"/>
                </a:solidFill>
                <a:latin typeface="Segoe UI"/>
              </a:rPr>
              <a:t>test</a:t>
            </a:r>
          </a:p>
        </p:txBody>
      </p:sp>
      <p:sp>
        <p:nvSpPr>
          <p:cNvPr id="98" name="TextBox 193"/>
          <p:cNvSpPr txBox="1"/>
          <p:nvPr/>
        </p:nvSpPr>
        <p:spPr>
          <a:xfrm>
            <a:off x="7178040" y="6126480"/>
            <a:ext cx="3776472" cy="182880"/>
          </a:xfrm>
          <a:prstGeom prst="rect">
            <a:avLst/>
          </a:prstGeom>
          <a:noFill/>
        </p:spPr>
        <p:txBody>
          <a:bodyPr wrap="square" lIns="0" rIns="0" tIns="0" bIns="0" anchor="t">
            <a:spAutoFit/>
          </a:bodyPr>
          <a:lstStyle/>
          <a:p>
            <a:pPr algn="r"/>
            <a:r>
              <a:rPr sz="900" b="0" i="0">
                <a:solidFill>
                  <a:srgbClr val="4A6478"/>
                </a:solidFill>
                <a:latin typeface="Segoe UI"/>
              </a:rPr>
              <a:t>val 462.193 · test 462.194 · seme 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270862" y="384048"/>
            <a:ext cx="165027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02 · BASELINE</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Random Forest e </a:t>
            </a:r>
            <a:r>
              <a:rPr sz="3400" b="0" i="1">
                <a:solidFill>
                  <a:srgbClr val="BCD1DE"/>
                </a:solidFill>
                <a:latin typeface="Georgia"/>
              </a:rPr>
              <a:t>XGBoost</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03 / 08</a:t>
            </a:r>
          </a:p>
        </p:txBody>
      </p:sp>
      <p:sp>
        <p:nvSpPr>
          <p:cNvPr id="11" name="TextBox 106"/>
          <p:cNvSpPr txBox="1"/>
          <p:nvPr/>
        </p:nvSpPr>
        <p:spPr>
          <a:xfrm>
            <a:off x="1234440" y="2157984"/>
            <a:ext cx="4754880" cy="237744"/>
          </a:xfrm>
          <a:prstGeom prst="rect">
            <a:avLst/>
          </a:prstGeom>
          <a:noFill/>
        </p:spPr>
        <p:txBody>
          <a:bodyPr wrap="square" lIns="0" rIns="0" tIns="0" bIns="0" anchor="t">
            <a:spAutoFit/>
          </a:bodyPr>
          <a:lstStyle/>
          <a:p>
            <a:pPr algn="l"/>
            <a:r>
              <a:rPr sz="1050" b="0" i="0" spc="100">
                <a:solidFill>
                  <a:srgbClr val="4A6478"/>
                </a:solidFill>
                <a:latin typeface="Segoe UI Semibold"/>
              </a:rPr>
              <a:t>RECALL MEDIA PER CLASSE D’ATTACCO · VALIDATION</a:t>
            </a:r>
          </a:p>
        </p:txBody>
      </p:sp>
      <p:sp>
        <p:nvSpPr>
          <p:cNvPr id="12" name="TextBox 107"/>
          <p:cNvSpPr txBox="1"/>
          <p:nvPr/>
        </p:nvSpPr>
        <p:spPr>
          <a:xfrm>
            <a:off x="1234440" y="2468880"/>
            <a:ext cx="1600200" cy="420624"/>
          </a:xfrm>
          <a:prstGeom prst="rect">
            <a:avLst/>
          </a:prstGeom>
          <a:noFill/>
        </p:spPr>
        <p:txBody>
          <a:bodyPr wrap="square" lIns="0" rIns="0" tIns="0" bIns="0" anchor="ctr">
            <a:spAutoFit/>
          </a:bodyPr>
          <a:lstStyle/>
          <a:p>
            <a:pPr algn="r"/>
            <a:r>
              <a:rPr sz="1100" b="0" i="0">
                <a:solidFill>
                  <a:srgbClr val="0B2438"/>
                </a:solidFill>
                <a:latin typeface="Segoe UI"/>
              </a:rPr>
              <a:t>Random Forest default</a:t>
            </a:r>
          </a:p>
        </p:txBody>
      </p:sp>
      <p:sp>
        <p:nvSpPr>
          <p:cNvPr id="13" name="Rectangle 108"/>
          <p:cNvSpPr/>
          <p:nvPr/>
        </p:nvSpPr>
        <p:spPr>
          <a:xfrm>
            <a:off x="2926080" y="2578608"/>
            <a:ext cx="1680210" cy="201168"/>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09"/>
          <p:cNvSpPr txBox="1"/>
          <p:nvPr/>
        </p:nvSpPr>
        <p:spPr>
          <a:xfrm>
            <a:off x="4661154" y="2468880"/>
            <a:ext cx="914400" cy="420624"/>
          </a:xfrm>
          <a:prstGeom prst="rect">
            <a:avLst/>
          </a:prstGeom>
          <a:noFill/>
        </p:spPr>
        <p:txBody>
          <a:bodyPr wrap="square" lIns="0" rIns="0" tIns="0" bIns="0" anchor="ctr">
            <a:spAutoFit/>
          </a:bodyPr>
          <a:lstStyle/>
          <a:p>
            <a:pPr algn="l"/>
            <a:r>
              <a:rPr sz="1050" b="0" i="0">
                <a:solidFill>
                  <a:srgbClr val="4A6478"/>
                </a:solidFill>
                <a:latin typeface="Segoe UI"/>
              </a:rPr>
              <a:t>0,75</a:t>
            </a:r>
          </a:p>
        </p:txBody>
      </p:sp>
      <p:sp>
        <p:nvSpPr>
          <p:cNvPr id="15" name="TextBox 110"/>
          <p:cNvSpPr txBox="1"/>
          <p:nvPr/>
        </p:nvSpPr>
        <p:spPr>
          <a:xfrm>
            <a:off x="1234440" y="2889504"/>
            <a:ext cx="1600200" cy="420624"/>
          </a:xfrm>
          <a:prstGeom prst="rect">
            <a:avLst/>
          </a:prstGeom>
          <a:noFill/>
        </p:spPr>
        <p:txBody>
          <a:bodyPr wrap="square" lIns="0" rIns="0" tIns="0" bIns="0" anchor="ctr">
            <a:spAutoFit/>
          </a:bodyPr>
          <a:lstStyle/>
          <a:p>
            <a:pPr algn="r"/>
            <a:r>
              <a:rPr sz="1100" b="0" i="0">
                <a:solidFill>
                  <a:srgbClr val="0B2438"/>
                </a:solidFill>
                <a:latin typeface="Segoe UI"/>
              </a:rPr>
              <a:t>RF bilanciato</a:t>
            </a:r>
          </a:p>
        </p:txBody>
      </p:sp>
      <p:sp>
        <p:nvSpPr>
          <p:cNvPr id="16" name="Rectangle 111"/>
          <p:cNvSpPr/>
          <p:nvPr/>
        </p:nvSpPr>
        <p:spPr>
          <a:xfrm>
            <a:off x="2926080" y="2999232"/>
            <a:ext cx="2059457" cy="201168"/>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12"/>
          <p:cNvSpPr txBox="1"/>
          <p:nvPr/>
        </p:nvSpPr>
        <p:spPr>
          <a:xfrm>
            <a:off x="5040401" y="2889504"/>
            <a:ext cx="914400" cy="420624"/>
          </a:xfrm>
          <a:prstGeom prst="rect">
            <a:avLst/>
          </a:prstGeom>
          <a:noFill/>
        </p:spPr>
        <p:txBody>
          <a:bodyPr wrap="square" lIns="0" rIns="0" tIns="0" bIns="0" anchor="ctr">
            <a:spAutoFit/>
          </a:bodyPr>
          <a:lstStyle/>
          <a:p>
            <a:pPr algn="l"/>
            <a:r>
              <a:rPr sz="1050" b="0" i="0">
                <a:solidFill>
                  <a:srgbClr val="4A6478"/>
                </a:solidFill>
                <a:latin typeface="Segoe UI"/>
              </a:rPr>
              <a:t>0,92</a:t>
            </a:r>
          </a:p>
        </p:txBody>
      </p:sp>
      <p:sp>
        <p:nvSpPr>
          <p:cNvPr id="18" name="TextBox 113"/>
          <p:cNvSpPr txBox="1"/>
          <p:nvPr/>
        </p:nvSpPr>
        <p:spPr>
          <a:xfrm>
            <a:off x="1234440" y="3310128"/>
            <a:ext cx="1600200" cy="420624"/>
          </a:xfrm>
          <a:prstGeom prst="rect">
            <a:avLst/>
          </a:prstGeom>
          <a:noFill/>
        </p:spPr>
        <p:txBody>
          <a:bodyPr wrap="square" lIns="0" rIns="0" tIns="0" bIns="0" anchor="ctr">
            <a:spAutoFit/>
          </a:bodyPr>
          <a:lstStyle/>
          <a:p>
            <a:pPr algn="r"/>
            <a:r>
              <a:rPr sz="1100" b="0" i="0">
                <a:solidFill>
                  <a:srgbClr val="0B2438"/>
                </a:solidFill>
                <a:latin typeface="Segoe UI"/>
              </a:rPr>
              <a:t>RF pesi manuali</a:t>
            </a:r>
          </a:p>
        </p:txBody>
      </p:sp>
      <p:sp>
        <p:nvSpPr>
          <p:cNvPr id="19" name="Rectangle 114"/>
          <p:cNvSpPr/>
          <p:nvPr/>
        </p:nvSpPr>
        <p:spPr>
          <a:xfrm>
            <a:off x="2926080" y="3419856"/>
            <a:ext cx="1878635" cy="201168"/>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15"/>
          <p:cNvSpPr txBox="1"/>
          <p:nvPr/>
        </p:nvSpPr>
        <p:spPr>
          <a:xfrm>
            <a:off x="4859579" y="3310128"/>
            <a:ext cx="914400" cy="420624"/>
          </a:xfrm>
          <a:prstGeom prst="rect">
            <a:avLst/>
          </a:prstGeom>
          <a:noFill/>
        </p:spPr>
        <p:txBody>
          <a:bodyPr wrap="square" lIns="0" rIns="0" tIns="0" bIns="0" anchor="ctr">
            <a:spAutoFit/>
          </a:bodyPr>
          <a:lstStyle/>
          <a:p>
            <a:pPr algn="l"/>
            <a:r>
              <a:rPr sz="1050" b="0" i="0">
                <a:solidFill>
                  <a:srgbClr val="4A6478"/>
                </a:solidFill>
                <a:latin typeface="Segoe UI"/>
              </a:rPr>
              <a:t>0,84</a:t>
            </a:r>
          </a:p>
        </p:txBody>
      </p:sp>
      <p:sp>
        <p:nvSpPr>
          <p:cNvPr id="21" name="TextBox 116"/>
          <p:cNvSpPr txBox="1"/>
          <p:nvPr/>
        </p:nvSpPr>
        <p:spPr>
          <a:xfrm>
            <a:off x="1234440" y="3730752"/>
            <a:ext cx="1600200" cy="420624"/>
          </a:xfrm>
          <a:prstGeom prst="rect">
            <a:avLst/>
          </a:prstGeom>
          <a:noFill/>
        </p:spPr>
        <p:txBody>
          <a:bodyPr wrap="square" lIns="0" rIns="0" tIns="0" bIns="0" anchor="ctr">
            <a:spAutoFit/>
          </a:bodyPr>
          <a:lstStyle/>
          <a:p>
            <a:pPr algn="r"/>
            <a:r>
              <a:rPr sz="1100" b="0" i="0">
                <a:solidFill>
                  <a:srgbClr val="0B2438"/>
                </a:solidFill>
                <a:latin typeface="Segoe UI"/>
              </a:rPr>
              <a:t>XGBoost default</a:t>
            </a:r>
          </a:p>
        </p:txBody>
      </p:sp>
      <p:sp>
        <p:nvSpPr>
          <p:cNvPr id="22" name="Rectangle 117"/>
          <p:cNvSpPr/>
          <p:nvPr/>
        </p:nvSpPr>
        <p:spPr>
          <a:xfrm>
            <a:off x="2926080" y="3840480"/>
            <a:ext cx="1385773" cy="201168"/>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118"/>
          <p:cNvSpPr txBox="1"/>
          <p:nvPr/>
        </p:nvSpPr>
        <p:spPr>
          <a:xfrm>
            <a:off x="4366717" y="3730752"/>
            <a:ext cx="914400" cy="420624"/>
          </a:xfrm>
          <a:prstGeom prst="rect">
            <a:avLst/>
          </a:prstGeom>
          <a:noFill/>
        </p:spPr>
        <p:txBody>
          <a:bodyPr wrap="square" lIns="0" rIns="0" tIns="0" bIns="0" anchor="ctr">
            <a:spAutoFit/>
          </a:bodyPr>
          <a:lstStyle/>
          <a:p>
            <a:pPr algn="l"/>
            <a:r>
              <a:rPr sz="1050" b="0" i="0">
                <a:solidFill>
                  <a:srgbClr val="4A6478"/>
                </a:solidFill>
                <a:latin typeface="Segoe UI"/>
              </a:rPr>
              <a:t>0,62</a:t>
            </a:r>
          </a:p>
        </p:txBody>
      </p:sp>
      <p:sp>
        <p:nvSpPr>
          <p:cNvPr id="24" name="TextBox 119"/>
          <p:cNvSpPr txBox="1"/>
          <p:nvPr/>
        </p:nvSpPr>
        <p:spPr>
          <a:xfrm>
            <a:off x="1234440" y="4151376"/>
            <a:ext cx="1600200" cy="420624"/>
          </a:xfrm>
          <a:prstGeom prst="rect">
            <a:avLst/>
          </a:prstGeom>
          <a:noFill/>
        </p:spPr>
        <p:txBody>
          <a:bodyPr wrap="square" lIns="0" rIns="0" tIns="0" bIns="0" anchor="ctr">
            <a:spAutoFit/>
          </a:bodyPr>
          <a:lstStyle/>
          <a:p>
            <a:pPr algn="r"/>
            <a:r>
              <a:rPr sz="1100" b="0" i="0">
                <a:solidFill>
                  <a:srgbClr val="0B2438"/>
                </a:solidFill>
                <a:latin typeface="Segoe UI"/>
              </a:rPr>
              <a:t>XGBoost con pesi</a:t>
            </a:r>
          </a:p>
        </p:txBody>
      </p:sp>
      <p:sp>
        <p:nvSpPr>
          <p:cNvPr id="25" name="Rectangle 120"/>
          <p:cNvSpPr/>
          <p:nvPr/>
        </p:nvSpPr>
        <p:spPr>
          <a:xfrm>
            <a:off x="2926080" y="4261104"/>
            <a:ext cx="1963445" cy="201168"/>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121"/>
          <p:cNvSpPr txBox="1"/>
          <p:nvPr/>
        </p:nvSpPr>
        <p:spPr>
          <a:xfrm>
            <a:off x="4944389" y="4151376"/>
            <a:ext cx="914400" cy="420624"/>
          </a:xfrm>
          <a:prstGeom prst="rect">
            <a:avLst/>
          </a:prstGeom>
          <a:noFill/>
        </p:spPr>
        <p:txBody>
          <a:bodyPr wrap="square" lIns="0" rIns="0" tIns="0" bIns="0" anchor="ctr">
            <a:spAutoFit/>
          </a:bodyPr>
          <a:lstStyle/>
          <a:p>
            <a:pPr algn="l"/>
            <a:r>
              <a:rPr sz="1050" b="0" i="0">
                <a:solidFill>
                  <a:srgbClr val="4A6478"/>
                </a:solidFill>
                <a:latin typeface="Segoe UI"/>
              </a:rPr>
              <a:t>0,88</a:t>
            </a:r>
          </a:p>
        </p:txBody>
      </p:sp>
      <p:sp>
        <p:nvSpPr>
          <p:cNvPr id="27" name="TextBox 122"/>
          <p:cNvSpPr txBox="1"/>
          <p:nvPr/>
        </p:nvSpPr>
        <p:spPr>
          <a:xfrm>
            <a:off x="1234440" y="4663440"/>
            <a:ext cx="4754880" cy="237744"/>
          </a:xfrm>
          <a:prstGeom prst="rect">
            <a:avLst/>
          </a:prstGeom>
          <a:noFill/>
        </p:spPr>
        <p:txBody>
          <a:bodyPr wrap="square" lIns="0" rIns="0" tIns="0" bIns="0" anchor="t">
            <a:spAutoFit/>
          </a:bodyPr>
          <a:lstStyle/>
          <a:p>
            <a:pPr algn="l"/>
            <a:r>
              <a:rPr sz="1050" b="0" i="0" spc="100">
                <a:solidFill>
                  <a:srgbClr val="4A6478"/>
                </a:solidFill>
                <a:latin typeface="Segoe UI Semibold"/>
              </a:rPr>
              <a:t>RECALL BINARIA (ATTACCO SÌ / NO)</a:t>
            </a:r>
          </a:p>
        </p:txBody>
      </p:sp>
      <p:sp>
        <p:nvSpPr>
          <p:cNvPr id="28" name="Rounded Rectangle 123"/>
          <p:cNvSpPr/>
          <p:nvPr/>
        </p:nvSpPr>
        <p:spPr>
          <a:xfrm>
            <a:off x="1234440" y="4937760"/>
            <a:ext cx="2240280" cy="347472"/>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124"/>
          <p:cNvSpPr txBox="1"/>
          <p:nvPr/>
        </p:nvSpPr>
        <p:spPr>
          <a:xfrm>
            <a:off x="1234440" y="4937760"/>
            <a:ext cx="2240280" cy="347472"/>
          </a:xfrm>
          <a:prstGeom prst="rect">
            <a:avLst/>
          </a:prstGeom>
          <a:noFill/>
        </p:spPr>
        <p:txBody>
          <a:bodyPr wrap="square" lIns="0" rIns="0" tIns="0" bIns="0" anchor="ctr">
            <a:spAutoFit/>
          </a:bodyPr>
          <a:lstStyle/>
          <a:p>
            <a:pPr algn="ctr"/>
            <a:r>
              <a:rPr sz="1100" b="0" i="0">
                <a:solidFill>
                  <a:srgbClr val="0B2438"/>
                </a:solidFill>
                <a:latin typeface="Segoe UI"/>
              </a:rPr>
              <a:t>XGBoost default  </a:t>
            </a:r>
            <a:r>
              <a:rPr sz="1100" b="1" i="0">
                <a:solidFill>
                  <a:srgbClr val="C98A3E"/>
                </a:solidFill>
                <a:latin typeface="Segoe UI"/>
              </a:rPr>
              <a:t>98,06%</a:t>
            </a:r>
          </a:p>
        </p:txBody>
      </p:sp>
      <p:sp>
        <p:nvSpPr>
          <p:cNvPr id="30" name="Rounded Rectangle 125"/>
          <p:cNvSpPr/>
          <p:nvPr/>
        </p:nvSpPr>
        <p:spPr>
          <a:xfrm>
            <a:off x="3611880" y="4937760"/>
            <a:ext cx="2240280" cy="347472"/>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126"/>
          <p:cNvSpPr txBox="1"/>
          <p:nvPr/>
        </p:nvSpPr>
        <p:spPr>
          <a:xfrm>
            <a:off x="3611880" y="4937760"/>
            <a:ext cx="2240280" cy="347472"/>
          </a:xfrm>
          <a:prstGeom prst="rect">
            <a:avLst/>
          </a:prstGeom>
          <a:noFill/>
        </p:spPr>
        <p:txBody>
          <a:bodyPr wrap="square" lIns="0" rIns="0" tIns="0" bIns="0" anchor="ctr">
            <a:spAutoFit/>
          </a:bodyPr>
          <a:lstStyle/>
          <a:p>
            <a:pPr algn="ctr"/>
            <a:r>
              <a:rPr sz="1100" b="0" i="0">
                <a:solidFill>
                  <a:srgbClr val="0B2438"/>
                </a:solidFill>
                <a:latin typeface="Segoe UI"/>
              </a:rPr>
              <a:t>XGBoost con pesi  </a:t>
            </a:r>
            <a:r>
              <a:rPr sz="1100" b="1" i="0">
                <a:solidFill>
                  <a:srgbClr val="C98A3E"/>
                </a:solidFill>
                <a:latin typeface="Segoe UI"/>
              </a:rPr>
              <a:t>99,87%</a:t>
            </a:r>
          </a:p>
        </p:txBody>
      </p:sp>
      <p:sp>
        <p:nvSpPr>
          <p:cNvPr id="32" name="TextBox 127"/>
          <p:cNvSpPr txBox="1"/>
          <p:nvPr/>
        </p:nvSpPr>
        <p:spPr>
          <a:xfrm>
            <a:off x="1234440" y="5413248"/>
            <a:ext cx="4754880" cy="411480"/>
          </a:xfrm>
          <a:prstGeom prst="rect">
            <a:avLst/>
          </a:prstGeom>
          <a:noFill/>
        </p:spPr>
        <p:txBody>
          <a:bodyPr wrap="square" lIns="0" rIns="0" tIns="0" bIns="0" anchor="t">
            <a:spAutoFit/>
          </a:bodyPr>
          <a:lstStyle/>
          <a:p>
            <a:pPr algn="l"/>
            <a:r>
              <a:rPr sz="1050" b="0" i="0">
                <a:solidFill>
                  <a:srgbClr val="4A6478"/>
                </a:solidFill>
                <a:latin typeface="Segoe UI"/>
              </a:rPr>
              <a:t>I pesi (classi rare più pesanti) recuperano Heartbleed (da 0 a 1,00) e Infiltration (da 0,14 a 0,71).</a:t>
            </a:r>
          </a:p>
        </p:txBody>
      </p:sp>
      <p:sp>
        <p:nvSpPr>
          <p:cNvPr id="33" name="TextBox 128"/>
          <p:cNvSpPr txBox="1"/>
          <p:nvPr/>
        </p:nvSpPr>
        <p:spPr>
          <a:xfrm>
            <a:off x="6355080" y="2157984"/>
            <a:ext cx="4572000" cy="237744"/>
          </a:xfrm>
          <a:prstGeom prst="rect">
            <a:avLst/>
          </a:prstGeom>
          <a:noFill/>
        </p:spPr>
        <p:txBody>
          <a:bodyPr wrap="square" lIns="0" rIns="0" tIns="0" bIns="0" anchor="t">
            <a:spAutoFit/>
          </a:bodyPr>
          <a:lstStyle/>
          <a:p>
            <a:pPr algn="l"/>
            <a:r>
              <a:rPr sz="1050" b="0" i="0" spc="100">
                <a:solidFill>
                  <a:srgbClr val="4A6478"/>
                </a:solidFill>
                <a:latin typeface="Segoe UI Semibold"/>
              </a:rPr>
              <a:t>XGBOOST DEFAULT · RECALL PER CLASSE</a:t>
            </a:r>
          </a:p>
        </p:txBody>
      </p:sp>
      <p:sp>
        <p:nvSpPr>
          <p:cNvPr id="34" name="TextBox 129"/>
          <p:cNvSpPr txBox="1"/>
          <p:nvPr/>
        </p:nvSpPr>
        <p:spPr>
          <a:xfrm>
            <a:off x="6355080" y="2468880"/>
            <a:ext cx="1828800" cy="213055"/>
          </a:xfrm>
          <a:prstGeom prst="rect">
            <a:avLst/>
          </a:prstGeom>
          <a:noFill/>
        </p:spPr>
        <p:txBody>
          <a:bodyPr wrap="square" lIns="0" rIns="0" tIns="0" bIns="0" anchor="ctr">
            <a:spAutoFit/>
          </a:bodyPr>
          <a:lstStyle/>
          <a:p>
            <a:pPr algn="r"/>
            <a:r>
              <a:rPr sz="1000" b="0" i="0">
                <a:solidFill>
                  <a:srgbClr val="0B2438"/>
                </a:solidFill>
                <a:latin typeface="Segoe UI"/>
              </a:rPr>
              <a:t>DDoS</a:t>
            </a:r>
          </a:p>
        </p:txBody>
      </p:sp>
      <p:sp>
        <p:nvSpPr>
          <p:cNvPr id="35" name="Rectangle 130"/>
          <p:cNvSpPr/>
          <p:nvPr/>
        </p:nvSpPr>
        <p:spPr>
          <a:xfrm>
            <a:off x="8275320" y="2511400"/>
            <a:ext cx="2082089"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131"/>
          <p:cNvSpPr txBox="1"/>
          <p:nvPr/>
        </p:nvSpPr>
        <p:spPr>
          <a:xfrm>
            <a:off x="10412273" y="2468880"/>
            <a:ext cx="914400" cy="213055"/>
          </a:xfrm>
          <a:prstGeom prst="rect">
            <a:avLst/>
          </a:prstGeom>
          <a:noFill/>
        </p:spPr>
        <p:txBody>
          <a:bodyPr wrap="square" lIns="0" rIns="0" tIns="0" bIns="0" anchor="ctr">
            <a:spAutoFit/>
          </a:bodyPr>
          <a:lstStyle/>
          <a:p>
            <a:pPr algn="l"/>
            <a:r>
              <a:rPr sz="950" b="0" i="0">
                <a:solidFill>
                  <a:srgbClr val="4A6478"/>
                </a:solidFill>
                <a:latin typeface="Segoe UI"/>
              </a:rPr>
              <a:t>0,99</a:t>
            </a:r>
          </a:p>
        </p:txBody>
      </p:sp>
      <p:sp>
        <p:nvSpPr>
          <p:cNvPr id="37" name="TextBox 132"/>
          <p:cNvSpPr txBox="1"/>
          <p:nvPr/>
        </p:nvSpPr>
        <p:spPr>
          <a:xfrm>
            <a:off x="6355080" y="2681935"/>
            <a:ext cx="1828800" cy="213055"/>
          </a:xfrm>
          <a:prstGeom prst="rect">
            <a:avLst/>
          </a:prstGeom>
          <a:noFill/>
        </p:spPr>
        <p:txBody>
          <a:bodyPr wrap="square" lIns="0" rIns="0" tIns="0" bIns="0" anchor="ctr">
            <a:spAutoFit/>
          </a:bodyPr>
          <a:lstStyle/>
          <a:p>
            <a:pPr algn="r"/>
            <a:r>
              <a:rPr sz="1000" b="0" i="0">
                <a:solidFill>
                  <a:srgbClr val="0B2438"/>
                </a:solidFill>
                <a:latin typeface="Segoe UI"/>
              </a:rPr>
              <a:t>DoS Hulk</a:t>
            </a:r>
          </a:p>
        </p:txBody>
      </p:sp>
      <p:sp>
        <p:nvSpPr>
          <p:cNvPr id="38" name="Rectangle 133"/>
          <p:cNvSpPr/>
          <p:nvPr/>
        </p:nvSpPr>
        <p:spPr>
          <a:xfrm>
            <a:off x="8275320" y="2724455"/>
            <a:ext cx="2082089"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134"/>
          <p:cNvSpPr txBox="1"/>
          <p:nvPr/>
        </p:nvSpPr>
        <p:spPr>
          <a:xfrm>
            <a:off x="10412273" y="2681935"/>
            <a:ext cx="914400" cy="213055"/>
          </a:xfrm>
          <a:prstGeom prst="rect">
            <a:avLst/>
          </a:prstGeom>
          <a:noFill/>
        </p:spPr>
        <p:txBody>
          <a:bodyPr wrap="square" lIns="0" rIns="0" tIns="0" bIns="0" anchor="ctr">
            <a:spAutoFit/>
          </a:bodyPr>
          <a:lstStyle/>
          <a:p>
            <a:pPr algn="l"/>
            <a:r>
              <a:rPr sz="950" b="0" i="0">
                <a:solidFill>
                  <a:srgbClr val="4A6478"/>
                </a:solidFill>
                <a:latin typeface="Segoe UI"/>
              </a:rPr>
              <a:t>0,99</a:t>
            </a:r>
          </a:p>
        </p:txBody>
      </p:sp>
      <p:sp>
        <p:nvSpPr>
          <p:cNvPr id="40" name="TextBox 135"/>
          <p:cNvSpPr txBox="1"/>
          <p:nvPr/>
        </p:nvSpPr>
        <p:spPr>
          <a:xfrm>
            <a:off x="6355080" y="2894990"/>
            <a:ext cx="1828800" cy="213055"/>
          </a:xfrm>
          <a:prstGeom prst="rect">
            <a:avLst/>
          </a:prstGeom>
          <a:noFill/>
        </p:spPr>
        <p:txBody>
          <a:bodyPr wrap="square" lIns="0" rIns="0" tIns="0" bIns="0" anchor="ctr">
            <a:spAutoFit/>
          </a:bodyPr>
          <a:lstStyle/>
          <a:p>
            <a:pPr algn="r"/>
            <a:r>
              <a:rPr sz="1000" b="0" i="0">
                <a:solidFill>
                  <a:srgbClr val="0B2438"/>
                </a:solidFill>
                <a:latin typeface="Segoe UI"/>
              </a:rPr>
              <a:t>FTP-Patator</a:t>
            </a:r>
          </a:p>
        </p:txBody>
      </p:sp>
      <p:sp>
        <p:nvSpPr>
          <p:cNvPr id="41" name="Rectangle 136"/>
          <p:cNvSpPr/>
          <p:nvPr/>
        </p:nvSpPr>
        <p:spPr>
          <a:xfrm>
            <a:off x="8275320" y="2937510"/>
            <a:ext cx="1976933"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137"/>
          <p:cNvSpPr txBox="1"/>
          <p:nvPr/>
        </p:nvSpPr>
        <p:spPr>
          <a:xfrm>
            <a:off x="10307117" y="2894990"/>
            <a:ext cx="914400" cy="213055"/>
          </a:xfrm>
          <a:prstGeom prst="rect">
            <a:avLst/>
          </a:prstGeom>
          <a:noFill/>
        </p:spPr>
        <p:txBody>
          <a:bodyPr wrap="square" lIns="0" rIns="0" tIns="0" bIns="0" anchor="ctr">
            <a:spAutoFit/>
          </a:bodyPr>
          <a:lstStyle/>
          <a:p>
            <a:pPr algn="l"/>
            <a:r>
              <a:rPr sz="950" b="0" i="0">
                <a:solidFill>
                  <a:srgbClr val="4A6478"/>
                </a:solidFill>
                <a:latin typeface="Segoe UI"/>
              </a:rPr>
              <a:t>0,94</a:t>
            </a:r>
          </a:p>
        </p:txBody>
      </p:sp>
      <p:sp>
        <p:nvSpPr>
          <p:cNvPr id="43" name="TextBox 138"/>
          <p:cNvSpPr txBox="1"/>
          <p:nvPr/>
        </p:nvSpPr>
        <p:spPr>
          <a:xfrm>
            <a:off x="6355080" y="3108046"/>
            <a:ext cx="1828800" cy="213055"/>
          </a:xfrm>
          <a:prstGeom prst="rect">
            <a:avLst/>
          </a:prstGeom>
          <a:noFill/>
        </p:spPr>
        <p:txBody>
          <a:bodyPr wrap="square" lIns="0" rIns="0" tIns="0" bIns="0" anchor="ctr">
            <a:spAutoFit/>
          </a:bodyPr>
          <a:lstStyle/>
          <a:p>
            <a:pPr algn="r"/>
            <a:r>
              <a:rPr sz="1000" b="0" i="0">
                <a:solidFill>
                  <a:srgbClr val="0B2438"/>
                </a:solidFill>
                <a:latin typeface="Segoe UI"/>
              </a:rPr>
              <a:t>SSH-Patator</a:t>
            </a:r>
          </a:p>
        </p:txBody>
      </p:sp>
      <p:sp>
        <p:nvSpPr>
          <p:cNvPr id="44" name="Rectangle 139"/>
          <p:cNvSpPr/>
          <p:nvPr/>
        </p:nvSpPr>
        <p:spPr>
          <a:xfrm>
            <a:off x="8275320" y="3150565"/>
            <a:ext cx="1913839"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140"/>
          <p:cNvSpPr txBox="1"/>
          <p:nvPr/>
        </p:nvSpPr>
        <p:spPr>
          <a:xfrm>
            <a:off x="10244023" y="3108046"/>
            <a:ext cx="914400" cy="213055"/>
          </a:xfrm>
          <a:prstGeom prst="rect">
            <a:avLst/>
          </a:prstGeom>
          <a:noFill/>
        </p:spPr>
        <p:txBody>
          <a:bodyPr wrap="square" lIns="0" rIns="0" tIns="0" bIns="0" anchor="ctr">
            <a:spAutoFit/>
          </a:bodyPr>
          <a:lstStyle/>
          <a:p>
            <a:pPr algn="l"/>
            <a:r>
              <a:rPr sz="950" b="0" i="0">
                <a:solidFill>
                  <a:srgbClr val="4A6478"/>
                </a:solidFill>
                <a:latin typeface="Segoe UI"/>
              </a:rPr>
              <a:t>0,91</a:t>
            </a:r>
          </a:p>
        </p:txBody>
      </p:sp>
      <p:sp>
        <p:nvSpPr>
          <p:cNvPr id="46" name="TextBox 141"/>
          <p:cNvSpPr txBox="1"/>
          <p:nvPr/>
        </p:nvSpPr>
        <p:spPr>
          <a:xfrm>
            <a:off x="6355080" y="3321101"/>
            <a:ext cx="1828800" cy="213055"/>
          </a:xfrm>
          <a:prstGeom prst="rect">
            <a:avLst/>
          </a:prstGeom>
          <a:noFill/>
        </p:spPr>
        <p:txBody>
          <a:bodyPr wrap="square" lIns="0" rIns="0" tIns="0" bIns="0" anchor="ctr">
            <a:spAutoFit/>
          </a:bodyPr>
          <a:lstStyle/>
          <a:p>
            <a:pPr algn="r"/>
            <a:r>
              <a:rPr sz="1000" b="0" i="0">
                <a:solidFill>
                  <a:srgbClr val="0B2438"/>
                </a:solidFill>
                <a:latin typeface="Segoe UI"/>
              </a:rPr>
              <a:t>DoS GoldenEye</a:t>
            </a:r>
          </a:p>
        </p:txBody>
      </p:sp>
      <p:sp>
        <p:nvSpPr>
          <p:cNvPr id="47" name="Rectangle 142"/>
          <p:cNvSpPr/>
          <p:nvPr/>
        </p:nvSpPr>
        <p:spPr>
          <a:xfrm>
            <a:off x="8275320" y="3363620"/>
            <a:ext cx="1829714"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143"/>
          <p:cNvSpPr txBox="1"/>
          <p:nvPr/>
        </p:nvSpPr>
        <p:spPr>
          <a:xfrm>
            <a:off x="10159898" y="3321101"/>
            <a:ext cx="914400" cy="213055"/>
          </a:xfrm>
          <a:prstGeom prst="rect">
            <a:avLst/>
          </a:prstGeom>
          <a:noFill/>
        </p:spPr>
        <p:txBody>
          <a:bodyPr wrap="square" lIns="0" rIns="0" tIns="0" bIns="0" anchor="ctr">
            <a:spAutoFit/>
          </a:bodyPr>
          <a:lstStyle/>
          <a:p>
            <a:pPr algn="l"/>
            <a:r>
              <a:rPr sz="950" b="0" i="0">
                <a:solidFill>
                  <a:srgbClr val="4A6478"/>
                </a:solidFill>
                <a:latin typeface="Segoe UI"/>
              </a:rPr>
              <a:t>0,87</a:t>
            </a:r>
          </a:p>
        </p:txBody>
      </p:sp>
      <p:sp>
        <p:nvSpPr>
          <p:cNvPr id="49" name="TextBox 144"/>
          <p:cNvSpPr txBox="1"/>
          <p:nvPr/>
        </p:nvSpPr>
        <p:spPr>
          <a:xfrm>
            <a:off x="6355080" y="3534156"/>
            <a:ext cx="1828800" cy="213055"/>
          </a:xfrm>
          <a:prstGeom prst="rect">
            <a:avLst/>
          </a:prstGeom>
          <a:noFill/>
        </p:spPr>
        <p:txBody>
          <a:bodyPr wrap="square" lIns="0" rIns="0" tIns="0" bIns="0" anchor="ctr">
            <a:spAutoFit/>
          </a:bodyPr>
          <a:lstStyle/>
          <a:p>
            <a:pPr algn="r"/>
            <a:r>
              <a:rPr sz="1000" b="0" i="0">
                <a:solidFill>
                  <a:srgbClr val="0B2438"/>
                </a:solidFill>
                <a:latin typeface="Segoe UI"/>
              </a:rPr>
              <a:t>DoS Slowhttptest</a:t>
            </a:r>
          </a:p>
        </p:txBody>
      </p:sp>
      <p:sp>
        <p:nvSpPr>
          <p:cNvPr id="50" name="Rectangle 145"/>
          <p:cNvSpPr/>
          <p:nvPr/>
        </p:nvSpPr>
        <p:spPr>
          <a:xfrm>
            <a:off x="8275320" y="3576676"/>
            <a:ext cx="1682496"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146"/>
          <p:cNvSpPr txBox="1"/>
          <p:nvPr/>
        </p:nvSpPr>
        <p:spPr>
          <a:xfrm>
            <a:off x="10012680" y="3534156"/>
            <a:ext cx="914400" cy="213055"/>
          </a:xfrm>
          <a:prstGeom prst="rect">
            <a:avLst/>
          </a:prstGeom>
          <a:noFill/>
        </p:spPr>
        <p:txBody>
          <a:bodyPr wrap="square" lIns="0" rIns="0" tIns="0" bIns="0" anchor="ctr">
            <a:spAutoFit/>
          </a:bodyPr>
          <a:lstStyle/>
          <a:p>
            <a:pPr algn="l"/>
            <a:r>
              <a:rPr sz="950" b="0" i="0">
                <a:solidFill>
                  <a:srgbClr val="4A6478"/>
                </a:solidFill>
                <a:latin typeface="Segoe UI"/>
              </a:rPr>
              <a:t>0,80</a:t>
            </a:r>
          </a:p>
        </p:txBody>
      </p:sp>
      <p:sp>
        <p:nvSpPr>
          <p:cNvPr id="52" name="TextBox 147"/>
          <p:cNvSpPr txBox="1"/>
          <p:nvPr/>
        </p:nvSpPr>
        <p:spPr>
          <a:xfrm>
            <a:off x="6355080" y="3747211"/>
            <a:ext cx="1828800" cy="213055"/>
          </a:xfrm>
          <a:prstGeom prst="rect">
            <a:avLst/>
          </a:prstGeom>
          <a:noFill/>
        </p:spPr>
        <p:txBody>
          <a:bodyPr wrap="square" lIns="0" rIns="0" tIns="0" bIns="0" anchor="ctr">
            <a:spAutoFit/>
          </a:bodyPr>
          <a:lstStyle/>
          <a:p>
            <a:pPr algn="r"/>
            <a:r>
              <a:rPr sz="1000" b="0" i="0">
                <a:solidFill>
                  <a:srgbClr val="0B2438"/>
                </a:solidFill>
                <a:latin typeface="Segoe UI"/>
              </a:rPr>
              <a:t>PortScan</a:t>
            </a:r>
          </a:p>
        </p:txBody>
      </p:sp>
      <p:sp>
        <p:nvSpPr>
          <p:cNvPr id="53" name="Rectangle 148"/>
          <p:cNvSpPr/>
          <p:nvPr/>
        </p:nvSpPr>
        <p:spPr>
          <a:xfrm>
            <a:off x="8275320" y="3789731"/>
            <a:ext cx="1535278"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149"/>
          <p:cNvSpPr txBox="1"/>
          <p:nvPr/>
        </p:nvSpPr>
        <p:spPr>
          <a:xfrm>
            <a:off x="9865462" y="3747211"/>
            <a:ext cx="914400" cy="213055"/>
          </a:xfrm>
          <a:prstGeom prst="rect">
            <a:avLst/>
          </a:prstGeom>
          <a:noFill/>
        </p:spPr>
        <p:txBody>
          <a:bodyPr wrap="square" lIns="0" rIns="0" tIns="0" bIns="0" anchor="ctr">
            <a:spAutoFit/>
          </a:bodyPr>
          <a:lstStyle/>
          <a:p>
            <a:pPr algn="l"/>
            <a:r>
              <a:rPr sz="950" b="0" i="0">
                <a:solidFill>
                  <a:srgbClr val="4A6478"/>
                </a:solidFill>
                <a:latin typeface="Segoe UI"/>
              </a:rPr>
              <a:t>0,73</a:t>
            </a:r>
          </a:p>
        </p:txBody>
      </p:sp>
      <p:sp>
        <p:nvSpPr>
          <p:cNvPr id="55" name="TextBox 150"/>
          <p:cNvSpPr txBox="1"/>
          <p:nvPr/>
        </p:nvSpPr>
        <p:spPr>
          <a:xfrm>
            <a:off x="6355080" y="3960266"/>
            <a:ext cx="1828800" cy="213055"/>
          </a:xfrm>
          <a:prstGeom prst="rect">
            <a:avLst/>
          </a:prstGeom>
          <a:noFill/>
        </p:spPr>
        <p:txBody>
          <a:bodyPr wrap="square" lIns="0" rIns="0" tIns="0" bIns="0" anchor="ctr">
            <a:spAutoFit/>
          </a:bodyPr>
          <a:lstStyle/>
          <a:p>
            <a:pPr algn="r"/>
            <a:r>
              <a:rPr sz="1000" b="0" i="0">
                <a:solidFill>
                  <a:srgbClr val="0B2438"/>
                </a:solidFill>
                <a:latin typeface="Segoe UI"/>
              </a:rPr>
              <a:t>Bot</a:t>
            </a:r>
          </a:p>
        </p:txBody>
      </p:sp>
      <p:sp>
        <p:nvSpPr>
          <p:cNvPr id="56" name="Rectangle 151"/>
          <p:cNvSpPr/>
          <p:nvPr/>
        </p:nvSpPr>
        <p:spPr>
          <a:xfrm>
            <a:off x="8275320" y="4002786"/>
            <a:ext cx="1451153"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152"/>
          <p:cNvSpPr txBox="1"/>
          <p:nvPr/>
        </p:nvSpPr>
        <p:spPr>
          <a:xfrm>
            <a:off x="9781337" y="3960266"/>
            <a:ext cx="914400" cy="213055"/>
          </a:xfrm>
          <a:prstGeom prst="rect">
            <a:avLst/>
          </a:prstGeom>
          <a:noFill/>
        </p:spPr>
        <p:txBody>
          <a:bodyPr wrap="square" lIns="0" rIns="0" tIns="0" bIns="0" anchor="ctr">
            <a:spAutoFit/>
          </a:bodyPr>
          <a:lstStyle/>
          <a:p>
            <a:pPr algn="l"/>
            <a:r>
              <a:rPr sz="950" b="0" i="0">
                <a:solidFill>
                  <a:srgbClr val="4A6478"/>
                </a:solidFill>
                <a:latin typeface="Segoe UI"/>
              </a:rPr>
              <a:t>0,69</a:t>
            </a:r>
          </a:p>
        </p:txBody>
      </p:sp>
      <p:sp>
        <p:nvSpPr>
          <p:cNvPr id="58" name="TextBox 153"/>
          <p:cNvSpPr txBox="1"/>
          <p:nvPr/>
        </p:nvSpPr>
        <p:spPr>
          <a:xfrm>
            <a:off x="6355080" y="4173322"/>
            <a:ext cx="1828800" cy="213055"/>
          </a:xfrm>
          <a:prstGeom prst="rect">
            <a:avLst/>
          </a:prstGeom>
          <a:noFill/>
        </p:spPr>
        <p:txBody>
          <a:bodyPr wrap="square" lIns="0" rIns="0" tIns="0" bIns="0" anchor="ctr">
            <a:spAutoFit/>
          </a:bodyPr>
          <a:lstStyle/>
          <a:p>
            <a:pPr algn="r"/>
            <a:r>
              <a:rPr sz="1000" b="0" i="0">
                <a:solidFill>
                  <a:srgbClr val="0B2438"/>
                </a:solidFill>
                <a:latin typeface="Segoe UI"/>
              </a:rPr>
              <a:t>DoS slowloris</a:t>
            </a:r>
          </a:p>
        </p:txBody>
      </p:sp>
      <p:sp>
        <p:nvSpPr>
          <p:cNvPr id="59" name="Rectangle 154"/>
          <p:cNvSpPr/>
          <p:nvPr/>
        </p:nvSpPr>
        <p:spPr>
          <a:xfrm>
            <a:off x="8275320" y="4215841"/>
            <a:ext cx="1282903"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155"/>
          <p:cNvSpPr txBox="1"/>
          <p:nvPr/>
        </p:nvSpPr>
        <p:spPr>
          <a:xfrm>
            <a:off x="9613087" y="4173322"/>
            <a:ext cx="914400" cy="213055"/>
          </a:xfrm>
          <a:prstGeom prst="rect">
            <a:avLst/>
          </a:prstGeom>
          <a:noFill/>
        </p:spPr>
        <p:txBody>
          <a:bodyPr wrap="square" lIns="0" rIns="0" tIns="0" bIns="0" anchor="ctr">
            <a:spAutoFit/>
          </a:bodyPr>
          <a:lstStyle/>
          <a:p>
            <a:pPr algn="l"/>
            <a:r>
              <a:rPr sz="950" b="0" i="0">
                <a:solidFill>
                  <a:srgbClr val="4A6478"/>
                </a:solidFill>
                <a:latin typeface="Segoe UI"/>
              </a:rPr>
              <a:t>0,61</a:t>
            </a:r>
          </a:p>
        </p:txBody>
      </p:sp>
      <p:sp>
        <p:nvSpPr>
          <p:cNvPr id="61" name="TextBox 156"/>
          <p:cNvSpPr txBox="1"/>
          <p:nvPr/>
        </p:nvSpPr>
        <p:spPr>
          <a:xfrm>
            <a:off x="6355080" y="4386377"/>
            <a:ext cx="1828800" cy="213055"/>
          </a:xfrm>
          <a:prstGeom prst="rect">
            <a:avLst/>
          </a:prstGeom>
          <a:noFill/>
        </p:spPr>
        <p:txBody>
          <a:bodyPr wrap="square" lIns="0" rIns="0" tIns="0" bIns="0" anchor="ctr">
            <a:spAutoFit/>
          </a:bodyPr>
          <a:lstStyle/>
          <a:p>
            <a:pPr algn="r"/>
            <a:r>
              <a:rPr sz="1000" b="0" i="0">
                <a:solidFill>
                  <a:srgbClr val="0B2438"/>
                </a:solidFill>
                <a:latin typeface="Segoe UI"/>
              </a:rPr>
              <a:t>Web Brute Force</a:t>
            </a:r>
          </a:p>
        </p:txBody>
      </p:sp>
      <p:sp>
        <p:nvSpPr>
          <p:cNvPr id="62" name="Rectangle 157"/>
          <p:cNvSpPr/>
          <p:nvPr/>
        </p:nvSpPr>
        <p:spPr>
          <a:xfrm>
            <a:off x="8275320" y="4428896"/>
            <a:ext cx="1093622"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158"/>
          <p:cNvSpPr txBox="1"/>
          <p:nvPr/>
        </p:nvSpPr>
        <p:spPr>
          <a:xfrm>
            <a:off x="9423806" y="4386377"/>
            <a:ext cx="914400" cy="213055"/>
          </a:xfrm>
          <a:prstGeom prst="rect">
            <a:avLst/>
          </a:prstGeom>
          <a:noFill/>
        </p:spPr>
        <p:txBody>
          <a:bodyPr wrap="square" lIns="0" rIns="0" tIns="0" bIns="0" anchor="ctr">
            <a:spAutoFit/>
          </a:bodyPr>
          <a:lstStyle/>
          <a:p>
            <a:pPr algn="l"/>
            <a:r>
              <a:rPr sz="950" b="0" i="0">
                <a:solidFill>
                  <a:srgbClr val="4A6478"/>
                </a:solidFill>
                <a:latin typeface="Segoe UI"/>
              </a:rPr>
              <a:t>0,52</a:t>
            </a:r>
          </a:p>
        </p:txBody>
      </p:sp>
      <p:sp>
        <p:nvSpPr>
          <p:cNvPr id="64" name="TextBox 159"/>
          <p:cNvSpPr txBox="1"/>
          <p:nvPr/>
        </p:nvSpPr>
        <p:spPr>
          <a:xfrm>
            <a:off x="6355080" y="4599432"/>
            <a:ext cx="1828800" cy="213055"/>
          </a:xfrm>
          <a:prstGeom prst="rect">
            <a:avLst/>
          </a:prstGeom>
          <a:noFill/>
        </p:spPr>
        <p:txBody>
          <a:bodyPr wrap="square" lIns="0" rIns="0" tIns="0" bIns="0" anchor="ctr">
            <a:spAutoFit/>
          </a:bodyPr>
          <a:lstStyle/>
          <a:p>
            <a:pPr algn="r"/>
            <a:r>
              <a:rPr sz="1000" b="0" i="0">
                <a:solidFill>
                  <a:srgbClr val="0B2438"/>
                </a:solidFill>
                <a:latin typeface="Segoe UI"/>
              </a:rPr>
              <a:t>Web XSS</a:t>
            </a:r>
          </a:p>
        </p:txBody>
      </p:sp>
      <p:sp>
        <p:nvSpPr>
          <p:cNvPr id="65" name="Rectangle 160"/>
          <p:cNvSpPr/>
          <p:nvPr/>
        </p:nvSpPr>
        <p:spPr>
          <a:xfrm>
            <a:off x="8275320" y="4641952"/>
            <a:ext cx="988466" cy="128016"/>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161"/>
          <p:cNvSpPr txBox="1"/>
          <p:nvPr/>
        </p:nvSpPr>
        <p:spPr>
          <a:xfrm>
            <a:off x="9318650" y="4599432"/>
            <a:ext cx="914400" cy="213055"/>
          </a:xfrm>
          <a:prstGeom prst="rect">
            <a:avLst/>
          </a:prstGeom>
          <a:noFill/>
        </p:spPr>
        <p:txBody>
          <a:bodyPr wrap="square" lIns="0" rIns="0" tIns="0" bIns="0" anchor="ctr">
            <a:spAutoFit/>
          </a:bodyPr>
          <a:lstStyle/>
          <a:p>
            <a:pPr algn="l"/>
            <a:r>
              <a:rPr sz="950" b="0" i="0">
                <a:solidFill>
                  <a:srgbClr val="4A6478"/>
                </a:solidFill>
                <a:latin typeface="Segoe UI"/>
              </a:rPr>
              <a:t>0,47</a:t>
            </a:r>
          </a:p>
        </p:txBody>
      </p:sp>
      <p:sp>
        <p:nvSpPr>
          <p:cNvPr id="67" name="TextBox 162"/>
          <p:cNvSpPr txBox="1"/>
          <p:nvPr/>
        </p:nvSpPr>
        <p:spPr>
          <a:xfrm>
            <a:off x="6355080" y="4812487"/>
            <a:ext cx="1828800" cy="213055"/>
          </a:xfrm>
          <a:prstGeom prst="rect">
            <a:avLst/>
          </a:prstGeom>
          <a:noFill/>
        </p:spPr>
        <p:txBody>
          <a:bodyPr wrap="square" lIns="0" rIns="0" tIns="0" bIns="0" anchor="ctr">
            <a:spAutoFit/>
          </a:bodyPr>
          <a:lstStyle/>
          <a:p>
            <a:pPr algn="r"/>
            <a:r>
              <a:rPr sz="1000" b="0" i="0">
                <a:solidFill>
                  <a:srgbClr val="0B2438"/>
                </a:solidFill>
                <a:latin typeface="Segoe UI"/>
              </a:rPr>
              <a:t>Infiltration</a:t>
            </a:r>
          </a:p>
        </p:txBody>
      </p:sp>
      <p:sp>
        <p:nvSpPr>
          <p:cNvPr id="68" name="Rectangle 163"/>
          <p:cNvSpPr/>
          <p:nvPr/>
        </p:nvSpPr>
        <p:spPr>
          <a:xfrm>
            <a:off x="8275320" y="4855007"/>
            <a:ext cx="294437" cy="128016"/>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164"/>
          <p:cNvSpPr txBox="1"/>
          <p:nvPr/>
        </p:nvSpPr>
        <p:spPr>
          <a:xfrm>
            <a:off x="8624621" y="4812487"/>
            <a:ext cx="914400" cy="213055"/>
          </a:xfrm>
          <a:prstGeom prst="rect">
            <a:avLst/>
          </a:prstGeom>
          <a:noFill/>
        </p:spPr>
        <p:txBody>
          <a:bodyPr wrap="square" lIns="0" rIns="0" tIns="0" bIns="0" anchor="ctr">
            <a:spAutoFit/>
          </a:bodyPr>
          <a:lstStyle/>
          <a:p>
            <a:pPr algn="l"/>
            <a:r>
              <a:rPr sz="950" b="0" i="0">
                <a:solidFill>
                  <a:srgbClr val="4A6478"/>
                </a:solidFill>
                <a:latin typeface="Segoe UI"/>
              </a:rPr>
              <a:t>0,14</a:t>
            </a:r>
          </a:p>
        </p:txBody>
      </p:sp>
      <p:sp>
        <p:nvSpPr>
          <p:cNvPr id="70" name="TextBox 165"/>
          <p:cNvSpPr txBox="1"/>
          <p:nvPr/>
        </p:nvSpPr>
        <p:spPr>
          <a:xfrm>
            <a:off x="6355080" y="5025542"/>
            <a:ext cx="1828800" cy="213055"/>
          </a:xfrm>
          <a:prstGeom prst="rect">
            <a:avLst/>
          </a:prstGeom>
          <a:noFill/>
        </p:spPr>
        <p:txBody>
          <a:bodyPr wrap="square" lIns="0" rIns="0" tIns="0" bIns="0" anchor="ctr">
            <a:spAutoFit/>
          </a:bodyPr>
          <a:lstStyle/>
          <a:p>
            <a:pPr algn="r"/>
            <a:r>
              <a:rPr sz="1000" b="0" i="0">
                <a:solidFill>
                  <a:srgbClr val="0B2438"/>
                </a:solidFill>
                <a:latin typeface="Segoe UI"/>
              </a:rPr>
              <a:t>Heartbleed</a:t>
            </a:r>
          </a:p>
        </p:txBody>
      </p:sp>
      <p:sp>
        <p:nvSpPr>
          <p:cNvPr id="71" name="Rectangle 166"/>
          <p:cNvSpPr/>
          <p:nvPr/>
        </p:nvSpPr>
        <p:spPr>
          <a:xfrm>
            <a:off x="8275320" y="5068062"/>
            <a:ext cx="18288" cy="128016"/>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167"/>
          <p:cNvSpPr txBox="1"/>
          <p:nvPr/>
        </p:nvSpPr>
        <p:spPr>
          <a:xfrm>
            <a:off x="8348472" y="5025542"/>
            <a:ext cx="914400" cy="213055"/>
          </a:xfrm>
          <a:prstGeom prst="rect">
            <a:avLst/>
          </a:prstGeom>
          <a:noFill/>
        </p:spPr>
        <p:txBody>
          <a:bodyPr wrap="square" lIns="0" rIns="0" tIns="0" bIns="0" anchor="ctr">
            <a:spAutoFit/>
          </a:bodyPr>
          <a:lstStyle/>
          <a:p>
            <a:pPr algn="l"/>
            <a:r>
              <a:rPr sz="950" b="0" i="0">
                <a:solidFill>
                  <a:srgbClr val="4A6478"/>
                </a:solidFill>
                <a:latin typeface="Segoe UI"/>
              </a:rPr>
              <a:t>0,00</a:t>
            </a:r>
          </a:p>
        </p:txBody>
      </p:sp>
      <p:sp>
        <p:nvSpPr>
          <p:cNvPr id="73" name="TextBox 168"/>
          <p:cNvSpPr txBox="1"/>
          <p:nvPr/>
        </p:nvSpPr>
        <p:spPr>
          <a:xfrm>
            <a:off x="6355080" y="5238598"/>
            <a:ext cx="1828800" cy="213055"/>
          </a:xfrm>
          <a:prstGeom prst="rect">
            <a:avLst/>
          </a:prstGeom>
          <a:noFill/>
        </p:spPr>
        <p:txBody>
          <a:bodyPr wrap="square" lIns="0" rIns="0" tIns="0" bIns="0" anchor="ctr">
            <a:spAutoFit/>
          </a:bodyPr>
          <a:lstStyle/>
          <a:p>
            <a:pPr algn="r"/>
            <a:r>
              <a:rPr sz="1000" b="0" i="0">
                <a:solidFill>
                  <a:srgbClr val="0B2438"/>
                </a:solidFill>
                <a:latin typeface="Segoe UI"/>
              </a:rPr>
              <a:t>Web Sql Injection</a:t>
            </a:r>
          </a:p>
        </p:txBody>
      </p:sp>
      <p:sp>
        <p:nvSpPr>
          <p:cNvPr id="74" name="Rectangle 169"/>
          <p:cNvSpPr/>
          <p:nvPr/>
        </p:nvSpPr>
        <p:spPr>
          <a:xfrm>
            <a:off x="8275320" y="5281117"/>
            <a:ext cx="18288" cy="128016"/>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170"/>
          <p:cNvSpPr txBox="1"/>
          <p:nvPr/>
        </p:nvSpPr>
        <p:spPr>
          <a:xfrm>
            <a:off x="8348472" y="5238598"/>
            <a:ext cx="914400" cy="213055"/>
          </a:xfrm>
          <a:prstGeom prst="rect">
            <a:avLst/>
          </a:prstGeom>
          <a:noFill/>
        </p:spPr>
        <p:txBody>
          <a:bodyPr wrap="square" lIns="0" rIns="0" tIns="0" bIns="0" anchor="ctr">
            <a:spAutoFit/>
          </a:bodyPr>
          <a:lstStyle/>
          <a:p>
            <a:pPr algn="l"/>
            <a:r>
              <a:rPr sz="950" b="0" i="0">
                <a:solidFill>
                  <a:srgbClr val="4A6478"/>
                </a:solidFill>
                <a:latin typeface="Segoe UI"/>
              </a:rPr>
              <a:t>0,00</a:t>
            </a:r>
          </a:p>
        </p:txBody>
      </p:sp>
      <p:sp>
        <p:nvSpPr>
          <p:cNvPr id="76" name="TextBox 171"/>
          <p:cNvSpPr txBox="1"/>
          <p:nvPr/>
        </p:nvSpPr>
        <p:spPr>
          <a:xfrm>
            <a:off x="6355080" y="5486400"/>
            <a:ext cx="4572000" cy="201168"/>
          </a:xfrm>
          <a:prstGeom prst="rect">
            <a:avLst/>
          </a:prstGeom>
          <a:noFill/>
        </p:spPr>
        <p:txBody>
          <a:bodyPr wrap="square" lIns="0" rIns="0" tIns="0" bIns="0" anchor="t">
            <a:spAutoFit/>
          </a:bodyPr>
          <a:lstStyle/>
          <a:p>
            <a:pPr algn="l"/>
            <a:r>
              <a:rPr sz="900" b="0" i="0">
                <a:solidFill>
                  <a:srgbClr val="9A3B1B"/>
                </a:solidFill>
                <a:latin typeface="Segoe UI"/>
              </a:rPr>
              <a:t>■ </a:t>
            </a:r>
            <a:r>
              <a:rPr sz="900" b="0" i="0">
                <a:solidFill>
                  <a:srgbClr val="4A6478"/>
                </a:solidFill>
                <a:latin typeface="Segoe UI"/>
              </a:rPr>
              <a:t>sotto 0,5: le classi con pochi esempi</a:t>
            </a:r>
          </a:p>
        </p:txBody>
      </p:sp>
      <p:sp>
        <p:nvSpPr>
          <p:cNvPr id="77" name="Rounded Rectangle 172"/>
          <p:cNvSpPr/>
          <p:nvPr/>
        </p:nvSpPr>
        <p:spPr>
          <a:xfrm>
            <a:off x="1234440" y="5870448"/>
            <a:ext cx="9720072" cy="457200"/>
          </a:xfrm>
          <a:prstGeom prst="roundRect">
            <a:avLst>
              <a:gd name="adj" fmla="val 30000"/>
            </a:avLst>
          </a:prstGeom>
          <a:solidFill>
            <a:srgbClr val="D6E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173"/>
          <p:cNvSpPr txBox="1"/>
          <p:nvPr/>
        </p:nvSpPr>
        <p:spPr>
          <a:xfrm>
            <a:off x="1325880" y="5870448"/>
            <a:ext cx="9537192" cy="457200"/>
          </a:xfrm>
          <a:prstGeom prst="rect">
            <a:avLst/>
          </a:prstGeom>
          <a:noFill/>
        </p:spPr>
        <p:txBody>
          <a:bodyPr wrap="square" lIns="0" rIns="0" tIns="0" bIns="0" anchor="ctr">
            <a:spAutoFit/>
          </a:bodyPr>
          <a:lstStyle/>
          <a:p>
            <a:pPr algn="ctr"/>
            <a:r>
              <a:rPr sz="1400" b="0" i="1">
                <a:solidFill>
                  <a:srgbClr val="0B2438"/>
                </a:solidFill>
                <a:latin typeface="Georgia"/>
              </a:rPr>
              <a:t>Con le classi viste in training funzionano bene. Il problema è tutto ciò che non hanno mai visto.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154276" y="384048"/>
            <a:ext cx="1883448"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03 · AUTOENCODER</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L'autoencoder impara il </a:t>
            </a:r>
            <a:r>
              <a:rPr sz="3400" b="0" i="1">
                <a:solidFill>
                  <a:srgbClr val="BCD1DE"/>
                </a:solidFill>
                <a:latin typeface="Georgia"/>
              </a:rPr>
              <a:t>normale</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04 / 08</a:t>
            </a:r>
          </a:p>
        </p:txBody>
      </p:sp>
      <p:sp>
        <p:nvSpPr>
          <p:cNvPr id="11" name="TextBox 106"/>
          <p:cNvSpPr txBox="1"/>
          <p:nvPr/>
        </p:nvSpPr>
        <p:spPr>
          <a:xfrm>
            <a:off x="1234440" y="2157984"/>
            <a:ext cx="4389120" cy="237744"/>
          </a:xfrm>
          <a:prstGeom prst="rect">
            <a:avLst/>
          </a:prstGeom>
          <a:noFill/>
        </p:spPr>
        <p:txBody>
          <a:bodyPr wrap="square" lIns="0" rIns="0" tIns="0" bIns="0" anchor="t">
            <a:spAutoFit/>
          </a:bodyPr>
          <a:lstStyle/>
          <a:p>
            <a:pPr algn="l"/>
            <a:r>
              <a:rPr sz="1050" b="0" i="0" spc="100">
                <a:solidFill>
                  <a:srgbClr val="4A6478"/>
                </a:solidFill>
                <a:latin typeface="Segoe UI Semibold"/>
              </a:rPr>
              <a:t>ARCHITETTURA (MLP)</a:t>
            </a:r>
          </a:p>
        </p:txBody>
      </p:sp>
      <p:sp>
        <p:nvSpPr>
          <p:cNvPr id="12" name="Rounded Rectangle 107"/>
          <p:cNvSpPr/>
          <p:nvPr/>
        </p:nvSpPr>
        <p:spPr>
          <a:xfrm>
            <a:off x="1408176" y="2468880"/>
            <a:ext cx="384048" cy="1188720"/>
          </a:xfrm>
          <a:prstGeom prst="roundRect">
            <a:avLst>
              <a:gd name="adj" fmla="val 15000"/>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08"/>
          <p:cNvSpPr txBox="1"/>
          <p:nvPr/>
        </p:nvSpPr>
        <p:spPr>
          <a:xfrm>
            <a:off x="1143000" y="3703320"/>
            <a:ext cx="914400" cy="201168"/>
          </a:xfrm>
          <a:prstGeom prst="rect">
            <a:avLst/>
          </a:prstGeom>
          <a:noFill/>
        </p:spPr>
        <p:txBody>
          <a:bodyPr wrap="square" lIns="0" rIns="0" tIns="0" bIns="0" anchor="t">
            <a:spAutoFit/>
          </a:bodyPr>
          <a:lstStyle/>
          <a:p>
            <a:pPr algn="ctr"/>
            <a:r>
              <a:rPr sz="1100" b="0" i="0">
                <a:solidFill>
                  <a:srgbClr val="4A6478"/>
                </a:solidFill>
                <a:latin typeface="Segoe UI"/>
              </a:rPr>
              <a:t>77</a:t>
            </a:r>
          </a:p>
        </p:txBody>
      </p:sp>
      <p:sp>
        <p:nvSpPr>
          <p:cNvPr id="14" name="TextBox 109"/>
          <p:cNvSpPr txBox="1"/>
          <p:nvPr/>
        </p:nvSpPr>
        <p:spPr>
          <a:xfrm>
            <a:off x="1051560" y="3904488"/>
            <a:ext cx="1097280" cy="182880"/>
          </a:xfrm>
          <a:prstGeom prst="rect">
            <a:avLst/>
          </a:prstGeom>
          <a:noFill/>
        </p:spPr>
        <p:txBody>
          <a:bodyPr wrap="square" lIns="0" rIns="0" tIns="0" bIns="0" anchor="t">
            <a:spAutoFit/>
          </a:bodyPr>
          <a:lstStyle/>
          <a:p>
            <a:pPr algn="ctr"/>
            <a:r>
              <a:rPr sz="900" b="0" i="0">
                <a:solidFill>
                  <a:srgbClr val="84A0B4"/>
                </a:solidFill>
                <a:latin typeface="Segoe UI"/>
              </a:rPr>
              <a:t>ingresso</a:t>
            </a:r>
          </a:p>
        </p:txBody>
      </p:sp>
      <p:cxnSp>
        <p:nvCxnSpPr>
          <p:cNvPr id="15" name="Connector 110"/>
          <p:cNvCxnSpPr/>
          <p:nvPr/>
        </p:nvCxnSpPr>
        <p:spPr>
          <a:xfrm>
            <a:off x="1847088" y="3063240"/>
            <a:ext cx="420624"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11"/>
          <p:cNvSpPr/>
          <p:nvPr/>
        </p:nvSpPr>
        <p:spPr>
          <a:xfrm>
            <a:off x="2322576" y="2743200"/>
            <a:ext cx="384048" cy="640080"/>
          </a:xfrm>
          <a:prstGeom prst="roundRect">
            <a:avLst>
              <a:gd name="adj" fmla="val 15000"/>
            </a:avLst>
          </a:prstGeom>
          <a:solidFill>
            <a:srgbClr val="045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12"/>
          <p:cNvSpPr txBox="1"/>
          <p:nvPr/>
        </p:nvSpPr>
        <p:spPr>
          <a:xfrm>
            <a:off x="2057400" y="3703320"/>
            <a:ext cx="914400" cy="201168"/>
          </a:xfrm>
          <a:prstGeom prst="rect">
            <a:avLst/>
          </a:prstGeom>
          <a:noFill/>
        </p:spPr>
        <p:txBody>
          <a:bodyPr wrap="square" lIns="0" rIns="0" tIns="0" bIns="0" anchor="t">
            <a:spAutoFit/>
          </a:bodyPr>
          <a:lstStyle/>
          <a:p>
            <a:pPr algn="ctr"/>
            <a:r>
              <a:rPr sz="1100" b="0" i="0">
                <a:solidFill>
                  <a:srgbClr val="4A6478"/>
                </a:solidFill>
                <a:latin typeface="Segoe UI"/>
              </a:rPr>
              <a:t>32</a:t>
            </a:r>
          </a:p>
        </p:txBody>
      </p:sp>
      <p:cxnSp>
        <p:nvCxnSpPr>
          <p:cNvPr id="18" name="Connector 113"/>
          <p:cNvCxnSpPr/>
          <p:nvPr/>
        </p:nvCxnSpPr>
        <p:spPr>
          <a:xfrm>
            <a:off x="2761488" y="3063240"/>
            <a:ext cx="420624"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14"/>
          <p:cNvSpPr/>
          <p:nvPr/>
        </p:nvSpPr>
        <p:spPr>
          <a:xfrm>
            <a:off x="3236976" y="2857500"/>
            <a:ext cx="384048" cy="411480"/>
          </a:xfrm>
          <a:prstGeom prst="roundRect">
            <a:avLst>
              <a:gd name="adj" fmla="val 15000"/>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15"/>
          <p:cNvSpPr txBox="1"/>
          <p:nvPr/>
        </p:nvSpPr>
        <p:spPr>
          <a:xfrm>
            <a:off x="2971800" y="3703320"/>
            <a:ext cx="914400" cy="201168"/>
          </a:xfrm>
          <a:prstGeom prst="rect">
            <a:avLst/>
          </a:prstGeom>
          <a:noFill/>
        </p:spPr>
        <p:txBody>
          <a:bodyPr wrap="square" lIns="0" rIns="0" tIns="0" bIns="0" anchor="t">
            <a:spAutoFit/>
          </a:bodyPr>
          <a:lstStyle/>
          <a:p>
            <a:pPr algn="ctr"/>
            <a:r>
              <a:rPr sz="1100" b="0" i="0">
                <a:solidFill>
                  <a:srgbClr val="4A6478"/>
                </a:solidFill>
                <a:latin typeface="Segoe UI"/>
              </a:rPr>
              <a:t>16</a:t>
            </a:r>
          </a:p>
        </p:txBody>
      </p:sp>
      <p:sp>
        <p:nvSpPr>
          <p:cNvPr id="21" name="TextBox 116"/>
          <p:cNvSpPr txBox="1"/>
          <p:nvPr/>
        </p:nvSpPr>
        <p:spPr>
          <a:xfrm>
            <a:off x="2880360" y="3904488"/>
            <a:ext cx="1097280" cy="182880"/>
          </a:xfrm>
          <a:prstGeom prst="rect">
            <a:avLst/>
          </a:prstGeom>
          <a:noFill/>
        </p:spPr>
        <p:txBody>
          <a:bodyPr wrap="square" lIns="0" rIns="0" tIns="0" bIns="0" anchor="t">
            <a:spAutoFit/>
          </a:bodyPr>
          <a:lstStyle/>
          <a:p>
            <a:pPr algn="ctr"/>
            <a:r>
              <a:rPr sz="900" b="0" i="0">
                <a:solidFill>
                  <a:srgbClr val="84A0B4"/>
                </a:solidFill>
                <a:latin typeface="Segoe UI"/>
              </a:rPr>
              <a:t>codice</a:t>
            </a:r>
          </a:p>
        </p:txBody>
      </p:sp>
      <p:cxnSp>
        <p:nvCxnSpPr>
          <p:cNvPr id="22" name="Connector 117"/>
          <p:cNvCxnSpPr/>
          <p:nvPr/>
        </p:nvCxnSpPr>
        <p:spPr>
          <a:xfrm>
            <a:off x="3675888" y="3063240"/>
            <a:ext cx="420624"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118"/>
          <p:cNvSpPr/>
          <p:nvPr/>
        </p:nvSpPr>
        <p:spPr>
          <a:xfrm>
            <a:off x="4151376" y="2743200"/>
            <a:ext cx="384048" cy="640080"/>
          </a:xfrm>
          <a:prstGeom prst="roundRect">
            <a:avLst>
              <a:gd name="adj" fmla="val 15000"/>
            </a:avLst>
          </a:prstGeom>
          <a:solidFill>
            <a:srgbClr val="045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119"/>
          <p:cNvSpPr txBox="1"/>
          <p:nvPr/>
        </p:nvSpPr>
        <p:spPr>
          <a:xfrm>
            <a:off x="3886200" y="3703320"/>
            <a:ext cx="914400" cy="201168"/>
          </a:xfrm>
          <a:prstGeom prst="rect">
            <a:avLst/>
          </a:prstGeom>
          <a:noFill/>
        </p:spPr>
        <p:txBody>
          <a:bodyPr wrap="square" lIns="0" rIns="0" tIns="0" bIns="0" anchor="t">
            <a:spAutoFit/>
          </a:bodyPr>
          <a:lstStyle/>
          <a:p>
            <a:pPr algn="ctr"/>
            <a:r>
              <a:rPr sz="1100" b="0" i="0">
                <a:solidFill>
                  <a:srgbClr val="4A6478"/>
                </a:solidFill>
                <a:latin typeface="Segoe UI"/>
              </a:rPr>
              <a:t>32</a:t>
            </a:r>
          </a:p>
        </p:txBody>
      </p:sp>
      <p:cxnSp>
        <p:nvCxnSpPr>
          <p:cNvPr id="25" name="Connector 120"/>
          <p:cNvCxnSpPr/>
          <p:nvPr/>
        </p:nvCxnSpPr>
        <p:spPr>
          <a:xfrm>
            <a:off x="4590288" y="3063240"/>
            <a:ext cx="420624"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121"/>
          <p:cNvSpPr/>
          <p:nvPr/>
        </p:nvSpPr>
        <p:spPr>
          <a:xfrm>
            <a:off x="5065776" y="2468880"/>
            <a:ext cx="384048" cy="1188720"/>
          </a:xfrm>
          <a:prstGeom prst="roundRect">
            <a:avLst>
              <a:gd name="adj" fmla="val 15000"/>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122"/>
          <p:cNvSpPr txBox="1"/>
          <p:nvPr/>
        </p:nvSpPr>
        <p:spPr>
          <a:xfrm>
            <a:off x="4800600" y="3703320"/>
            <a:ext cx="914400" cy="201168"/>
          </a:xfrm>
          <a:prstGeom prst="rect">
            <a:avLst/>
          </a:prstGeom>
          <a:noFill/>
        </p:spPr>
        <p:txBody>
          <a:bodyPr wrap="square" lIns="0" rIns="0" tIns="0" bIns="0" anchor="t">
            <a:spAutoFit/>
          </a:bodyPr>
          <a:lstStyle/>
          <a:p>
            <a:pPr algn="ctr"/>
            <a:r>
              <a:rPr sz="1100" b="0" i="0">
                <a:solidFill>
                  <a:srgbClr val="4A6478"/>
                </a:solidFill>
                <a:latin typeface="Segoe UI"/>
              </a:rPr>
              <a:t>77</a:t>
            </a:r>
          </a:p>
        </p:txBody>
      </p:sp>
      <p:sp>
        <p:nvSpPr>
          <p:cNvPr id="28" name="TextBox 123"/>
          <p:cNvSpPr txBox="1"/>
          <p:nvPr/>
        </p:nvSpPr>
        <p:spPr>
          <a:xfrm>
            <a:off x="4709160" y="3904488"/>
            <a:ext cx="1097280" cy="182880"/>
          </a:xfrm>
          <a:prstGeom prst="rect">
            <a:avLst/>
          </a:prstGeom>
          <a:noFill/>
        </p:spPr>
        <p:txBody>
          <a:bodyPr wrap="square" lIns="0" rIns="0" tIns="0" bIns="0" anchor="t">
            <a:spAutoFit/>
          </a:bodyPr>
          <a:lstStyle/>
          <a:p>
            <a:pPr algn="ctr"/>
            <a:r>
              <a:rPr sz="900" b="0" i="0">
                <a:solidFill>
                  <a:srgbClr val="84A0B4"/>
                </a:solidFill>
                <a:latin typeface="Segoe UI"/>
              </a:rPr>
              <a:t>ricostruzione</a:t>
            </a:r>
          </a:p>
        </p:txBody>
      </p:sp>
      <p:sp>
        <p:nvSpPr>
          <p:cNvPr id="29" name="TextBox 124"/>
          <p:cNvSpPr txBox="1"/>
          <p:nvPr/>
        </p:nvSpPr>
        <p:spPr>
          <a:xfrm>
            <a:off x="1234440" y="4224528"/>
            <a:ext cx="4480560" cy="411480"/>
          </a:xfrm>
          <a:prstGeom prst="rect">
            <a:avLst/>
          </a:prstGeom>
          <a:noFill/>
        </p:spPr>
        <p:txBody>
          <a:bodyPr wrap="square" lIns="0" rIns="0" tIns="0" bIns="0" anchor="t">
            <a:spAutoFit/>
          </a:bodyPr>
          <a:lstStyle/>
          <a:p>
            <a:pPr algn="ctr"/>
            <a:r>
              <a:rPr sz="1050" b="0" i="0">
                <a:solidFill>
                  <a:srgbClr val="4A6478"/>
                </a:solidFill>
                <a:latin typeface="Segoe UI"/>
              </a:rPr>
              <a:t>errore = distanza tra ingresso e ricostruzione (MSE per flusso)</a:t>
            </a:r>
          </a:p>
        </p:txBody>
      </p:sp>
      <p:sp>
        <p:nvSpPr>
          <p:cNvPr id="30" name="Rounded Rectangle 125"/>
          <p:cNvSpPr/>
          <p:nvPr/>
        </p:nvSpPr>
        <p:spPr>
          <a:xfrm>
            <a:off x="1234440" y="4709160"/>
            <a:ext cx="1371600" cy="868680"/>
          </a:xfrm>
          <a:prstGeom prst="roundRect">
            <a:avLst>
              <a:gd name="adj" fmla="val 12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126"/>
          <p:cNvSpPr txBox="1"/>
          <p:nvPr/>
        </p:nvSpPr>
        <p:spPr>
          <a:xfrm>
            <a:off x="1234440" y="4773168"/>
            <a:ext cx="1371600" cy="201168"/>
          </a:xfrm>
          <a:prstGeom prst="rect">
            <a:avLst/>
          </a:prstGeom>
          <a:noFill/>
        </p:spPr>
        <p:txBody>
          <a:bodyPr wrap="square" lIns="0" rIns="0" tIns="0" bIns="0" anchor="t">
            <a:spAutoFit/>
          </a:bodyPr>
          <a:lstStyle/>
          <a:p>
            <a:pPr algn="ctr"/>
            <a:r>
              <a:rPr sz="850" b="0" i="0">
                <a:solidFill>
                  <a:srgbClr val="4A6478"/>
                </a:solidFill>
                <a:latin typeface="Segoe UI"/>
              </a:rPr>
              <a:t>errore medio Benign</a:t>
            </a:r>
          </a:p>
        </p:txBody>
      </p:sp>
      <p:sp>
        <p:nvSpPr>
          <p:cNvPr id="32" name="TextBox 127"/>
          <p:cNvSpPr txBox="1"/>
          <p:nvPr/>
        </p:nvSpPr>
        <p:spPr>
          <a:xfrm>
            <a:off x="1234440" y="5029200"/>
            <a:ext cx="1371600" cy="457200"/>
          </a:xfrm>
          <a:prstGeom prst="rect">
            <a:avLst/>
          </a:prstGeom>
          <a:noFill/>
        </p:spPr>
        <p:txBody>
          <a:bodyPr wrap="square" lIns="0" rIns="0" tIns="0" bIns="0" anchor="ctr">
            <a:spAutoFit/>
          </a:bodyPr>
          <a:lstStyle/>
          <a:p>
            <a:pPr algn="ctr"/>
            <a:r>
              <a:rPr sz="2200" b="0" i="0">
                <a:solidFill>
                  <a:srgbClr val="0C649C"/>
                </a:solidFill>
                <a:latin typeface="Georgia"/>
              </a:rPr>
              <a:t>0,074</a:t>
            </a:r>
          </a:p>
        </p:txBody>
      </p:sp>
      <p:sp>
        <p:nvSpPr>
          <p:cNvPr id="33" name="Rounded Rectangle 128"/>
          <p:cNvSpPr/>
          <p:nvPr/>
        </p:nvSpPr>
        <p:spPr>
          <a:xfrm>
            <a:off x="2743200" y="4709160"/>
            <a:ext cx="1371600" cy="868680"/>
          </a:xfrm>
          <a:prstGeom prst="roundRect">
            <a:avLst>
              <a:gd name="adj" fmla="val 12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129"/>
          <p:cNvSpPr txBox="1"/>
          <p:nvPr/>
        </p:nvSpPr>
        <p:spPr>
          <a:xfrm>
            <a:off x="2743200" y="4773168"/>
            <a:ext cx="1371600" cy="201168"/>
          </a:xfrm>
          <a:prstGeom prst="rect">
            <a:avLst/>
          </a:prstGeom>
          <a:noFill/>
        </p:spPr>
        <p:txBody>
          <a:bodyPr wrap="square" lIns="0" rIns="0" tIns="0" bIns="0" anchor="t">
            <a:spAutoFit/>
          </a:bodyPr>
          <a:lstStyle/>
          <a:p>
            <a:pPr algn="ctr"/>
            <a:r>
              <a:rPr sz="850" b="0" i="0">
                <a:solidFill>
                  <a:srgbClr val="4A6478"/>
                </a:solidFill>
                <a:latin typeface="Segoe UI"/>
              </a:rPr>
              <a:t>errore medio attacchi</a:t>
            </a:r>
          </a:p>
        </p:txBody>
      </p:sp>
      <p:sp>
        <p:nvSpPr>
          <p:cNvPr id="35" name="TextBox 130"/>
          <p:cNvSpPr txBox="1"/>
          <p:nvPr/>
        </p:nvSpPr>
        <p:spPr>
          <a:xfrm>
            <a:off x="2743200" y="5029200"/>
            <a:ext cx="1371600" cy="457200"/>
          </a:xfrm>
          <a:prstGeom prst="rect">
            <a:avLst/>
          </a:prstGeom>
          <a:noFill/>
        </p:spPr>
        <p:txBody>
          <a:bodyPr wrap="square" lIns="0" rIns="0" tIns="0" bIns="0" anchor="ctr">
            <a:spAutoFit/>
          </a:bodyPr>
          <a:lstStyle/>
          <a:p>
            <a:pPr algn="ctr"/>
            <a:r>
              <a:rPr sz="2200" b="0" i="0">
                <a:solidFill>
                  <a:srgbClr val="C98A3E"/>
                </a:solidFill>
                <a:latin typeface="Georgia"/>
              </a:rPr>
              <a:t>1,76</a:t>
            </a:r>
          </a:p>
        </p:txBody>
      </p:sp>
      <p:sp>
        <p:nvSpPr>
          <p:cNvPr id="36" name="Rounded Rectangle 131"/>
          <p:cNvSpPr/>
          <p:nvPr/>
        </p:nvSpPr>
        <p:spPr>
          <a:xfrm>
            <a:off x="4251960" y="4709160"/>
            <a:ext cx="1371600" cy="868680"/>
          </a:xfrm>
          <a:prstGeom prst="roundRect">
            <a:avLst>
              <a:gd name="adj" fmla="val 12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132"/>
          <p:cNvSpPr txBox="1"/>
          <p:nvPr/>
        </p:nvSpPr>
        <p:spPr>
          <a:xfrm>
            <a:off x="4251960" y="4773168"/>
            <a:ext cx="1371600" cy="201168"/>
          </a:xfrm>
          <a:prstGeom prst="rect">
            <a:avLst/>
          </a:prstGeom>
          <a:noFill/>
        </p:spPr>
        <p:txBody>
          <a:bodyPr wrap="square" lIns="0" rIns="0" tIns="0" bIns="0" anchor="t">
            <a:spAutoFit/>
          </a:bodyPr>
          <a:lstStyle/>
          <a:p>
            <a:pPr algn="ctr"/>
            <a:r>
              <a:rPr sz="850" b="0" i="0">
                <a:solidFill>
                  <a:srgbClr val="4A6478"/>
                </a:solidFill>
                <a:latin typeface="Segoe UI"/>
              </a:rPr>
              <a:t>soglia p99 Benign</a:t>
            </a:r>
          </a:p>
        </p:txBody>
      </p:sp>
      <p:sp>
        <p:nvSpPr>
          <p:cNvPr id="38" name="TextBox 133"/>
          <p:cNvSpPr txBox="1"/>
          <p:nvPr/>
        </p:nvSpPr>
        <p:spPr>
          <a:xfrm>
            <a:off x="4251960" y="5029200"/>
            <a:ext cx="1371600" cy="457200"/>
          </a:xfrm>
          <a:prstGeom prst="rect">
            <a:avLst/>
          </a:prstGeom>
          <a:noFill/>
        </p:spPr>
        <p:txBody>
          <a:bodyPr wrap="square" lIns="0" rIns="0" tIns="0" bIns="0" anchor="ctr">
            <a:spAutoFit/>
          </a:bodyPr>
          <a:lstStyle/>
          <a:p>
            <a:pPr algn="ctr"/>
            <a:r>
              <a:rPr sz="2200" b="0" i="0">
                <a:solidFill>
                  <a:srgbClr val="0B2438"/>
                </a:solidFill>
                <a:latin typeface="Georgia"/>
              </a:rPr>
              <a:t>0,638</a:t>
            </a:r>
          </a:p>
        </p:txBody>
      </p:sp>
      <p:sp>
        <p:nvSpPr>
          <p:cNvPr id="39" name="TextBox 134"/>
          <p:cNvSpPr txBox="1"/>
          <p:nvPr/>
        </p:nvSpPr>
        <p:spPr>
          <a:xfrm>
            <a:off x="1234440" y="5715000"/>
            <a:ext cx="4480560" cy="548640"/>
          </a:xfrm>
          <a:prstGeom prst="rect">
            <a:avLst/>
          </a:prstGeom>
          <a:noFill/>
        </p:spPr>
        <p:txBody>
          <a:bodyPr wrap="square" lIns="0" rIns="0" tIns="0" bIns="0" anchor="t">
            <a:spAutoFit/>
          </a:bodyPr>
          <a:lstStyle/>
          <a:p>
            <a:pPr algn="l"/>
            <a:r>
              <a:rPr sz="1050" b="0" i="1">
                <a:solidFill>
                  <a:srgbClr val="4A6478"/>
                </a:solidFill>
                <a:latin typeface="Segoe UI"/>
              </a:rPr>
              <a:t>Allenato su 1.184.801 flussi Benign. Anche lo scaler si adatta solo al Benign.</a:t>
            </a:r>
          </a:p>
        </p:txBody>
      </p:sp>
      <p:sp>
        <p:nvSpPr>
          <p:cNvPr id="40" name="TextBox 135"/>
          <p:cNvSpPr txBox="1"/>
          <p:nvPr/>
        </p:nvSpPr>
        <p:spPr>
          <a:xfrm>
            <a:off x="6080760" y="2157984"/>
            <a:ext cx="4846320" cy="237744"/>
          </a:xfrm>
          <a:prstGeom prst="rect">
            <a:avLst/>
          </a:prstGeom>
          <a:noFill/>
        </p:spPr>
        <p:txBody>
          <a:bodyPr wrap="square" lIns="0" rIns="0" tIns="0" bIns="0" anchor="t">
            <a:spAutoFit/>
          </a:bodyPr>
          <a:lstStyle/>
          <a:p>
            <a:pPr algn="l"/>
            <a:r>
              <a:rPr sz="1050" b="0" i="0" spc="100">
                <a:solidFill>
                  <a:srgbClr val="4A6478"/>
                </a:solidFill>
                <a:latin typeface="Segoe UI Semibold"/>
              </a:rPr>
              <a:t>ERRORE DI RICOSTRUZIONE · VALIDATION</a:t>
            </a:r>
          </a:p>
        </p:txBody>
      </p:sp>
      <p:cxnSp>
        <p:nvCxnSpPr>
          <p:cNvPr id="41" name="Connector 136"/>
          <p:cNvCxnSpPr/>
          <p:nvPr/>
        </p:nvCxnSpPr>
        <p:spPr>
          <a:xfrm>
            <a:off x="6217920" y="5212080"/>
            <a:ext cx="4663440" cy="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42" name="Rectangle 137"/>
          <p:cNvSpPr/>
          <p:nvPr/>
        </p:nvSpPr>
        <p:spPr>
          <a:xfrm>
            <a:off x="6217920" y="4694779"/>
            <a:ext cx="111923" cy="51730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138"/>
          <p:cNvSpPr/>
          <p:nvPr/>
        </p:nvSpPr>
        <p:spPr>
          <a:xfrm>
            <a:off x="6334506" y="4603120"/>
            <a:ext cx="111923" cy="608960"/>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139"/>
          <p:cNvSpPr/>
          <p:nvPr/>
        </p:nvSpPr>
        <p:spPr>
          <a:xfrm>
            <a:off x="6451092" y="4558010"/>
            <a:ext cx="111923" cy="654070"/>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140"/>
          <p:cNvSpPr/>
          <p:nvPr/>
        </p:nvSpPr>
        <p:spPr>
          <a:xfrm>
            <a:off x="6567678" y="4455328"/>
            <a:ext cx="111923" cy="756752"/>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141"/>
          <p:cNvSpPr/>
          <p:nvPr/>
        </p:nvSpPr>
        <p:spPr>
          <a:xfrm>
            <a:off x="6684264" y="4299629"/>
            <a:ext cx="111923" cy="91245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142"/>
          <p:cNvSpPr/>
          <p:nvPr/>
        </p:nvSpPr>
        <p:spPr>
          <a:xfrm>
            <a:off x="6800850" y="4539019"/>
            <a:ext cx="111923" cy="67306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143"/>
          <p:cNvSpPr/>
          <p:nvPr/>
        </p:nvSpPr>
        <p:spPr>
          <a:xfrm>
            <a:off x="6917436" y="4727788"/>
            <a:ext cx="111923" cy="484292"/>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144"/>
          <p:cNvSpPr/>
          <p:nvPr/>
        </p:nvSpPr>
        <p:spPr>
          <a:xfrm>
            <a:off x="7034022" y="4200242"/>
            <a:ext cx="111923" cy="1011838"/>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145"/>
          <p:cNvSpPr/>
          <p:nvPr/>
        </p:nvSpPr>
        <p:spPr>
          <a:xfrm>
            <a:off x="7034022" y="5150346"/>
            <a:ext cx="111923" cy="61734"/>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146"/>
          <p:cNvSpPr/>
          <p:nvPr/>
        </p:nvSpPr>
        <p:spPr>
          <a:xfrm>
            <a:off x="7150608" y="3852419"/>
            <a:ext cx="111923" cy="135966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147"/>
          <p:cNvSpPr/>
          <p:nvPr/>
        </p:nvSpPr>
        <p:spPr>
          <a:xfrm>
            <a:off x="7150608" y="4669489"/>
            <a:ext cx="111923" cy="542591"/>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148"/>
          <p:cNvSpPr/>
          <p:nvPr/>
        </p:nvSpPr>
        <p:spPr>
          <a:xfrm>
            <a:off x="7267194" y="3943359"/>
            <a:ext cx="111923" cy="126872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149"/>
          <p:cNvSpPr/>
          <p:nvPr/>
        </p:nvSpPr>
        <p:spPr>
          <a:xfrm>
            <a:off x="7267194" y="4488332"/>
            <a:ext cx="111923" cy="723748"/>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150"/>
          <p:cNvSpPr/>
          <p:nvPr/>
        </p:nvSpPr>
        <p:spPr>
          <a:xfrm>
            <a:off x="7383780" y="4195959"/>
            <a:ext cx="111923" cy="101612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151"/>
          <p:cNvSpPr/>
          <p:nvPr/>
        </p:nvSpPr>
        <p:spPr>
          <a:xfrm>
            <a:off x="7383780" y="4567654"/>
            <a:ext cx="111923" cy="644426"/>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152"/>
          <p:cNvSpPr/>
          <p:nvPr/>
        </p:nvSpPr>
        <p:spPr>
          <a:xfrm>
            <a:off x="7500366" y="4400184"/>
            <a:ext cx="111923" cy="811896"/>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153"/>
          <p:cNvSpPr/>
          <p:nvPr/>
        </p:nvSpPr>
        <p:spPr>
          <a:xfrm>
            <a:off x="7500366" y="4888987"/>
            <a:ext cx="111923" cy="323093"/>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154"/>
          <p:cNvSpPr/>
          <p:nvPr/>
        </p:nvSpPr>
        <p:spPr>
          <a:xfrm>
            <a:off x="7616952" y="4721857"/>
            <a:ext cx="111923" cy="49022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155"/>
          <p:cNvSpPr/>
          <p:nvPr/>
        </p:nvSpPr>
        <p:spPr>
          <a:xfrm>
            <a:off x="7616952" y="4670544"/>
            <a:ext cx="111923" cy="541536"/>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156"/>
          <p:cNvSpPr/>
          <p:nvPr/>
        </p:nvSpPr>
        <p:spPr>
          <a:xfrm>
            <a:off x="7733538" y="4838647"/>
            <a:ext cx="111923" cy="37343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157"/>
          <p:cNvSpPr/>
          <p:nvPr/>
        </p:nvSpPr>
        <p:spPr>
          <a:xfrm>
            <a:off x="7733538" y="5173210"/>
            <a:ext cx="111923" cy="3887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158"/>
          <p:cNvSpPr/>
          <p:nvPr/>
        </p:nvSpPr>
        <p:spPr>
          <a:xfrm>
            <a:off x="7850124" y="4957623"/>
            <a:ext cx="111923" cy="254457"/>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159"/>
          <p:cNvSpPr/>
          <p:nvPr/>
        </p:nvSpPr>
        <p:spPr>
          <a:xfrm>
            <a:off x="7850124" y="5001199"/>
            <a:ext cx="111923" cy="210881"/>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160"/>
          <p:cNvSpPr/>
          <p:nvPr/>
        </p:nvSpPr>
        <p:spPr>
          <a:xfrm>
            <a:off x="7966710" y="5004231"/>
            <a:ext cx="111923" cy="207849"/>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161"/>
          <p:cNvSpPr/>
          <p:nvPr/>
        </p:nvSpPr>
        <p:spPr>
          <a:xfrm>
            <a:off x="7966710" y="5014918"/>
            <a:ext cx="111923" cy="197162"/>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162"/>
          <p:cNvSpPr/>
          <p:nvPr/>
        </p:nvSpPr>
        <p:spPr>
          <a:xfrm>
            <a:off x="8083296" y="5069051"/>
            <a:ext cx="111923" cy="143029"/>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163"/>
          <p:cNvSpPr/>
          <p:nvPr/>
        </p:nvSpPr>
        <p:spPr>
          <a:xfrm>
            <a:off x="8083296" y="4871927"/>
            <a:ext cx="111923" cy="340153"/>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164"/>
          <p:cNvSpPr/>
          <p:nvPr/>
        </p:nvSpPr>
        <p:spPr>
          <a:xfrm>
            <a:off x="8199882" y="5094482"/>
            <a:ext cx="111923" cy="117598"/>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165"/>
          <p:cNvSpPr/>
          <p:nvPr/>
        </p:nvSpPr>
        <p:spPr>
          <a:xfrm>
            <a:off x="8199882" y="4710820"/>
            <a:ext cx="111923" cy="50126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166"/>
          <p:cNvSpPr/>
          <p:nvPr/>
        </p:nvSpPr>
        <p:spPr>
          <a:xfrm>
            <a:off x="8316468" y="5149327"/>
            <a:ext cx="111923" cy="6275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167"/>
          <p:cNvSpPr/>
          <p:nvPr/>
        </p:nvSpPr>
        <p:spPr>
          <a:xfrm>
            <a:off x="8316468" y="4899013"/>
            <a:ext cx="111923" cy="313067"/>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168"/>
          <p:cNvSpPr/>
          <p:nvPr/>
        </p:nvSpPr>
        <p:spPr>
          <a:xfrm>
            <a:off x="8433054" y="5165771"/>
            <a:ext cx="111923" cy="46309"/>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169"/>
          <p:cNvSpPr/>
          <p:nvPr/>
        </p:nvSpPr>
        <p:spPr>
          <a:xfrm>
            <a:off x="8433054" y="5076124"/>
            <a:ext cx="111923" cy="135956"/>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170"/>
          <p:cNvSpPr/>
          <p:nvPr/>
        </p:nvSpPr>
        <p:spPr>
          <a:xfrm>
            <a:off x="8549640" y="5185211"/>
            <a:ext cx="111923" cy="26869"/>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171"/>
          <p:cNvSpPr/>
          <p:nvPr/>
        </p:nvSpPr>
        <p:spPr>
          <a:xfrm>
            <a:off x="8549640" y="4262677"/>
            <a:ext cx="111923" cy="949403"/>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172"/>
          <p:cNvSpPr/>
          <p:nvPr/>
        </p:nvSpPr>
        <p:spPr>
          <a:xfrm>
            <a:off x="8666226" y="5193838"/>
            <a:ext cx="111923" cy="18242"/>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173"/>
          <p:cNvSpPr/>
          <p:nvPr/>
        </p:nvSpPr>
        <p:spPr>
          <a:xfrm>
            <a:off x="8666226" y="2514600"/>
            <a:ext cx="111923" cy="269748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174"/>
          <p:cNvSpPr/>
          <p:nvPr/>
        </p:nvSpPr>
        <p:spPr>
          <a:xfrm>
            <a:off x="8782812" y="5206179"/>
            <a:ext cx="111923" cy="590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175"/>
          <p:cNvSpPr/>
          <p:nvPr/>
        </p:nvSpPr>
        <p:spPr>
          <a:xfrm>
            <a:off x="8782812" y="3714457"/>
            <a:ext cx="111923" cy="1497623"/>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176"/>
          <p:cNvSpPr/>
          <p:nvPr/>
        </p:nvSpPr>
        <p:spPr>
          <a:xfrm>
            <a:off x="8899398" y="4203581"/>
            <a:ext cx="111923" cy="1008499"/>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177"/>
          <p:cNvSpPr/>
          <p:nvPr/>
        </p:nvSpPr>
        <p:spPr>
          <a:xfrm>
            <a:off x="9015984" y="4602654"/>
            <a:ext cx="111923" cy="609426"/>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178"/>
          <p:cNvSpPr/>
          <p:nvPr/>
        </p:nvSpPr>
        <p:spPr>
          <a:xfrm>
            <a:off x="9132570" y="5038486"/>
            <a:ext cx="111923" cy="173594"/>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179"/>
          <p:cNvSpPr/>
          <p:nvPr/>
        </p:nvSpPr>
        <p:spPr>
          <a:xfrm>
            <a:off x="9249156" y="4908862"/>
            <a:ext cx="111923" cy="303218"/>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180"/>
          <p:cNvSpPr/>
          <p:nvPr/>
        </p:nvSpPr>
        <p:spPr>
          <a:xfrm>
            <a:off x="9365742" y="5196778"/>
            <a:ext cx="111923" cy="15302"/>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6" name="Connector 181"/>
          <p:cNvCxnSpPr/>
          <p:nvPr/>
        </p:nvCxnSpPr>
        <p:spPr>
          <a:xfrm>
            <a:off x="621792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87" name="TextBox 182"/>
          <p:cNvSpPr txBox="1"/>
          <p:nvPr/>
        </p:nvSpPr>
        <p:spPr>
          <a:xfrm>
            <a:off x="594360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0,001</a:t>
            </a:r>
          </a:p>
        </p:txBody>
      </p:sp>
      <p:cxnSp>
        <p:nvCxnSpPr>
          <p:cNvPr id="88" name="Connector 183"/>
          <p:cNvCxnSpPr/>
          <p:nvPr/>
        </p:nvCxnSpPr>
        <p:spPr>
          <a:xfrm>
            <a:off x="699516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89" name="TextBox 184"/>
          <p:cNvSpPr txBox="1"/>
          <p:nvPr/>
        </p:nvSpPr>
        <p:spPr>
          <a:xfrm>
            <a:off x="672084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0,01</a:t>
            </a:r>
          </a:p>
        </p:txBody>
      </p:sp>
      <p:cxnSp>
        <p:nvCxnSpPr>
          <p:cNvPr id="90" name="Connector 185"/>
          <p:cNvCxnSpPr/>
          <p:nvPr/>
        </p:nvCxnSpPr>
        <p:spPr>
          <a:xfrm>
            <a:off x="777240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1" name="TextBox 186"/>
          <p:cNvSpPr txBox="1"/>
          <p:nvPr/>
        </p:nvSpPr>
        <p:spPr>
          <a:xfrm>
            <a:off x="749808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0,1</a:t>
            </a:r>
          </a:p>
        </p:txBody>
      </p:sp>
      <p:cxnSp>
        <p:nvCxnSpPr>
          <p:cNvPr id="92" name="Connector 187"/>
          <p:cNvCxnSpPr/>
          <p:nvPr/>
        </p:nvCxnSpPr>
        <p:spPr>
          <a:xfrm>
            <a:off x="854964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3" name="TextBox 188"/>
          <p:cNvSpPr txBox="1"/>
          <p:nvPr/>
        </p:nvSpPr>
        <p:spPr>
          <a:xfrm>
            <a:off x="827532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1</a:t>
            </a:r>
          </a:p>
        </p:txBody>
      </p:sp>
      <p:cxnSp>
        <p:nvCxnSpPr>
          <p:cNvPr id="94" name="Connector 189"/>
          <p:cNvCxnSpPr/>
          <p:nvPr/>
        </p:nvCxnSpPr>
        <p:spPr>
          <a:xfrm>
            <a:off x="932688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5" name="TextBox 190"/>
          <p:cNvSpPr txBox="1"/>
          <p:nvPr/>
        </p:nvSpPr>
        <p:spPr>
          <a:xfrm>
            <a:off x="905256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10</a:t>
            </a:r>
          </a:p>
        </p:txBody>
      </p:sp>
      <p:cxnSp>
        <p:nvCxnSpPr>
          <p:cNvPr id="96" name="Connector 191"/>
          <p:cNvCxnSpPr/>
          <p:nvPr/>
        </p:nvCxnSpPr>
        <p:spPr>
          <a:xfrm>
            <a:off x="1010412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7" name="TextBox 192"/>
          <p:cNvSpPr txBox="1"/>
          <p:nvPr/>
        </p:nvSpPr>
        <p:spPr>
          <a:xfrm>
            <a:off x="982980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100</a:t>
            </a:r>
          </a:p>
        </p:txBody>
      </p:sp>
      <p:cxnSp>
        <p:nvCxnSpPr>
          <p:cNvPr id="98" name="Connector 193"/>
          <p:cNvCxnSpPr/>
          <p:nvPr/>
        </p:nvCxnSpPr>
        <p:spPr>
          <a:xfrm>
            <a:off x="10881360" y="5212080"/>
            <a:ext cx="0" cy="4572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9" name="TextBox 194"/>
          <p:cNvSpPr txBox="1"/>
          <p:nvPr/>
        </p:nvSpPr>
        <p:spPr>
          <a:xfrm>
            <a:off x="10607040" y="5276088"/>
            <a:ext cx="548640" cy="164592"/>
          </a:xfrm>
          <a:prstGeom prst="rect">
            <a:avLst/>
          </a:prstGeom>
          <a:noFill/>
        </p:spPr>
        <p:txBody>
          <a:bodyPr wrap="square" lIns="0" rIns="0" tIns="0" bIns="0" anchor="t">
            <a:spAutoFit/>
          </a:bodyPr>
          <a:lstStyle/>
          <a:p>
            <a:pPr algn="ctr"/>
            <a:r>
              <a:rPr sz="800" b="0" i="0">
                <a:solidFill>
                  <a:srgbClr val="4A6478"/>
                </a:solidFill>
                <a:latin typeface="Segoe UI"/>
              </a:rPr>
              <a:t>1000</a:t>
            </a:r>
          </a:p>
        </p:txBody>
      </p:sp>
      <p:cxnSp>
        <p:nvCxnSpPr>
          <p:cNvPr id="100" name="Connector 195"/>
          <p:cNvCxnSpPr/>
          <p:nvPr/>
        </p:nvCxnSpPr>
        <p:spPr>
          <a:xfrm>
            <a:off x="7991077" y="2514600"/>
            <a:ext cx="0" cy="2697480"/>
          </a:xfrm>
          <a:prstGeom prst="line">
            <a:avLst/>
          </a:prstGeom>
          <a:ln w="19050">
            <a:solidFill>
              <a:srgbClr val="4A6478"/>
            </a:solidFill>
            <a:prstDash val="dash"/>
          </a:ln>
        </p:spPr>
        <p:style>
          <a:lnRef idx="2">
            <a:schemeClr val="accent1"/>
          </a:lnRef>
          <a:fillRef idx="0">
            <a:schemeClr val="accent1"/>
          </a:fillRef>
          <a:effectRef idx="1">
            <a:schemeClr val="accent1"/>
          </a:effectRef>
          <a:fontRef idx="minor">
            <a:schemeClr val="tx1"/>
          </a:fontRef>
        </p:style>
      </p:cxnSp>
      <p:sp>
        <p:nvSpPr>
          <p:cNvPr id="101" name="TextBox 196"/>
          <p:cNvSpPr txBox="1"/>
          <p:nvPr/>
        </p:nvSpPr>
        <p:spPr>
          <a:xfrm>
            <a:off x="7579597" y="2496312"/>
            <a:ext cx="640080" cy="182880"/>
          </a:xfrm>
          <a:prstGeom prst="rect">
            <a:avLst/>
          </a:prstGeom>
          <a:noFill/>
        </p:spPr>
        <p:txBody>
          <a:bodyPr wrap="square" lIns="0" rIns="0" tIns="0" bIns="0" anchor="t">
            <a:spAutoFit/>
          </a:bodyPr>
          <a:lstStyle/>
          <a:p>
            <a:pPr algn="r"/>
            <a:r>
              <a:rPr sz="900" b="1" i="0">
                <a:solidFill>
                  <a:srgbClr val="4A6478"/>
                </a:solidFill>
                <a:latin typeface="Segoe UI"/>
              </a:rPr>
              <a:t>p95</a:t>
            </a:r>
          </a:p>
        </p:txBody>
      </p:sp>
      <p:cxnSp>
        <p:nvCxnSpPr>
          <p:cNvPr id="102" name="Connector 197"/>
          <p:cNvCxnSpPr/>
          <p:nvPr/>
        </p:nvCxnSpPr>
        <p:spPr>
          <a:xfrm>
            <a:off x="8397805" y="2514600"/>
            <a:ext cx="0" cy="2697480"/>
          </a:xfrm>
          <a:prstGeom prst="line">
            <a:avLst/>
          </a:prstGeom>
          <a:ln w="19050">
            <a:solidFill>
              <a:srgbClr val="9A3B1B"/>
            </a:solidFill>
            <a:prstDash val="dash"/>
          </a:ln>
        </p:spPr>
        <p:style>
          <a:lnRef idx="2">
            <a:schemeClr val="accent1"/>
          </a:lnRef>
          <a:fillRef idx="0">
            <a:schemeClr val="accent1"/>
          </a:fillRef>
          <a:effectRef idx="1">
            <a:schemeClr val="accent1"/>
          </a:effectRef>
          <a:fontRef idx="minor">
            <a:schemeClr val="tx1"/>
          </a:fontRef>
        </p:style>
      </p:cxnSp>
      <p:sp>
        <p:nvSpPr>
          <p:cNvPr id="103" name="TextBox 198"/>
          <p:cNvSpPr txBox="1"/>
          <p:nvPr/>
        </p:nvSpPr>
        <p:spPr>
          <a:xfrm>
            <a:off x="8443525" y="2496312"/>
            <a:ext cx="640080" cy="182880"/>
          </a:xfrm>
          <a:prstGeom prst="rect">
            <a:avLst/>
          </a:prstGeom>
          <a:noFill/>
        </p:spPr>
        <p:txBody>
          <a:bodyPr wrap="square" lIns="0" rIns="0" tIns="0" bIns="0" anchor="t">
            <a:spAutoFit/>
          </a:bodyPr>
          <a:lstStyle/>
          <a:p>
            <a:pPr algn="l"/>
            <a:r>
              <a:rPr sz="900" b="1" i="0">
                <a:solidFill>
                  <a:srgbClr val="9A3B1B"/>
                </a:solidFill>
                <a:latin typeface="Segoe UI"/>
              </a:rPr>
              <a:t>p99</a:t>
            </a:r>
          </a:p>
        </p:txBody>
      </p:sp>
      <p:sp>
        <p:nvSpPr>
          <p:cNvPr id="104" name="TextBox 199"/>
          <p:cNvSpPr txBox="1"/>
          <p:nvPr/>
        </p:nvSpPr>
        <p:spPr>
          <a:xfrm>
            <a:off x="6217920" y="5486400"/>
            <a:ext cx="4663440" cy="182880"/>
          </a:xfrm>
          <a:prstGeom prst="rect">
            <a:avLst/>
          </a:prstGeom>
          <a:noFill/>
        </p:spPr>
        <p:txBody>
          <a:bodyPr wrap="square" lIns="0" rIns="0" tIns="0" bIns="0" anchor="t">
            <a:spAutoFit/>
          </a:bodyPr>
          <a:lstStyle/>
          <a:p>
            <a:pPr algn="ctr"/>
            <a:r>
              <a:rPr sz="900" b="0" i="0">
                <a:solidFill>
                  <a:srgbClr val="4A6478"/>
                </a:solidFill>
                <a:latin typeface="Segoe UI"/>
              </a:rPr>
              <a:t>errore di ricostruzione (scala logaritmica)</a:t>
            </a:r>
          </a:p>
        </p:txBody>
      </p:sp>
      <p:sp>
        <p:nvSpPr>
          <p:cNvPr id="105" name="Rectangle 200"/>
          <p:cNvSpPr/>
          <p:nvPr/>
        </p:nvSpPr>
        <p:spPr>
          <a:xfrm>
            <a:off x="6537960" y="5669280"/>
            <a:ext cx="128016" cy="128016"/>
          </a:xfrm>
          <a:prstGeom prst="rect">
            <a:avLst/>
          </a:prstGeom>
          <a:solidFill>
            <a:srgbClr val="0C649C">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201"/>
          <p:cNvSpPr txBox="1"/>
          <p:nvPr/>
        </p:nvSpPr>
        <p:spPr>
          <a:xfrm>
            <a:off x="6720840" y="5623560"/>
            <a:ext cx="1645920" cy="219456"/>
          </a:xfrm>
          <a:prstGeom prst="rect">
            <a:avLst/>
          </a:prstGeom>
          <a:noFill/>
        </p:spPr>
        <p:txBody>
          <a:bodyPr wrap="square" lIns="0" rIns="0" tIns="0" bIns="0" anchor="ctr">
            <a:spAutoFit/>
          </a:bodyPr>
          <a:lstStyle/>
          <a:p>
            <a:pPr algn="l"/>
            <a:r>
              <a:rPr sz="1000" b="0" i="0">
                <a:solidFill>
                  <a:srgbClr val="0B2438"/>
                </a:solidFill>
                <a:latin typeface="Segoe UI"/>
              </a:rPr>
              <a:t>Benign (394.933)</a:t>
            </a:r>
          </a:p>
        </p:txBody>
      </p:sp>
      <p:sp>
        <p:nvSpPr>
          <p:cNvPr id="107" name="Rectangle 202"/>
          <p:cNvSpPr/>
          <p:nvPr/>
        </p:nvSpPr>
        <p:spPr>
          <a:xfrm>
            <a:off x="8412480" y="5669280"/>
            <a:ext cx="128016" cy="128016"/>
          </a:xfrm>
          <a:prstGeom prst="rect">
            <a:avLst/>
          </a:prstGeom>
          <a:solidFill>
            <a:srgbClr val="C98A3E">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203"/>
          <p:cNvSpPr txBox="1"/>
          <p:nvPr/>
        </p:nvSpPr>
        <p:spPr>
          <a:xfrm>
            <a:off x="8595360" y="5623560"/>
            <a:ext cx="2011680" cy="219456"/>
          </a:xfrm>
          <a:prstGeom prst="rect">
            <a:avLst/>
          </a:prstGeom>
          <a:noFill/>
        </p:spPr>
        <p:txBody>
          <a:bodyPr wrap="square" lIns="0" rIns="0" tIns="0" bIns="0" anchor="ctr">
            <a:spAutoFit/>
          </a:bodyPr>
          <a:lstStyle/>
          <a:p>
            <a:pPr algn="l"/>
            <a:r>
              <a:rPr sz="1000" b="0" i="0">
                <a:solidFill>
                  <a:srgbClr val="0B2438"/>
                </a:solidFill>
                <a:latin typeface="Segoe UI"/>
              </a:rPr>
              <a:t>Attacchi (67.260)</a:t>
            </a:r>
          </a:p>
        </p:txBody>
      </p:sp>
      <p:sp>
        <p:nvSpPr>
          <p:cNvPr id="109" name="TextBox 204"/>
          <p:cNvSpPr txBox="1"/>
          <p:nvPr/>
        </p:nvSpPr>
        <p:spPr>
          <a:xfrm>
            <a:off x="6080760" y="5897880"/>
            <a:ext cx="4846320" cy="411480"/>
          </a:xfrm>
          <a:prstGeom prst="rect">
            <a:avLst/>
          </a:prstGeom>
          <a:noFill/>
        </p:spPr>
        <p:txBody>
          <a:bodyPr wrap="square" lIns="0" rIns="0" tIns="0" bIns="0" anchor="t">
            <a:spAutoFit/>
          </a:bodyPr>
          <a:lstStyle/>
          <a:p>
            <a:pPr algn="l"/>
            <a:r>
              <a:rPr sz="1050" b="0" i="1">
                <a:solidFill>
                  <a:srgbClr val="4A6478"/>
                </a:solidFill>
                <a:latin typeface="Segoe UI"/>
              </a:rPr>
              <a:t>Altezza = densità, normalizzata per serie. Il normale si ricostruisce bene; molti attacchi cadono a destra della soglia.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270862" y="384048"/>
            <a:ext cx="165027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04 · PIPELINE</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XGBoost + autoencoder, in </a:t>
            </a:r>
            <a:r>
              <a:rPr sz="3400" b="0" i="1">
                <a:solidFill>
                  <a:srgbClr val="BCD1DE"/>
                </a:solidFill>
                <a:latin typeface="Georgia"/>
              </a:rPr>
              <a:t>cascata</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05 / 08</a:t>
            </a:r>
          </a:p>
        </p:txBody>
      </p:sp>
      <p:sp>
        <p:nvSpPr>
          <p:cNvPr id="11" name="Rounded Rectangle 106"/>
          <p:cNvSpPr/>
          <p:nvPr/>
        </p:nvSpPr>
        <p:spPr>
          <a:xfrm>
            <a:off x="1234440" y="2542032"/>
            <a:ext cx="1005840" cy="41148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07"/>
          <p:cNvSpPr txBox="1"/>
          <p:nvPr/>
        </p:nvSpPr>
        <p:spPr>
          <a:xfrm>
            <a:off x="1234440" y="2542032"/>
            <a:ext cx="1005840" cy="411480"/>
          </a:xfrm>
          <a:prstGeom prst="rect">
            <a:avLst/>
          </a:prstGeom>
          <a:noFill/>
        </p:spPr>
        <p:txBody>
          <a:bodyPr wrap="square" lIns="0" rIns="0" tIns="0" bIns="0" anchor="ctr">
            <a:spAutoFit/>
          </a:bodyPr>
          <a:lstStyle/>
          <a:p>
            <a:pPr algn="ctr"/>
            <a:r>
              <a:rPr sz="1100" b="0" i="0">
                <a:solidFill>
                  <a:srgbClr val="0B2438"/>
                </a:solidFill>
                <a:latin typeface="Segoe UI"/>
              </a:rPr>
              <a:t>Flusso</a:t>
            </a:r>
          </a:p>
        </p:txBody>
      </p:sp>
      <p:cxnSp>
        <p:nvCxnSpPr>
          <p:cNvPr id="13" name="Connector 108"/>
          <p:cNvCxnSpPr/>
          <p:nvPr/>
        </p:nvCxnSpPr>
        <p:spPr>
          <a:xfrm>
            <a:off x="2286000" y="2743200"/>
            <a:ext cx="457200" cy="0"/>
          </a:xfrm>
          <a:prstGeom prst="line">
            <a:avLst/>
          </a:prstGeom>
          <a:ln w="15875">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09"/>
          <p:cNvSpPr/>
          <p:nvPr/>
        </p:nvSpPr>
        <p:spPr>
          <a:xfrm>
            <a:off x="2743200" y="2286000"/>
            <a:ext cx="2103120" cy="777240"/>
          </a:xfrm>
          <a:prstGeom prst="roundRect">
            <a:avLst>
              <a:gd name="adj" fmla="val 16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10"/>
          <p:cNvSpPr txBox="1"/>
          <p:nvPr/>
        </p:nvSpPr>
        <p:spPr>
          <a:xfrm>
            <a:off x="2743200" y="2331720"/>
            <a:ext cx="2103120" cy="365760"/>
          </a:xfrm>
          <a:prstGeom prst="rect">
            <a:avLst/>
          </a:prstGeom>
          <a:noFill/>
        </p:spPr>
        <p:txBody>
          <a:bodyPr wrap="square" lIns="0" rIns="0" tIns="0" bIns="0" anchor="ctr">
            <a:spAutoFit/>
          </a:bodyPr>
          <a:lstStyle/>
          <a:p>
            <a:pPr algn="ctr"/>
            <a:r>
              <a:rPr sz="1500" b="0" i="0">
                <a:solidFill>
                  <a:srgbClr val="C98A3E"/>
                </a:solidFill>
                <a:latin typeface="Georgia"/>
              </a:rPr>
              <a:t>XGBoost</a:t>
            </a:r>
          </a:p>
        </p:txBody>
      </p:sp>
      <p:sp>
        <p:nvSpPr>
          <p:cNvPr id="16" name="TextBox 111"/>
          <p:cNvSpPr txBox="1"/>
          <p:nvPr/>
        </p:nvSpPr>
        <p:spPr>
          <a:xfrm>
            <a:off x="2743200" y="2679192"/>
            <a:ext cx="2103120" cy="274320"/>
          </a:xfrm>
          <a:prstGeom prst="rect">
            <a:avLst/>
          </a:prstGeom>
          <a:noFill/>
        </p:spPr>
        <p:txBody>
          <a:bodyPr wrap="square" lIns="0" rIns="0" tIns="0" bIns="0" anchor="t">
            <a:spAutoFit/>
          </a:bodyPr>
          <a:lstStyle/>
          <a:p>
            <a:pPr algn="ctr"/>
            <a:r>
              <a:rPr sz="1000" b="0" i="0">
                <a:solidFill>
                  <a:srgbClr val="4A6478"/>
                </a:solidFill>
                <a:latin typeface="Segoe UI"/>
              </a:rPr>
              <a:t>attacco o normale?</a:t>
            </a:r>
          </a:p>
        </p:txBody>
      </p:sp>
      <p:cxnSp>
        <p:nvCxnSpPr>
          <p:cNvPr id="17" name="Connector 112"/>
          <p:cNvCxnSpPr/>
          <p:nvPr/>
        </p:nvCxnSpPr>
        <p:spPr>
          <a:xfrm>
            <a:off x="4892040" y="2670048"/>
            <a:ext cx="1097280" cy="0"/>
          </a:xfrm>
          <a:prstGeom prst="line">
            <a:avLst/>
          </a:prstGeom>
          <a:ln w="15875">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13"/>
          <p:cNvSpPr txBox="1"/>
          <p:nvPr/>
        </p:nvSpPr>
        <p:spPr>
          <a:xfrm>
            <a:off x="4983480" y="2423160"/>
            <a:ext cx="1005840" cy="201168"/>
          </a:xfrm>
          <a:prstGeom prst="rect">
            <a:avLst/>
          </a:prstGeom>
          <a:noFill/>
        </p:spPr>
        <p:txBody>
          <a:bodyPr wrap="square" lIns="0" rIns="0" tIns="0" bIns="0" anchor="t">
            <a:spAutoFit/>
          </a:bodyPr>
          <a:lstStyle/>
          <a:p>
            <a:pPr algn="ctr"/>
            <a:r>
              <a:rPr sz="900" b="0" i="0">
                <a:solidFill>
                  <a:srgbClr val="4A6478"/>
                </a:solidFill>
                <a:latin typeface="Segoe UI"/>
              </a:rPr>
              <a:t>attacco</a:t>
            </a:r>
          </a:p>
        </p:txBody>
      </p:sp>
      <p:sp>
        <p:nvSpPr>
          <p:cNvPr id="19" name="Rounded Rectangle 114"/>
          <p:cNvSpPr/>
          <p:nvPr/>
        </p:nvSpPr>
        <p:spPr>
          <a:xfrm>
            <a:off x="5989320" y="2286000"/>
            <a:ext cx="2194560" cy="777240"/>
          </a:xfrm>
          <a:prstGeom prst="roundRect">
            <a:avLst>
              <a:gd name="adj" fmla="val 16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15"/>
          <p:cNvSpPr txBox="1"/>
          <p:nvPr/>
        </p:nvSpPr>
        <p:spPr>
          <a:xfrm>
            <a:off x="5989320" y="2331720"/>
            <a:ext cx="2194560" cy="365760"/>
          </a:xfrm>
          <a:prstGeom prst="rect">
            <a:avLst/>
          </a:prstGeom>
          <a:noFill/>
        </p:spPr>
        <p:txBody>
          <a:bodyPr wrap="square" lIns="0" rIns="0" tIns="0" bIns="0" anchor="ctr">
            <a:spAutoFit/>
          </a:bodyPr>
          <a:lstStyle/>
          <a:p>
            <a:pPr algn="ctr"/>
            <a:r>
              <a:rPr sz="1500" b="0" i="0">
                <a:solidFill>
                  <a:srgbClr val="0C649C"/>
                </a:solidFill>
                <a:latin typeface="Georgia"/>
              </a:rPr>
              <a:t>Allarme</a:t>
            </a:r>
          </a:p>
        </p:txBody>
      </p:sp>
      <p:sp>
        <p:nvSpPr>
          <p:cNvPr id="21" name="TextBox 116"/>
          <p:cNvSpPr txBox="1"/>
          <p:nvPr/>
        </p:nvSpPr>
        <p:spPr>
          <a:xfrm>
            <a:off x="5989320" y="2679192"/>
            <a:ext cx="2194560" cy="274320"/>
          </a:xfrm>
          <a:prstGeom prst="rect">
            <a:avLst/>
          </a:prstGeom>
          <a:noFill/>
        </p:spPr>
        <p:txBody>
          <a:bodyPr wrap="square" lIns="0" rIns="0" tIns="0" bIns="0" anchor="t">
            <a:spAutoFit/>
          </a:bodyPr>
          <a:lstStyle/>
          <a:p>
            <a:pPr algn="ctr"/>
            <a:r>
              <a:rPr sz="1000" b="0" i="0">
                <a:solidFill>
                  <a:srgbClr val="4A6478"/>
                </a:solidFill>
                <a:latin typeface="Segoe UI"/>
              </a:rPr>
              <a:t>con il tipo di attacco</a:t>
            </a:r>
          </a:p>
        </p:txBody>
      </p:sp>
      <p:cxnSp>
        <p:nvCxnSpPr>
          <p:cNvPr id="22" name="Connector 117"/>
          <p:cNvCxnSpPr/>
          <p:nvPr/>
        </p:nvCxnSpPr>
        <p:spPr>
          <a:xfrm>
            <a:off x="3794760" y="3090672"/>
            <a:ext cx="0" cy="475488"/>
          </a:xfrm>
          <a:prstGeom prst="line">
            <a:avLst/>
          </a:prstGeom>
          <a:ln w="15875">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118"/>
          <p:cNvSpPr txBox="1"/>
          <p:nvPr/>
        </p:nvSpPr>
        <p:spPr>
          <a:xfrm>
            <a:off x="3886200" y="3200400"/>
            <a:ext cx="731520" cy="201168"/>
          </a:xfrm>
          <a:prstGeom prst="rect">
            <a:avLst/>
          </a:prstGeom>
          <a:noFill/>
        </p:spPr>
        <p:txBody>
          <a:bodyPr wrap="square" lIns="0" rIns="0" tIns="0" bIns="0" anchor="t">
            <a:spAutoFit/>
          </a:bodyPr>
          <a:lstStyle/>
          <a:p>
            <a:pPr algn="l"/>
            <a:r>
              <a:rPr sz="900" b="0" i="0">
                <a:solidFill>
                  <a:srgbClr val="4A6478"/>
                </a:solidFill>
                <a:latin typeface="Segoe UI"/>
              </a:rPr>
              <a:t>normale</a:t>
            </a:r>
          </a:p>
        </p:txBody>
      </p:sp>
      <p:sp>
        <p:nvSpPr>
          <p:cNvPr id="24" name="Rounded Rectangle 119"/>
          <p:cNvSpPr/>
          <p:nvPr/>
        </p:nvSpPr>
        <p:spPr>
          <a:xfrm>
            <a:off x="2743200" y="3593592"/>
            <a:ext cx="2103120" cy="777240"/>
          </a:xfrm>
          <a:prstGeom prst="roundRect">
            <a:avLst>
              <a:gd name="adj" fmla="val 16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120"/>
          <p:cNvSpPr txBox="1"/>
          <p:nvPr/>
        </p:nvSpPr>
        <p:spPr>
          <a:xfrm>
            <a:off x="2743200" y="3639312"/>
            <a:ext cx="2103120" cy="365760"/>
          </a:xfrm>
          <a:prstGeom prst="rect">
            <a:avLst/>
          </a:prstGeom>
          <a:noFill/>
        </p:spPr>
        <p:txBody>
          <a:bodyPr wrap="square" lIns="0" rIns="0" tIns="0" bIns="0" anchor="ctr">
            <a:spAutoFit/>
          </a:bodyPr>
          <a:lstStyle/>
          <a:p>
            <a:pPr algn="ctr"/>
            <a:r>
              <a:rPr sz="1500" b="0" i="0">
                <a:solidFill>
                  <a:srgbClr val="0C649C"/>
                </a:solidFill>
                <a:latin typeface="Georgia"/>
              </a:rPr>
              <a:t>Autoencoder</a:t>
            </a:r>
          </a:p>
        </p:txBody>
      </p:sp>
      <p:sp>
        <p:nvSpPr>
          <p:cNvPr id="26" name="TextBox 121"/>
          <p:cNvSpPr txBox="1"/>
          <p:nvPr/>
        </p:nvSpPr>
        <p:spPr>
          <a:xfrm>
            <a:off x="2743200" y="3986784"/>
            <a:ext cx="2103120" cy="274320"/>
          </a:xfrm>
          <a:prstGeom prst="rect">
            <a:avLst/>
          </a:prstGeom>
          <a:noFill/>
        </p:spPr>
        <p:txBody>
          <a:bodyPr wrap="square" lIns="0" rIns="0" tIns="0" bIns="0" anchor="t">
            <a:spAutoFit/>
          </a:bodyPr>
          <a:lstStyle/>
          <a:p>
            <a:pPr algn="ctr"/>
            <a:r>
              <a:rPr sz="1000" b="0" i="0">
                <a:solidFill>
                  <a:srgbClr val="4A6478"/>
                </a:solidFill>
                <a:latin typeface="Segoe UI"/>
              </a:rPr>
              <a:t>sembra normale?</a:t>
            </a:r>
          </a:p>
        </p:txBody>
      </p:sp>
      <p:cxnSp>
        <p:nvCxnSpPr>
          <p:cNvPr id="27" name="Connector 122"/>
          <p:cNvCxnSpPr/>
          <p:nvPr/>
        </p:nvCxnSpPr>
        <p:spPr>
          <a:xfrm>
            <a:off x="4892040" y="3977640"/>
            <a:ext cx="1097280" cy="0"/>
          </a:xfrm>
          <a:prstGeom prst="line">
            <a:avLst/>
          </a:prstGeom>
          <a:ln w="15875">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123"/>
          <p:cNvSpPr txBox="1"/>
          <p:nvPr/>
        </p:nvSpPr>
        <p:spPr>
          <a:xfrm>
            <a:off x="4983480" y="3730752"/>
            <a:ext cx="1005840" cy="201168"/>
          </a:xfrm>
          <a:prstGeom prst="rect">
            <a:avLst/>
          </a:prstGeom>
          <a:noFill/>
        </p:spPr>
        <p:txBody>
          <a:bodyPr wrap="square" lIns="0" rIns="0" tIns="0" bIns="0" anchor="t">
            <a:spAutoFit/>
          </a:bodyPr>
          <a:lstStyle/>
          <a:p>
            <a:pPr algn="ctr"/>
            <a:r>
              <a:rPr sz="900" b="0" i="0">
                <a:solidFill>
                  <a:srgbClr val="4A6478"/>
                </a:solidFill>
                <a:latin typeface="Segoe UI"/>
              </a:rPr>
              <a:t>anomalo</a:t>
            </a:r>
          </a:p>
        </p:txBody>
      </p:sp>
      <p:sp>
        <p:nvSpPr>
          <p:cNvPr id="29" name="Rounded Rectangle 124"/>
          <p:cNvSpPr/>
          <p:nvPr/>
        </p:nvSpPr>
        <p:spPr>
          <a:xfrm>
            <a:off x="5989320" y="3593592"/>
            <a:ext cx="2194560" cy="777240"/>
          </a:xfrm>
          <a:prstGeom prst="roundRect">
            <a:avLst>
              <a:gd name="adj" fmla="val 16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125"/>
          <p:cNvSpPr txBox="1"/>
          <p:nvPr/>
        </p:nvSpPr>
        <p:spPr>
          <a:xfrm>
            <a:off x="5989320" y="3639312"/>
            <a:ext cx="2194560" cy="365760"/>
          </a:xfrm>
          <a:prstGeom prst="rect">
            <a:avLst/>
          </a:prstGeom>
          <a:noFill/>
        </p:spPr>
        <p:txBody>
          <a:bodyPr wrap="square" lIns="0" rIns="0" tIns="0" bIns="0" anchor="ctr">
            <a:spAutoFit/>
          </a:bodyPr>
          <a:lstStyle/>
          <a:p>
            <a:pPr algn="ctr"/>
            <a:r>
              <a:rPr sz="1500" b="0" i="0">
                <a:solidFill>
                  <a:srgbClr val="9A3B1B"/>
                </a:solidFill>
                <a:latin typeface="Georgia"/>
              </a:rPr>
              <a:t>Allarme</a:t>
            </a:r>
          </a:p>
        </p:txBody>
      </p:sp>
      <p:sp>
        <p:nvSpPr>
          <p:cNvPr id="31" name="TextBox 126"/>
          <p:cNvSpPr txBox="1"/>
          <p:nvPr/>
        </p:nvSpPr>
        <p:spPr>
          <a:xfrm>
            <a:off x="5989320" y="3986784"/>
            <a:ext cx="2194560" cy="274320"/>
          </a:xfrm>
          <a:prstGeom prst="rect">
            <a:avLst/>
          </a:prstGeom>
          <a:noFill/>
        </p:spPr>
        <p:txBody>
          <a:bodyPr wrap="square" lIns="0" rIns="0" tIns="0" bIns="0" anchor="t">
            <a:spAutoFit/>
          </a:bodyPr>
          <a:lstStyle/>
          <a:p>
            <a:pPr algn="ctr"/>
            <a:r>
              <a:rPr sz="1000" b="0" i="0">
                <a:solidFill>
                  <a:srgbClr val="4A6478"/>
                </a:solidFill>
                <a:latin typeface="Segoe UI"/>
              </a:rPr>
              <a:t>anomalia da verificare</a:t>
            </a:r>
          </a:p>
        </p:txBody>
      </p:sp>
      <p:cxnSp>
        <p:nvCxnSpPr>
          <p:cNvPr id="32" name="Connector 127"/>
          <p:cNvCxnSpPr/>
          <p:nvPr/>
        </p:nvCxnSpPr>
        <p:spPr>
          <a:xfrm flipH="1">
            <a:off x="2240280" y="3977640"/>
            <a:ext cx="502920" cy="0"/>
          </a:xfrm>
          <a:prstGeom prst="line">
            <a:avLst/>
          </a:prstGeom>
          <a:ln w="15875">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128"/>
          <p:cNvSpPr txBox="1"/>
          <p:nvPr/>
        </p:nvSpPr>
        <p:spPr>
          <a:xfrm>
            <a:off x="1051560" y="3840480"/>
            <a:ext cx="1188720" cy="274320"/>
          </a:xfrm>
          <a:prstGeom prst="rect">
            <a:avLst/>
          </a:prstGeom>
          <a:noFill/>
        </p:spPr>
        <p:txBody>
          <a:bodyPr wrap="square" lIns="0" rIns="0" tIns="0" bIns="0" anchor="t">
            <a:spAutoFit/>
          </a:bodyPr>
          <a:lstStyle/>
          <a:p>
            <a:pPr algn="r"/>
            <a:r>
              <a:rPr sz="950" b="0" i="0">
                <a:solidFill>
                  <a:srgbClr val="4A6478"/>
                </a:solidFill>
                <a:latin typeface="Segoe UI"/>
              </a:rPr>
              <a:t>nessun allarme</a:t>
            </a:r>
          </a:p>
        </p:txBody>
      </p:sp>
      <p:sp>
        <p:nvSpPr>
          <p:cNvPr id="34" name="Rounded Rectangle 129"/>
          <p:cNvSpPr/>
          <p:nvPr/>
        </p:nvSpPr>
        <p:spPr>
          <a:xfrm>
            <a:off x="8549640" y="2286000"/>
            <a:ext cx="2404872" cy="2084832"/>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130"/>
          <p:cNvSpPr txBox="1"/>
          <p:nvPr/>
        </p:nvSpPr>
        <p:spPr>
          <a:xfrm>
            <a:off x="8686800" y="2377440"/>
            <a:ext cx="2148840" cy="274320"/>
          </a:xfrm>
          <a:prstGeom prst="rect">
            <a:avLst/>
          </a:prstGeom>
          <a:noFill/>
        </p:spPr>
        <p:txBody>
          <a:bodyPr wrap="square" lIns="0" rIns="0" tIns="0" bIns="0" anchor="t">
            <a:spAutoFit/>
          </a:bodyPr>
          <a:lstStyle/>
          <a:p>
            <a:pPr algn="l"/>
            <a:r>
              <a:rPr sz="950" b="0" i="0" spc="100">
                <a:solidFill>
                  <a:srgbClr val="4A6478"/>
                </a:solidFill>
                <a:latin typeface="Segoe UI Semibold"/>
              </a:rPr>
              <a:t>AUTOENCODER · SPEED</a:t>
            </a:r>
          </a:p>
        </p:txBody>
      </p:sp>
      <p:sp>
        <p:nvSpPr>
          <p:cNvPr id="36" name="TextBox 131"/>
          <p:cNvSpPr txBox="1"/>
          <p:nvPr/>
        </p:nvSpPr>
        <p:spPr>
          <a:xfrm>
            <a:off x="8686800" y="2697480"/>
            <a:ext cx="2148840" cy="548640"/>
          </a:xfrm>
          <a:prstGeom prst="rect">
            <a:avLst/>
          </a:prstGeom>
          <a:noFill/>
        </p:spPr>
        <p:txBody>
          <a:bodyPr wrap="square" lIns="0" rIns="0" tIns="0" bIns="0" anchor="t">
            <a:spAutoFit/>
          </a:bodyPr>
          <a:lstStyle/>
          <a:p>
            <a:pPr algn="l"/>
            <a:r>
              <a:rPr sz="2400" b="0" i="0">
                <a:solidFill>
                  <a:srgbClr val="0C649C"/>
                </a:solidFill>
                <a:latin typeface="Georgia"/>
              </a:rPr>
              <a:t>~94 milioni</a:t>
            </a:r>
          </a:p>
        </p:txBody>
      </p:sp>
      <p:sp>
        <p:nvSpPr>
          <p:cNvPr id="37" name="TextBox 132"/>
          <p:cNvSpPr txBox="1"/>
          <p:nvPr/>
        </p:nvSpPr>
        <p:spPr>
          <a:xfrm>
            <a:off x="8686800" y="3200400"/>
            <a:ext cx="2148840" cy="274320"/>
          </a:xfrm>
          <a:prstGeom prst="rect">
            <a:avLst/>
          </a:prstGeom>
          <a:noFill/>
        </p:spPr>
        <p:txBody>
          <a:bodyPr wrap="square" lIns="0" rIns="0" tIns="0" bIns="0" anchor="t">
            <a:spAutoFit/>
          </a:bodyPr>
          <a:lstStyle/>
          <a:p>
            <a:pPr algn="l"/>
            <a:r>
              <a:rPr sz="1100" b="0" i="0">
                <a:solidFill>
                  <a:srgbClr val="0B2438"/>
                </a:solidFill>
                <a:latin typeface="Segoe UI"/>
              </a:rPr>
              <a:t>di flussi al secondo</a:t>
            </a:r>
          </a:p>
        </p:txBody>
      </p:sp>
      <p:sp>
        <p:nvSpPr>
          <p:cNvPr id="38" name="TextBox 133"/>
          <p:cNvSpPr txBox="1"/>
          <p:nvPr/>
        </p:nvSpPr>
        <p:spPr>
          <a:xfrm>
            <a:off x="8686800" y="3566160"/>
            <a:ext cx="2148840" cy="731520"/>
          </a:xfrm>
          <a:prstGeom prst="rect">
            <a:avLst/>
          </a:prstGeom>
          <a:noFill/>
        </p:spPr>
        <p:txBody>
          <a:bodyPr wrap="square" lIns="0" rIns="0" tIns="0" bIns="0" anchor="t">
            <a:spAutoFit/>
          </a:bodyPr>
          <a:lstStyle/>
          <a:p>
            <a:pPr algn="l"/>
            <a:r>
              <a:rPr sz="900" b="0" i="0">
                <a:solidFill>
                  <a:srgbClr val="4A6478"/>
                </a:solidFill>
                <a:latin typeface="Segoe UI"/>
              </a:rPr>
              <a:t>GTX 1070, dati già in GPU. Esclude estrazione delle feature e copia CPU→GPU: non è il collo di bottiglia.</a:t>
            </a:r>
          </a:p>
        </p:txBody>
      </p:sp>
      <p:sp>
        <p:nvSpPr>
          <p:cNvPr id="39" name="TextBox 134"/>
          <p:cNvSpPr txBox="1"/>
          <p:nvPr/>
        </p:nvSpPr>
        <p:spPr>
          <a:xfrm>
            <a:off x="1234440" y="4572000"/>
            <a:ext cx="4754880" cy="237744"/>
          </a:xfrm>
          <a:prstGeom prst="rect">
            <a:avLst/>
          </a:prstGeom>
          <a:noFill/>
        </p:spPr>
        <p:txBody>
          <a:bodyPr wrap="square" lIns="0" rIns="0" tIns="0" bIns="0" anchor="t">
            <a:spAutoFit/>
          </a:bodyPr>
          <a:lstStyle/>
          <a:p>
            <a:pPr algn="l"/>
            <a:r>
              <a:rPr sz="1050" b="0" i="0" spc="100">
                <a:solidFill>
                  <a:srgbClr val="4A6478"/>
                </a:solidFill>
                <a:latin typeface="Segoe UI Semibold"/>
              </a:rPr>
              <a:t>VALIDATION · SOGLIA P99 · XGBOOST DEFAULT</a:t>
            </a:r>
          </a:p>
        </p:txBody>
      </p:sp>
      <p:sp>
        <p:nvSpPr>
          <p:cNvPr id="40" name="Rounded Rectangle 135"/>
          <p:cNvSpPr/>
          <p:nvPr/>
        </p:nvSpPr>
        <p:spPr>
          <a:xfrm>
            <a:off x="1234440" y="4846320"/>
            <a:ext cx="1417320" cy="822960"/>
          </a:xfrm>
          <a:prstGeom prst="roundRect">
            <a:avLst>
              <a:gd name="adj" fmla="val 12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136"/>
          <p:cNvSpPr txBox="1"/>
          <p:nvPr/>
        </p:nvSpPr>
        <p:spPr>
          <a:xfrm>
            <a:off x="1234440" y="4882896"/>
            <a:ext cx="1417320" cy="411480"/>
          </a:xfrm>
          <a:prstGeom prst="rect">
            <a:avLst/>
          </a:prstGeom>
          <a:noFill/>
        </p:spPr>
        <p:txBody>
          <a:bodyPr wrap="square" lIns="0" rIns="0" tIns="0" bIns="0" anchor="ctr">
            <a:spAutoFit/>
          </a:bodyPr>
          <a:lstStyle/>
          <a:p>
            <a:pPr algn="ctr"/>
            <a:r>
              <a:rPr sz="2000" b="0" i="0">
                <a:solidFill>
                  <a:srgbClr val="4A6478"/>
                </a:solidFill>
                <a:latin typeface="Georgia"/>
              </a:rPr>
              <a:t>67.260</a:t>
            </a:r>
          </a:p>
        </p:txBody>
      </p:sp>
      <p:sp>
        <p:nvSpPr>
          <p:cNvPr id="42" name="TextBox 137"/>
          <p:cNvSpPr txBox="1"/>
          <p:nvPr/>
        </p:nvSpPr>
        <p:spPr>
          <a:xfrm>
            <a:off x="1280160" y="5303520"/>
            <a:ext cx="1325880" cy="347472"/>
          </a:xfrm>
          <a:prstGeom prst="rect">
            <a:avLst/>
          </a:prstGeom>
          <a:noFill/>
        </p:spPr>
        <p:txBody>
          <a:bodyPr wrap="square" lIns="0" rIns="0" tIns="0" bIns="0" anchor="t">
            <a:spAutoFit/>
          </a:bodyPr>
          <a:lstStyle/>
          <a:p>
            <a:pPr algn="ctr"/>
            <a:r>
              <a:rPr sz="900" b="0" i="0">
                <a:solidFill>
                  <a:srgbClr val="4A6478"/>
                </a:solidFill>
                <a:latin typeface="Segoe UI"/>
              </a:rPr>
              <a:t>attacchi</a:t>
            </a:r>
          </a:p>
        </p:txBody>
      </p:sp>
      <p:cxnSp>
        <p:nvCxnSpPr>
          <p:cNvPr id="43" name="Connector 138"/>
          <p:cNvCxnSpPr/>
          <p:nvPr/>
        </p:nvCxnSpPr>
        <p:spPr>
          <a:xfrm>
            <a:off x="2679192" y="5257800"/>
            <a:ext cx="155448"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139"/>
          <p:cNvSpPr/>
          <p:nvPr/>
        </p:nvSpPr>
        <p:spPr>
          <a:xfrm>
            <a:off x="2862072" y="4846320"/>
            <a:ext cx="1417320" cy="822960"/>
          </a:xfrm>
          <a:prstGeom prst="roundRect">
            <a:avLst>
              <a:gd name="adj" fmla="val 12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140"/>
          <p:cNvSpPr txBox="1"/>
          <p:nvPr/>
        </p:nvSpPr>
        <p:spPr>
          <a:xfrm>
            <a:off x="2862072" y="4882896"/>
            <a:ext cx="1417320" cy="411480"/>
          </a:xfrm>
          <a:prstGeom prst="rect">
            <a:avLst/>
          </a:prstGeom>
          <a:noFill/>
        </p:spPr>
        <p:txBody>
          <a:bodyPr wrap="square" lIns="0" rIns="0" tIns="0" bIns="0" anchor="ctr">
            <a:spAutoFit/>
          </a:bodyPr>
          <a:lstStyle/>
          <a:p>
            <a:pPr algn="ctr"/>
            <a:r>
              <a:rPr sz="2000" b="0" i="0">
                <a:solidFill>
                  <a:srgbClr val="C98A3E"/>
                </a:solidFill>
                <a:latin typeface="Georgia"/>
              </a:rPr>
              <a:t>1.304</a:t>
            </a:r>
          </a:p>
        </p:txBody>
      </p:sp>
      <p:sp>
        <p:nvSpPr>
          <p:cNvPr id="46" name="TextBox 141"/>
          <p:cNvSpPr txBox="1"/>
          <p:nvPr/>
        </p:nvSpPr>
        <p:spPr>
          <a:xfrm>
            <a:off x="2907792" y="5303520"/>
            <a:ext cx="1325880" cy="347472"/>
          </a:xfrm>
          <a:prstGeom prst="rect">
            <a:avLst/>
          </a:prstGeom>
          <a:noFill/>
        </p:spPr>
        <p:txBody>
          <a:bodyPr wrap="square" lIns="0" rIns="0" tIns="0" bIns="0" anchor="t">
            <a:spAutoFit/>
          </a:bodyPr>
          <a:lstStyle/>
          <a:p>
            <a:pPr algn="ctr"/>
            <a:r>
              <a:rPr sz="900" b="0" i="0">
                <a:solidFill>
                  <a:srgbClr val="4A6478"/>
                </a:solidFill>
                <a:latin typeface="Segoe UI"/>
              </a:rPr>
              <a:t>mancati da XGBoost</a:t>
            </a:r>
          </a:p>
        </p:txBody>
      </p:sp>
      <p:cxnSp>
        <p:nvCxnSpPr>
          <p:cNvPr id="47" name="Connector 142"/>
          <p:cNvCxnSpPr/>
          <p:nvPr/>
        </p:nvCxnSpPr>
        <p:spPr>
          <a:xfrm>
            <a:off x="4306824" y="5257800"/>
            <a:ext cx="155448"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143"/>
          <p:cNvSpPr/>
          <p:nvPr/>
        </p:nvSpPr>
        <p:spPr>
          <a:xfrm>
            <a:off x="4489704" y="4846320"/>
            <a:ext cx="1417320" cy="822960"/>
          </a:xfrm>
          <a:prstGeom prst="roundRect">
            <a:avLst>
              <a:gd name="adj" fmla="val 12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144"/>
          <p:cNvSpPr txBox="1"/>
          <p:nvPr/>
        </p:nvSpPr>
        <p:spPr>
          <a:xfrm>
            <a:off x="4489704" y="4882896"/>
            <a:ext cx="1417320" cy="411480"/>
          </a:xfrm>
          <a:prstGeom prst="rect">
            <a:avLst/>
          </a:prstGeom>
          <a:noFill/>
        </p:spPr>
        <p:txBody>
          <a:bodyPr wrap="square" lIns="0" rIns="0" tIns="0" bIns="0" anchor="ctr">
            <a:spAutoFit/>
          </a:bodyPr>
          <a:lstStyle/>
          <a:p>
            <a:pPr algn="ctr"/>
            <a:r>
              <a:rPr sz="2000" b="0" i="0">
                <a:solidFill>
                  <a:srgbClr val="0C649C"/>
                </a:solidFill>
                <a:latin typeface="Georgia"/>
              </a:rPr>
              <a:t>209</a:t>
            </a:r>
          </a:p>
        </p:txBody>
      </p:sp>
      <p:sp>
        <p:nvSpPr>
          <p:cNvPr id="50" name="TextBox 145"/>
          <p:cNvSpPr txBox="1"/>
          <p:nvPr/>
        </p:nvSpPr>
        <p:spPr>
          <a:xfrm>
            <a:off x="4535424" y="5303520"/>
            <a:ext cx="1325880" cy="347472"/>
          </a:xfrm>
          <a:prstGeom prst="rect">
            <a:avLst/>
          </a:prstGeom>
          <a:noFill/>
        </p:spPr>
        <p:txBody>
          <a:bodyPr wrap="square" lIns="0" rIns="0" tIns="0" bIns="0" anchor="t">
            <a:spAutoFit/>
          </a:bodyPr>
          <a:lstStyle/>
          <a:p>
            <a:pPr algn="ctr"/>
            <a:r>
              <a:rPr sz="900" b="0" i="0">
                <a:solidFill>
                  <a:srgbClr val="4A6478"/>
                </a:solidFill>
                <a:latin typeface="Segoe UI"/>
              </a:rPr>
              <a:t>recuperati dall’AE (16%)</a:t>
            </a:r>
          </a:p>
        </p:txBody>
      </p:sp>
      <p:sp>
        <p:nvSpPr>
          <p:cNvPr id="51" name="Rounded Rectangle 146"/>
          <p:cNvSpPr/>
          <p:nvPr/>
        </p:nvSpPr>
        <p:spPr>
          <a:xfrm>
            <a:off x="1234440" y="5760720"/>
            <a:ext cx="4754880" cy="457200"/>
          </a:xfrm>
          <a:prstGeom prst="roundRect">
            <a:avLst>
              <a:gd name="adj" fmla="val 30000"/>
            </a:avLst>
          </a:prstGeom>
          <a:solidFill>
            <a:srgbClr val="D6E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147"/>
          <p:cNvSpPr txBox="1"/>
          <p:nvPr/>
        </p:nvSpPr>
        <p:spPr>
          <a:xfrm>
            <a:off x="1325880" y="5760720"/>
            <a:ext cx="4572000" cy="457200"/>
          </a:xfrm>
          <a:prstGeom prst="rect">
            <a:avLst/>
          </a:prstGeom>
          <a:noFill/>
        </p:spPr>
        <p:txBody>
          <a:bodyPr wrap="square" lIns="0" rIns="0" tIns="0" bIns="0" anchor="ctr">
            <a:spAutoFit/>
          </a:bodyPr>
          <a:lstStyle/>
          <a:p>
            <a:pPr algn="ctr"/>
            <a:r>
              <a:rPr sz="1050" b="1" i="0">
                <a:solidFill>
                  <a:srgbClr val="9A3B1B"/>
                </a:solidFill>
                <a:latin typeface="Segoe UI"/>
              </a:rPr>
              <a:t>costo: </a:t>
            </a:r>
            <a:r>
              <a:rPr sz="1050" b="0" i="0">
                <a:solidFill>
                  <a:srgbClr val="0B2438"/>
                </a:solidFill>
                <a:latin typeface="Segoe UI"/>
              </a:rPr>
              <a:t>+3.813 falsi allarmi (0,97% dei Benign) · recall 98,06% → 98,37%</a:t>
            </a:r>
          </a:p>
        </p:txBody>
      </p:sp>
      <p:sp>
        <p:nvSpPr>
          <p:cNvPr id="53" name="TextBox 148"/>
          <p:cNvSpPr txBox="1"/>
          <p:nvPr/>
        </p:nvSpPr>
        <p:spPr>
          <a:xfrm>
            <a:off x="6355080" y="4572000"/>
            <a:ext cx="4572000" cy="237744"/>
          </a:xfrm>
          <a:prstGeom prst="rect">
            <a:avLst/>
          </a:prstGeom>
          <a:noFill/>
        </p:spPr>
        <p:txBody>
          <a:bodyPr wrap="square" lIns="0" rIns="0" tIns="0" bIns="0" anchor="t">
            <a:spAutoFit/>
          </a:bodyPr>
          <a:lstStyle/>
          <a:p>
            <a:pPr algn="l"/>
            <a:r>
              <a:rPr sz="1050" b="0" i="0" spc="100">
                <a:solidFill>
                  <a:srgbClr val="4A6478"/>
                </a:solidFill>
                <a:latin typeface="Segoe UI Semibold"/>
              </a:rPr>
              <a:t>SOGLIA: RECALL CONTRO FALSI ALLARMI EXTRA</a:t>
            </a:r>
          </a:p>
        </p:txBody>
      </p:sp>
      <p:cxnSp>
        <p:nvCxnSpPr>
          <p:cNvPr id="54" name="Connector 149"/>
          <p:cNvCxnSpPr/>
          <p:nvPr/>
        </p:nvCxnSpPr>
        <p:spPr>
          <a:xfrm>
            <a:off x="6812280" y="5870448"/>
            <a:ext cx="3931920" cy="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cxnSp>
        <p:nvCxnSpPr>
          <p:cNvPr id="55" name="Connector 150"/>
          <p:cNvCxnSpPr/>
          <p:nvPr/>
        </p:nvCxnSpPr>
        <p:spPr>
          <a:xfrm>
            <a:off x="6812280" y="4864608"/>
            <a:ext cx="0" cy="100584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cxnSp>
        <p:nvCxnSpPr>
          <p:cNvPr id="56" name="Connector 151"/>
          <p:cNvCxnSpPr/>
          <p:nvPr/>
        </p:nvCxnSpPr>
        <p:spPr>
          <a:xfrm flipH="1">
            <a:off x="8623228" y="5107509"/>
            <a:ext cx="1829719" cy="77645"/>
          </a:xfrm>
          <a:prstGeom prst="line">
            <a:avLst/>
          </a:prstGeom>
          <a:ln w="19050">
            <a:solidFill>
              <a:srgbClr val="0C649C"/>
            </a:solidFill>
          </a:ln>
        </p:spPr>
        <p:style>
          <a:lnRef idx="2">
            <a:schemeClr val="accent1"/>
          </a:lnRef>
          <a:fillRef idx="0">
            <a:schemeClr val="accent1"/>
          </a:fillRef>
          <a:effectRef idx="1">
            <a:schemeClr val="accent1"/>
          </a:effectRef>
          <a:fontRef idx="minor">
            <a:schemeClr val="tx1"/>
          </a:fontRef>
        </p:style>
      </p:cxnSp>
      <p:cxnSp>
        <p:nvCxnSpPr>
          <p:cNvPr id="57" name="Connector 152"/>
          <p:cNvCxnSpPr/>
          <p:nvPr/>
        </p:nvCxnSpPr>
        <p:spPr>
          <a:xfrm flipH="1">
            <a:off x="7892891" y="5185154"/>
            <a:ext cx="730337" cy="59587"/>
          </a:xfrm>
          <a:prstGeom prst="line">
            <a:avLst/>
          </a:prstGeom>
          <a:ln w="19050">
            <a:solidFill>
              <a:srgbClr val="0C649C"/>
            </a:solidFill>
          </a:ln>
        </p:spPr>
        <p:style>
          <a:lnRef idx="2">
            <a:schemeClr val="accent1"/>
          </a:lnRef>
          <a:fillRef idx="0">
            <a:schemeClr val="accent1"/>
          </a:fillRef>
          <a:effectRef idx="1">
            <a:schemeClr val="accent1"/>
          </a:effectRef>
          <a:fontRef idx="minor">
            <a:schemeClr val="tx1"/>
          </a:fontRef>
        </p:style>
      </p:cxnSp>
      <p:cxnSp>
        <p:nvCxnSpPr>
          <p:cNvPr id="58" name="Connector 153"/>
          <p:cNvCxnSpPr/>
          <p:nvPr/>
        </p:nvCxnSpPr>
        <p:spPr>
          <a:xfrm flipH="1">
            <a:off x="7168344" y="5244741"/>
            <a:ext cx="724547" cy="238351"/>
          </a:xfrm>
          <a:prstGeom prst="line">
            <a:avLst/>
          </a:prstGeom>
          <a:ln w="19050">
            <a:solidFill>
              <a:srgbClr val="0C649C"/>
            </a:solidFill>
          </a:ln>
        </p:spPr>
        <p:style>
          <a:lnRef idx="2">
            <a:schemeClr val="accent1"/>
          </a:lnRef>
          <a:fillRef idx="0">
            <a:schemeClr val="accent1"/>
          </a:fillRef>
          <a:effectRef idx="1">
            <a:schemeClr val="accent1"/>
          </a:effectRef>
          <a:fontRef idx="minor">
            <a:schemeClr val="tx1"/>
          </a:fontRef>
        </p:style>
      </p:cxnSp>
      <p:cxnSp>
        <p:nvCxnSpPr>
          <p:cNvPr id="59" name="Connector 154"/>
          <p:cNvCxnSpPr/>
          <p:nvPr/>
        </p:nvCxnSpPr>
        <p:spPr>
          <a:xfrm flipH="1">
            <a:off x="6988398" y="5483092"/>
            <a:ext cx="179946" cy="23474"/>
          </a:xfrm>
          <a:prstGeom prst="line">
            <a:avLst/>
          </a:prstGeom>
          <a:ln w="19050">
            <a:solidFill>
              <a:srgbClr val="0C649C"/>
            </a:solidFill>
          </a:ln>
        </p:spPr>
        <p:style>
          <a:lnRef idx="2">
            <a:schemeClr val="accent1"/>
          </a:lnRef>
          <a:fillRef idx="0">
            <a:schemeClr val="accent1"/>
          </a:fillRef>
          <a:effectRef idx="1">
            <a:schemeClr val="accent1"/>
          </a:effectRef>
          <a:fontRef idx="minor">
            <a:schemeClr val="tx1"/>
          </a:fontRef>
        </p:style>
      </p:cxnSp>
      <p:cxnSp>
        <p:nvCxnSpPr>
          <p:cNvPr id="60" name="Connector 155"/>
          <p:cNvCxnSpPr/>
          <p:nvPr/>
        </p:nvCxnSpPr>
        <p:spPr>
          <a:xfrm flipH="1">
            <a:off x="6844030" y="5506566"/>
            <a:ext cx="144368" cy="120981"/>
          </a:xfrm>
          <a:prstGeom prst="line">
            <a:avLst/>
          </a:prstGeom>
          <a:ln w="19050">
            <a:solidFill>
              <a:srgbClr val="0C649C"/>
            </a:solidFill>
          </a:ln>
        </p:spPr>
        <p:style>
          <a:lnRef idx="2">
            <a:schemeClr val="accent1"/>
          </a:lnRef>
          <a:fillRef idx="0">
            <a:schemeClr val="accent1"/>
          </a:fillRef>
          <a:effectRef idx="1">
            <a:schemeClr val="accent1"/>
          </a:effectRef>
          <a:fontRef idx="minor">
            <a:schemeClr val="tx1"/>
          </a:fontRef>
        </p:style>
      </p:cxnSp>
      <p:sp>
        <p:nvSpPr>
          <p:cNvPr id="61" name="Oval 156"/>
          <p:cNvSpPr/>
          <p:nvPr/>
        </p:nvSpPr>
        <p:spPr>
          <a:xfrm>
            <a:off x="10407227" y="5061789"/>
            <a:ext cx="91440" cy="91440"/>
          </a:xfrm>
          <a:prstGeom prst="ellipse">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157"/>
          <p:cNvSpPr txBox="1"/>
          <p:nvPr/>
        </p:nvSpPr>
        <p:spPr>
          <a:xfrm>
            <a:off x="10224347" y="4869765"/>
            <a:ext cx="457200" cy="164592"/>
          </a:xfrm>
          <a:prstGeom prst="rect">
            <a:avLst/>
          </a:prstGeom>
          <a:noFill/>
        </p:spPr>
        <p:txBody>
          <a:bodyPr wrap="square" lIns="0" rIns="0" tIns="0" bIns="0" anchor="t">
            <a:spAutoFit/>
          </a:bodyPr>
          <a:lstStyle/>
          <a:p>
            <a:pPr algn="ctr"/>
            <a:r>
              <a:rPr sz="850" b="0" i="0">
                <a:solidFill>
                  <a:srgbClr val="4A6478"/>
                </a:solidFill>
                <a:latin typeface="Segoe UI"/>
              </a:rPr>
              <a:t>90°</a:t>
            </a:r>
          </a:p>
        </p:txBody>
      </p:sp>
      <p:sp>
        <p:nvSpPr>
          <p:cNvPr id="63" name="Oval 158"/>
          <p:cNvSpPr/>
          <p:nvPr/>
        </p:nvSpPr>
        <p:spPr>
          <a:xfrm>
            <a:off x="8577508" y="5139434"/>
            <a:ext cx="91440" cy="91440"/>
          </a:xfrm>
          <a:prstGeom prst="ellipse">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159"/>
          <p:cNvSpPr txBox="1"/>
          <p:nvPr/>
        </p:nvSpPr>
        <p:spPr>
          <a:xfrm>
            <a:off x="8394628" y="4947410"/>
            <a:ext cx="457200" cy="164592"/>
          </a:xfrm>
          <a:prstGeom prst="rect">
            <a:avLst/>
          </a:prstGeom>
          <a:noFill/>
        </p:spPr>
        <p:txBody>
          <a:bodyPr wrap="square" lIns="0" rIns="0" tIns="0" bIns="0" anchor="t">
            <a:spAutoFit/>
          </a:bodyPr>
          <a:lstStyle/>
          <a:p>
            <a:pPr algn="ctr"/>
            <a:r>
              <a:rPr sz="850" b="0" i="0">
                <a:solidFill>
                  <a:srgbClr val="4A6478"/>
                </a:solidFill>
                <a:latin typeface="Segoe UI"/>
              </a:rPr>
              <a:t>95°</a:t>
            </a:r>
          </a:p>
        </p:txBody>
      </p:sp>
      <p:sp>
        <p:nvSpPr>
          <p:cNvPr id="65" name="Oval 160"/>
          <p:cNvSpPr/>
          <p:nvPr/>
        </p:nvSpPr>
        <p:spPr>
          <a:xfrm>
            <a:off x="7847171" y="5199021"/>
            <a:ext cx="91440" cy="91440"/>
          </a:xfrm>
          <a:prstGeom prst="ellipse">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161"/>
          <p:cNvSpPr/>
          <p:nvPr/>
        </p:nvSpPr>
        <p:spPr>
          <a:xfrm>
            <a:off x="7122624" y="5437372"/>
            <a:ext cx="91440" cy="91440"/>
          </a:xfrm>
          <a:prstGeom prst="ellipse">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162"/>
          <p:cNvSpPr txBox="1"/>
          <p:nvPr/>
        </p:nvSpPr>
        <p:spPr>
          <a:xfrm>
            <a:off x="6939744" y="5245348"/>
            <a:ext cx="457200" cy="164592"/>
          </a:xfrm>
          <a:prstGeom prst="rect">
            <a:avLst/>
          </a:prstGeom>
          <a:noFill/>
        </p:spPr>
        <p:txBody>
          <a:bodyPr wrap="square" lIns="0" rIns="0" tIns="0" bIns="0" anchor="t">
            <a:spAutoFit/>
          </a:bodyPr>
          <a:lstStyle/>
          <a:p>
            <a:pPr algn="ctr"/>
            <a:r>
              <a:rPr sz="850" b="1" i="0">
                <a:solidFill>
                  <a:srgbClr val="9A3B1B"/>
                </a:solidFill>
                <a:latin typeface="Segoe UI"/>
              </a:rPr>
              <a:t>99°</a:t>
            </a:r>
          </a:p>
        </p:txBody>
      </p:sp>
      <p:sp>
        <p:nvSpPr>
          <p:cNvPr id="68" name="Oval 163"/>
          <p:cNvSpPr/>
          <p:nvPr/>
        </p:nvSpPr>
        <p:spPr>
          <a:xfrm>
            <a:off x="6942678" y="5460846"/>
            <a:ext cx="91440" cy="91440"/>
          </a:xfrm>
          <a:prstGeom prst="ellipse">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164"/>
          <p:cNvSpPr/>
          <p:nvPr/>
        </p:nvSpPr>
        <p:spPr>
          <a:xfrm>
            <a:off x="6798310" y="5581827"/>
            <a:ext cx="91440" cy="91440"/>
          </a:xfrm>
          <a:prstGeom prst="ellipse">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165"/>
          <p:cNvSpPr txBox="1"/>
          <p:nvPr/>
        </p:nvSpPr>
        <p:spPr>
          <a:xfrm>
            <a:off x="6862318" y="5682411"/>
            <a:ext cx="457200" cy="164592"/>
          </a:xfrm>
          <a:prstGeom prst="rect">
            <a:avLst/>
          </a:prstGeom>
          <a:noFill/>
        </p:spPr>
        <p:txBody>
          <a:bodyPr wrap="square" lIns="0" rIns="0" tIns="0" bIns="0" anchor="t">
            <a:spAutoFit/>
          </a:bodyPr>
          <a:lstStyle/>
          <a:p>
            <a:pPr algn="l"/>
            <a:r>
              <a:rPr sz="850" b="0" i="0">
                <a:solidFill>
                  <a:srgbClr val="4A6478"/>
                </a:solidFill>
                <a:latin typeface="Segoe UI"/>
              </a:rPr>
              <a:t>99,9°</a:t>
            </a:r>
          </a:p>
        </p:txBody>
      </p:sp>
      <p:sp>
        <p:nvSpPr>
          <p:cNvPr id="71" name="TextBox 166"/>
          <p:cNvSpPr txBox="1"/>
          <p:nvPr/>
        </p:nvSpPr>
        <p:spPr>
          <a:xfrm>
            <a:off x="6812280" y="5897880"/>
            <a:ext cx="3931920" cy="164592"/>
          </a:xfrm>
          <a:prstGeom prst="rect">
            <a:avLst/>
          </a:prstGeom>
          <a:noFill/>
        </p:spPr>
        <p:txBody>
          <a:bodyPr wrap="square" lIns="0" rIns="0" tIns="0" bIns="0" anchor="t">
            <a:spAutoFit/>
          </a:bodyPr>
          <a:lstStyle/>
          <a:p>
            <a:pPr algn="ctr"/>
            <a:r>
              <a:rPr sz="850" b="0" i="0">
                <a:solidFill>
                  <a:srgbClr val="4A6478"/>
                </a:solidFill>
                <a:latin typeface="Segoe UI"/>
              </a:rPr>
              <a:t>falsi allarmi extra  (0% → 10% dei Benign)</a:t>
            </a:r>
          </a:p>
        </p:txBody>
      </p:sp>
      <p:sp>
        <p:nvSpPr>
          <p:cNvPr id="72" name="TextBox 167"/>
          <p:cNvSpPr txBox="1"/>
          <p:nvPr/>
        </p:nvSpPr>
        <p:spPr>
          <a:xfrm>
            <a:off x="6245352" y="4846320"/>
            <a:ext cx="512064" cy="164592"/>
          </a:xfrm>
          <a:prstGeom prst="rect">
            <a:avLst/>
          </a:prstGeom>
          <a:noFill/>
        </p:spPr>
        <p:txBody>
          <a:bodyPr wrap="square" lIns="0" rIns="0" tIns="0" bIns="0" anchor="t">
            <a:spAutoFit/>
          </a:bodyPr>
          <a:lstStyle/>
          <a:p>
            <a:pPr algn="r"/>
            <a:r>
              <a:rPr sz="800" b="0" i="0">
                <a:solidFill>
                  <a:srgbClr val="4A6478"/>
                </a:solidFill>
                <a:latin typeface="Segoe UI"/>
              </a:rPr>
              <a:t>98,7%</a:t>
            </a:r>
          </a:p>
        </p:txBody>
      </p:sp>
      <p:sp>
        <p:nvSpPr>
          <p:cNvPr id="73" name="TextBox 168"/>
          <p:cNvSpPr txBox="1"/>
          <p:nvPr/>
        </p:nvSpPr>
        <p:spPr>
          <a:xfrm>
            <a:off x="6245352" y="5724144"/>
            <a:ext cx="512064" cy="164592"/>
          </a:xfrm>
          <a:prstGeom prst="rect">
            <a:avLst/>
          </a:prstGeom>
          <a:noFill/>
        </p:spPr>
        <p:txBody>
          <a:bodyPr wrap="square" lIns="0" rIns="0" tIns="0" bIns="0" anchor="t">
            <a:spAutoFit/>
          </a:bodyPr>
          <a:lstStyle/>
          <a:p>
            <a:pPr algn="r"/>
            <a:r>
              <a:rPr sz="800" b="0" i="0">
                <a:solidFill>
                  <a:srgbClr val="4A6478"/>
                </a:solidFill>
                <a:latin typeface="Segoe UI"/>
              </a:rPr>
              <a:t>98,3%</a:t>
            </a:r>
          </a:p>
        </p:txBody>
      </p:sp>
      <p:sp>
        <p:nvSpPr>
          <p:cNvPr id="74" name="TextBox 169"/>
          <p:cNvSpPr txBox="1"/>
          <p:nvPr/>
        </p:nvSpPr>
        <p:spPr>
          <a:xfrm>
            <a:off x="6245352" y="5276088"/>
            <a:ext cx="512064" cy="182880"/>
          </a:xfrm>
          <a:prstGeom prst="rect">
            <a:avLst/>
          </a:prstGeom>
          <a:noFill/>
        </p:spPr>
        <p:txBody>
          <a:bodyPr wrap="square" lIns="0" rIns="0" tIns="0" bIns="0" anchor="t">
            <a:spAutoFit/>
          </a:bodyPr>
          <a:lstStyle/>
          <a:p>
            <a:pPr algn="r"/>
            <a:r>
              <a:rPr sz="800" b="0" i="1">
                <a:solidFill>
                  <a:srgbClr val="4A6478"/>
                </a:solidFill>
                <a:latin typeface="Segoe UI"/>
              </a:rPr>
              <a:t>recall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270862" y="384048"/>
            <a:ext cx="165027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05 · ENSEMBLE</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Due autoencoder, un </a:t>
            </a:r>
            <a:r>
              <a:rPr sz="3400" b="0" i="1">
                <a:solidFill>
                  <a:srgbClr val="BCD1DE"/>
                </a:solidFill>
                <a:latin typeface="Georgia"/>
              </a:rPr>
              <a:t>punteggio</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06 / 08</a:t>
            </a:r>
          </a:p>
        </p:txBody>
      </p:sp>
      <p:sp>
        <p:nvSpPr>
          <p:cNvPr id="11" name="TextBox 106"/>
          <p:cNvSpPr txBox="1"/>
          <p:nvPr/>
        </p:nvSpPr>
        <p:spPr>
          <a:xfrm>
            <a:off x="1234440" y="2157984"/>
            <a:ext cx="3383280" cy="237744"/>
          </a:xfrm>
          <a:prstGeom prst="rect">
            <a:avLst/>
          </a:prstGeom>
          <a:noFill/>
        </p:spPr>
        <p:txBody>
          <a:bodyPr wrap="square" lIns="0" rIns="0" tIns="0" bIns="0" anchor="t">
            <a:spAutoFit/>
          </a:bodyPr>
          <a:lstStyle/>
          <a:p>
            <a:pPr algn="l"/>
            <a:r>
              <a:rPr sz="1050" b="0" i="0" spc="100">
                <a:solidFill>
                  <a:srgbClr val="4A6478"/>
                </a:solidFill>
                <a:latin typeface="Segoe UI Semibold"/>
              </a:rPr>
              <a:t>IL LOG CON SEGNO</a:t>
            </a:r>
          </a:p>
        </p:txBody>
      </p:sp>
      <p:sp>
        <p:nvSpPr>
          <p:cNvPr id="12" name="Rounded Rectangle 107"/>
          <p:cNvSpPr/>
          <p:nvPr/>
        </p:nvSpPr>
        <p:spPr>
          <a:xfrm>
            <a:off x="1234440" y="2487168"/>
            <a:ext cx="1554480" cy="1920240"/>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08"/>
          <p:cNvSpPr txBox="1"/>
          <p:nvPr/>
        </p:nvSpPr>
        <p:spPr>
          <a:xfrm>
            <a:off x="1234440" y="2542032"/>
            <a:ext cx="1554480" cy="201168"/>
          </a:xfrm>
          <a:prstGeom prst="rect">
            <a:avLst/>
          </a:prstGeom>
          <a:noFill/>
        </p:spPr>
        <p:txBody>
          <a:bodyPr wrap="square" lIns="0" rIns="0" tIns="0" bIns="0" anchor="t">
            <a:spAutoFit/>
          </a:bodyPr>
          <a:lstStyle/>
          <a:p>
            <a:pPr algn="ctr"/>
            <a:r>
              <a:rPr sz="950" b="1" i="0">
                <a:solidFill>
                  <a:srgbClr val="4A6478"/>
                </a:solidFill>
                <a:latin typeface="Segoe UI"/>
              </a:rPr>
              <a:t>valore grezzo</a:t>
            </a:r>
          </a:p>
        </p:txBody>
      </p:sp>
      <p:sp>
        <p:nvSpPr>
          <p:cNvPr id="14" name="Rectangle 109"/>
          <p:cNvSpPr/>
          <p:nvPr/>
        </p:nvSpPr>
        <p:spPr>
          <a:xfrm>
            <a:off x="1417320" y="4103827"/>
            <a:ext cx="310896" cy="10973"/>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10"/>
          <p:cNvSpPr txBox="1"/>
          <p:nvPr/>
        </p:nvSpPr>
        <p:spPr>
          <a:xfrm>
            <a:off x="1325880" y="4160520"/>
            <a:ext cx="493776" cy="182880"/>
          </a:xfrm>
          <a:prstGeom prst="rect">
            <a:avLst/>
          </a:prstGeom>
          <a:noFill/>
        </p:spPr>
        <p:txBody>
          <a:bodyPr wrap="square" lIns="0" rIns="0" tIns="0" bIns="0" anchor="t">
            <a:spAutoFit/>
          </a:bodyPr>
          <a:lstStyle/>
          <a:p>
            <a:pPr algn="ctr"/>
            <a:r>
              <a:rPr sz="850" b="0" i="0">
                <a:solidFill>
                  <a:srgbClr val="4A6478"/>
                </a:solidFill>
                <a:latin typeface="Segoe UI"/>
              </a:rPr>
              <a:t>1</a:t>
            </a:r>
          </a:p>
        </p:txBody>
      </p:sp>
      <p:sp>
        <p:nvSpPr>
          <p:cNvPr id="16" name="Rectangle 111"/>
          <p:cNvSpPr/>
          <p:nvPr/>
        </p:nvSpPr>
        <p:spPr>
          <a:xfrm>
            <a:off x="1837944" y="4103827"/>
            <a:ext cx="310896" cy="10973"/>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12"/>
          <p:cNvSpPr txBox="1"/>
          <p:nvPr/>
        </p:nvSpPr>
        <p:spPr>
          <a:xfrm>
            <a:off x="1746504" y="4160520"/>
            <a:ext cx="493776" cy="182880"/>
          </a:xfrm>
          <a:prstGeom prst="rect">
            <a:avLst/>
          </a:prstGeom>
          <a:noFill/>
        </p:spPr>
        <p:txBody>
          <a:bodyPr wrap="square" lIns="0" rIns="0" tIns="0" bIns="0" anchor="t">
            <a:spAutoFit/>
          </a:bodyPr>
          <a:lstStyle/>
          <a:p>
            <a:pPr algn="ctr"/>
            <a:r>
              <a:rPr sz="850" b="0" i="0">
                <a:solidFill>
                  <a:srgbClr val="4A6478"/>
                </a:solidFill>
                <a:latin typeface="Segoe UI"/>
              </a:rPr>
              <a:t>10³</a:t>
            </a:r>
          </a:p>
        </p:txBody>
      </p:sp>
      <p:sp>
        <p:nvSpPr>
          <p:cNvPr id="18" name="Rectangle 113"/>
          <p:cNvSpPr/>
          <p:nvPr/>
        </p:nvSpPr>
        <p:spPr>
          <a:xfrm>
            <a:off x="2258568" y="3063240"/>
            <a:ext cx="310896" cy="1051560"/>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14"/>
          <p:cNvSpPr txBox="1"/>
          <p:nvPr/>
        </p:nvSpPr>
        <p:spPr>
          <a:xfrm>
            <a:off x="2167128" y="4160520"/>
            <a:ext cx="493776" cy="182880"/>
          </a:xfrm>
          <a:prstGeom prst="rect">
            <a:avLst/>
          </a:prstGeom>
          <a:noFill/>
        </p:spPr>
        <p:txBody>
          <a:bodyPr wrap="square" lIns="0" rIns="0" tIns="0" bIns="0" anchor="t">
            <a:spAutoFit/>
          </a:bodyPr>
          <a:lstStyle/>
          <a:p>
            <a:pPr algn="ctr"/>
            <a:r>
              <a:rPr sz="850" b="0" i="0">
                <a:solidFill>
                  <a:srgbClr val="4A6478"/>
                </a:solidFill>
                <a:latin typeface="Segoe UI"/>
              </a:rPr>
              <a:t>10⁶</a:t>
            </a:r>
          </a:p>
        </p:txBody>
      </p:sp>
      <p:sp>
        <p:nvSpPr>
          <p:cNvPr id="20" name="Rounded Rectangle 115"/>
          <p:cNvSpPr/>
          <p:nvPr/>
        </p:nvSpPr>
        <p:spPr>
          <a:xfrm>
            <a:off x="2926080" y="2487168"/>
            <a:ext cx="1554480" cy="1920240"/>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116"/>
          <p:cNvSpPr txBox="1"/>
          <p:nvPr/>
        </p:nvSpPr>
        <p:spPr>
          <a:xfrm>
            <a:off x="2926080" y="2542032"/>
            <a:ext cx="1554480" cy="201168"/>
          </a:xfrm>
          <a:prstGeom prst="rect">
            <a:avLst/>
          </a:prstGeom>
          <a:noFill/>
        </p:spPr>
        <p:txBody>
          <a:bodyPr wrap="square" lIns="0" rIns="0" tIns="0" bIns="0" anchor="t">
            <a:spAutoFit/>
          </a:bodyPr>
          <a:lstStyle/>
          <a:p>
            <a:pPr algn="ctr"/>
            <a:r>
              <a:rPr sz="950" b="1" i="0">
                <a:solidFill>
                  <a:srgbClr val="4A6478"/>
                </a:solidFill>
                <a:latin typeface="Segoe UI"/>
              </a:rPr>
              <a:t>dopo il log</a:t>
            </a:r>
          </a:p>
        </p:txBody>
      </p:sp>
      <p:sp>
        <p:nvSpPr>
          <p:cNvPr id="22" name="Rectangle 117"/>
          <p:cNvSpPr/>
          <p:nvPr/>
        </p:nvSpPr>
        <p:spPr>
          <a:xfrm>
            <a:off x="3108960" y="4062041"/>
            <a:ext cx="310896" cy="52759"/>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118"/>
          <p:cNvSpPr txBox="1"/>
          <p:nvPr/>
        </p:nvSpPr>
        <p:spPr>
          <a:xfrm>
            <a:off x="3017520" y="4160520"/>
            <a:ext cx="493776" cy="182880"/>
          </a:xfrm>
          <a:prstGeom prst="rect">
            <a:avLst/>
          </a:prstGeom>
          <a:noFill/>
        </p:spPr>
        <p:txBody>
          <a:bodyPr wrap="square" lIns="0" rIns="0" tIns="0" bIns="0" anchor="t">
            <a:spAutoFit/>
          </a:bodyPr>
          <a:lstStyle/>
          <a:p>
            <a:pPr algn="ctr"/>
            <a:r>
              <a:rPr sz="850" b="0" i="0">
                <a:solidFill>
                  <a:srgbClr val="4A6478"/>
                </a:solidFill>
                <a:latin typeface="Segoe UI"/>
              </a:rPr>
              <a:t>1</a:t>
            </a:r>
          </a:p>
        </p:txBody>
      </p:sp>
      <p:sp>
        <p:nvSpPr>
          <p:cNvPr id="24" name="TextBox 119"/>
          <p:cNvSpPr txBox="1"/>
          <p:nvPr/>
        </p:nvSpPr>
        <p:spPr>
          <a:xfrm>
            <a:off x="3017520" y="3879161"/>
            <a:ext cx="493776" cy="164592"/>
          </a:xfrm>
          <a:prstGeom prst="rect">
            <a:avLst/>
          </a:prstGeom>
          <a:noFill/>
        </p:spPr>
        <p:txBody>
          <a:bodyPr wrap="square" lIns="0" rIns="0" tIns="0" bIns="0" anchor="t">
            <a:spAutoFit/>
          </a:bodyPr>
          <a:lstStyle/>
          <a:p>
            <a:pPr algn="ctr"/>
            <a:r>
              <a:rPr sz="850" b="0" i="0">
                <a:solidFill>
                  <a:srgbClr val="0B2438"/>
                </a:solidFill>
                <a:latin typeface="Segoe UI"/>
              </a:rPr>
              <a:t>0,7</a:t>
            </a:r>
          </a:p>
        </p:txBody>
      </p:sp>
      <p:sp>
        <p:nvSpPr>
          <p:cNvPr id="25" name="Rectangle 120"/>
          <p:cNvSpPr/>
          <p:nvPr/>
        </p:nvSpPr>
        <p:spPr>
          <a:xfrm>
            <a:off x="3529584" y="3588944"/>
            <a:ext cx="310896" cy="52585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121"/>
          <p:cNvSpPr txBox="1"/>
          <p:nvPr/>
        </p:nvSpPr>
        <p:spPr>
          <a:xfrm>
            <a:off x="3438144" y="4160520"/>
            <a:ext cx="493776" cy="182880"/>
          </a:xfrm>
          <a:prstGeom prst="rect">
            <a:avLst/>
          </a:prstGeom>
          <a:noFill/>
        </p:spPr>
        <p:txBody>
          <a:bodyPr wrap="square" lIns="0" rIns="0" tIns="0" bIns="0" anchor="t">
            <a:spAutoFit/>
          </a:bodyPr>
          <a:lstStyle/>
          <a:p>
            <a:pPr algn="ctr"/>
            <a:r>
              <a:rPr sz="850" b="0" i="0">
                <a:solidFill>
                  <a:srgbClr val="4A6478"/>
                </a:solidFill>
                <a:latin typeface="Segoe UI"/>
              </a:rPr>
              <a:t>10³</a:t>
            </a:r>
          </a:p>
        </p:txBody>
      </p:sp>
      <p:sp>
        <p:nvSpPr>
          <p:cNvPr id="27" name="TextBox 122"/>
          <p:cNvSpPr txBox="1"/>
          <p:nvPr/>
        </p:nvSpPr>
        <p:spPr>
          <a:xfrm>
            <a:off x="3438144" y="3406064"/>
            <a:ext cx="493776" cy="164592"/>
          </a:xfrm>
          <a:prstGeom prst="rect">
            <a:avLst/>
          </a:prstGeom>
          <a:noFill/>
        </p:spPr>
        <p:txBody>
          <a:bodyPr wrap="square" lIns="0" rIns="0" tIns="0" bIns="0" anchor="t">
            <a:spAutoFit/>
          </a:bodyPr>
          <a:lstStyle/>
          <a:p>
            <a:pPr algn="ctr"/>
            <a:r>
              <a:rPr sz="850" b="0" i="0">
                <a:solidFill>
                  <a:srgbClr val="0B2438"/>
                </a:solidFill>
                <a:latin typeface="Segoe UI"/>
              </a:rPr>
              <a:t>6,9</a:t>
            </a:r>
          </a:p>
        </p:txBody>
      </p:sp>
      <p:sp>
        <p:nvSpPr>
          <p:cNvPr id="28" name="Rectangle 123"/>
          <p:cNvSpPr/>
          <p:nvPr/>
        </p:nvSpPr>
        <p:spPr>
          <a:xfrm>
            <a:off x="3950208" y="3063240"/>
            <a:ext cx="310896" cy="1051560"/>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124"/>
          <p:cNvSpPr txBox="1"/>
          <p:nvPr/>
        </p:nvSpPr>
        <p:spPr>
          <a:xfrm>
            <a:off x="3858768" y="4160520"/>
            <a:ext cx="493776" cy="182880"/>
          </a:xfrm>
          <a:prstGeom prst="rect">
            <a:avLst/>
          </a:prstGeom>
          <a:noFill/>
        </p:spPr>
        <p:txBody>
          <a:bodyPr wrap="square" lIns="0" rIns="0" tIns="0" bIns="0" anchor="t">
            <a:spAutoFit/>
          </a:bodyPr>
          <a:lstStyle/>
          <a:p>
            <a:pPr algn="ctr"/>
            <a:r>
              <a:rPr sz="850" b="0" i="0">
                <a:solidFill>
                  <a:srgbClr val="4A6478"/>
                </a:solidFill>
                <a:latin typeface="Segoe UI"/>
              </a:rPr>
              <a:t>10⁶</a:t>
            </a:r>
          </a:p>
        </p:txBody>
      </p:sp>
      <p:sp>
        <p:nvSpPr>
          <p:cNvPr id="30" name="TextBox 125"/>
          <p:cNvSpPr txBox="1"/>
          <p:nvPr/>
        </p:nvSpPr>
        <p:spPr>
          <a:xfrm>
            <a:off x="3858768" y="2880360"/>
            <a:ext cx="493776" cy="164592"/>
          </a:xfrm>
          <a:prstGeom prst="rect">
            <a:avLst/>
          </a:prstGeom>
          <a:noFill/>
        </p:spPr>
        <p:txBody>
          <a:bodyPr wrap="square" lIns="0" rIns="0" tIns="0" bIns="0" anchor="t">
            <a:spAutoFit/>
          </a:bodyPr>
          <a:lstStyle/>
          <a:p>
            <a:pPr algn="ctr"/>
            <a:r>
              <a:rPr sz="850" b="0" i="0">
                <a:solidFill>
                  <a:srgbClr val="0B2438"/>
                </a:solidFill>
                <a:latin typeface="Segoe UI"/>
              </a:rPr>
              <a:t>13,8</a:t>
            </a:r>
          </a:p>
        </p:txBody>
      </p:sp>
      <p:cxnSp>
        <p:nvCxnSpPr>
          <p:cNvPr id="31" name="Connector 126"/>
          <p:cNvCxnSpPr/>
          <p:nvPr/>
        </p:nvCxnSpPr>
        <p:spPr>
          <a:xfrm>
            <a:off x="2807208" y="3383280"/>
            <a:ext cx="118872" cy="0"/>
          </a:xfrm>
          <a:prstGeom prst="line">
            <a:avLst/>
          </a:prstGeom>
          <a:ln w="1524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127"/>
          <p:cNvSpPr txBox="1"/>
          <p:nvPr/>
        </p:nvSpPr>
        <p:spPr>
          <a:xfrm>
            <a:off x="1234440" y="4526280"/>
            <a:ext cx="3246120" cy="274320"/>
          </a:xfrm>
          <a:prstGeom prst="rect">
            <a:avLst/>
          </a:prstGeom>
          <a:noFill/>
        </p:spPr>
        <p:txBody>
          <a:bodyPr wrap="square" lIns="0" rIns="0" tIns="0" bIns="0" anchor="t">
            <a:spAutoFit/>
          </a:bodyPr>
          <a:lstStyle/>
          <a:p>
            <a:pPr algn="ctr"/>
            <a:r>
              <a:rPr sz="1200" b="0" i="1">
                <a:solidFill>
                  <a:srgbClr val="0B2438"/>
                </a:solidFill>
                <a:latin typeface="Georgia"/>
              </a:rPr>
              <a:t>f(x) = segno(x) · ln(1 + |x|)</a:t>
            </a:r>
          </a:p>
        </p:txBody>
      </p:sp>
      <p:sp>
        <p:nvSpPr>
          <p:cNvPr id="33" name="TextBox 128"/>
          <p:cNvSpPr txBox="1"/>
          <p:nvPr/>
        </p:nvSpPr>
        <p:spPr>
          <a:xfrm>
            <a:off x="1234440" y="4892040"/>
            <a:ext cx="3246120" cy="914400"/>
          </a:xfrm>
          <a:prstGeom prst="rect">
            <a:avLst/>
          </a:prstGeom>
          <a:noFill/>
        </p:spPr>
        <p:txBody>
          <a:bodyPr wrap="square" lIns="0" rIns="0" tIns="0" bIns="0" anchor="t">
            <a:spAutoFit/>
          </a:bodyPr>
          <a:lstStyle/>
          <a:p>
            <a:pPr algn="l"/>
            <a:r>
              <a:rPr sz="1050" b="0" i="0">
                <a:solidFill>
                  <a:srgbClr val="4A6478"/>
                </a:solidFill>
                <a:latin typeface="Segoe UI"/>
              </a:rPr>
              <a:t>Comprime le code lunghe (byte, pacchetti, durate) e tiene distinto il −1 di Init Win Bytes.</a:t>
            </a:r>
          </a:p>
        </p:txBody>
      </p:sp>
      <p:sp>
        <p:nvSpPr>
          <p:cNvPr id="34" name="TextBox 129"/>
          <p:cNvSpPr txBox="1"/>
          <p:nvPr/>
        </p:nvSpPr>
        <p:spPr>
          <a:xfrm>
            <a:off x="4846320" y="2157984"/>
            <a:ext cx="3840480" cy="237744"/>
          </a:xfrm>
          <a:prstGeom prst="rect">
            <a:avLst/>
          </a:prstGeom>
          <a:noFill/>
        </p:spPr>
        <p:txBody>
          <a:bodyPr wrap="square" lIns="0" rIns="0" tIns="0" bIns="0" anchor="t">
            <a:spAutoFit/>
          </a:bodyPr>
          <a:lstStyle/>
          <a:p>
            <a:pPr algn="l"/>
            <a:r>
              <a:rPr sz="1050" b="0" i="0" spc="100">
                <a:solidFill>
                  <a:srgbClr val="4A6478"/>
                </a:solidFill>
                <a:latin typeface="Segoe UI Semibold"/>
              </a:rPr>
              <a:t>COME SI COMBINANO</a:t>
            </a:r>
          </a:p>
        </p:txBody>
      </p:sp>
      <p:sp>
        <p:nvSpPr>
          <p:cNvPr id="35" name="Rounded Rectangle 130"/>
          <p:cNvSpPr/>
          <p:nvPr/>
        </p:nvSpPr>
        <p:spPr>
          <a:xfrm>
            <a:off x="4846320" y="3200400"/>
            <a:ext cx="868680" cy="41148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131"/>
          <p:cNvSpPr txBox="1"/>
          <p:nvPr/>
        </p:nvSpPr>
        <p:spPr>
          <a:xfrm>
            <a:off x="4846320" y="3200400"/>
            <a:ext cx="868680" cy="411480"/>
          </a:xfrm>
          <a:prstGeom prst="rect">
            <a:avLst/>
          </a:prstGeom>
          <a:noFill/>
        </p:spPr>
        <p:txBody>
          <a:bodyPr wrap="square" lIns="0" rIns="0" tIns="0" bIns="0" anchor="ctr">
            <a:spAutoFit/>
          </a:bodyPr>
          <a:lstStyle/>
          <a:p>
            <a:pPr algn="ctr"/>
            <a:r>
              <a:rPr sz="1100" b="0" i="0">
                <a:solidFill>
                  <a:srgbClr val="0B2438"/>
                </a:solidFill>
                <a:latin typeface="Segoe UI"/>
              </a:rPr>
              <a:t>flusso</a:t>
            </a:r>
          </a:p>
        </p:txBody>
      </p:sp>
      <p:sp>
        <p:nvSpPr>
          <p:cNvPr id="37" name="Rounded Rectangle 132"/>
          <p:cNvSpPr/>
          <p:nvPr/>
        </p:nvSpPr>
        <p:spPr>
          <a:xfrm>
            <a:off x="5943600" y="2560320"/>
            <a:ext cx="1463040" cy="731520"/>
          </a:xfrm>
          <a:prstGeom prst="roundRect">
            <a:avLst>
              <a:gd name="adj" fmla="val 14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133"/>
          <p:cNvSpPr txBox="1"/>
          <p:nvPr/>
        </p:nvSpPr>
        <p:spPr>
          <a:xfrm>
            <a:off x="5943600" y="2596896"/>
            <a:ext cx="1463040" cy="694944"/>
          </a:xfrm>
          <a:prstGeom prst="rect">
            <a:avLst/>
          </a:prstGeom>
          <a:noFill/>
        </p:spPr>
        <p:txBody>
          <a:bodyPr wrap="square" lIns="0" rIns="0" tIns="0" bIns="0" anchor="ctr">
            <a:spAutoFit/>
          </a:bodyPr>
          <a:lstStyle/>
          <a:p>
            <a:pPr algn="ctr"/>
            <a:r>
              <a:rPr sz="1400" b="0" i="0">
                <a:solidFill>
                  <a:srgbClr val="0C649C"/>
                </a:solidFill>
                <a:latin typeface="Georgia"/>
              </a:rPr>
              <a:t>AE</a:t>
            </a:r>
          </a:p>
          <a:p>
            <a:pPr algn="ctr"/>
            <a:r>
              <a:rPr sz="850" b="0" i="0">
                <a:solidFill>
                  <a:srgbClr val="4A6478"/>
                </a:solidFill>
                <a:latin typeface="Segoe UI"/>
              </a:rPr>
              <a:t>feature standardizzate</a:t>
            </a:r>
          </a:p>
        </p:txBody>
      </p:sp>
      <p:sp>
        <p:nvSpPr>
          <p:cNvPr id="39" name="Rounded Rectangle 134"/>
          <p:cNvSpPr/>
          <p:nvPr/>
        </p:nvSpPr>
        <p:spPr>
          <a:xfrm>
            <a:off x="5943600" y="3520440"/>
            <a:ext cx="1463040" cy="731520"/>
          </a:xfrm>
          <a:prstGeom prst="roundRect">
            <a:avLst>
              <a:gd name="adj" fmla="val 14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135"/>
          <p:cNvSpPr txBox="1"/>
          <p:nvPr/>
        </p:nvSpPr>
        <p:spPr>
          <a:xfrm>
            <a:off x="5943600" y="3557016"/>
            <a:ext cx="1463040" cy="694944"/>
          </a:xfrm>
          <a:prstGeom prst="rect">
            <a:avLst/>
          </a:prstGeom>
          <a:noFill/>
        </p:spPr>
        <p:txBody>
          <a:bodyPr wrap="square" lIns="0" rIns="0" tIns="0" bIns="0" anchor="ctr">
            <a:spAutoFit/>
          </a:bodyPr>
          <a:lstStyle/>
          <a:p>
            <a:pPr algn="ctr"/>
            <a:r>
              <a:rPr sz="1400" b="0" i="0">
                <a:solidFill>
                  <a:srgbClr val="C98A3E"/>
                </a:solidFill>
                <a:latin typeface="Georgia"/>
              </a:rPr>
              <a:t>AE</a:t>
            </a:r>
          </a:p>
          <a:p>
            <a:pPr algn="ctr"/>
            <a:r>
              <a:rPr sz="850" b="0" i="0">
                <a:solidFill>
                  <a:srgbClr val="4A6478"/>
                </a:solidFill>
                <a:latin typeface="Segoe UI"/>
              </a:rPr>
              <a:t>feature in scala log</a:t>
            </a:r>
          </a:p>
        </p:txBody>
      </p:sp>
      <p:cxnSp>
        <p:nvCxnSpPr>
          <p:cNvPr id="41" name="Connector 136"/>
          <p:cNvCxnSpPr/>
          <p:nvPr/>
        </p:nvCxnSpPr>
        <p:spPr>
          <a:xfrm flipV="1">
            <a:off x="5760720" y="2971800"/>
            <a:ext cx="155448" cy="338328"/>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137"/>
          <p:cNvCxnSpPr/>
          <p:nvPr/>
        </p:nvCxnSpPr>
        <p:spPr>
          <a:xfrm>
            <a:off x="5760720" y="3493008"/>
            <a:ext cx="155448" cy="347472"/>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138"/>
          <p:cNvSpPr/>
          <p:nvPr/>
        </p:nvSpPr>
        <p:spPr>
          <a:xfrm>
            <a:off x="7589520" y="2743200"/>
            <a:ext cx="640080" cy="36576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139"/>
          <p:cNvSpPr txBox="1"/>
          <p:nvPr/>
        </p:nvSpPr>
        <p:spPr>
          <a:xfrm>
            <a:off x="7589520" y="2743200"/>
            <a:ext cx="640080" cy="365760"/>
          </a:xfrm>
          <a:prstGeom prst="rect">
            <a:avLst/>
          </a:prstGeom>
          <a:noFill/>
        </p:spPr>
        <p:txBody>
          <a:bodyPr wrap="square" lIns="0" rIns="0" tIns="0" bIns="0" anchor="ctr">
            <a:spAutoFit/>
          </a:bodyPr>
          <a:lstStyle/>
          <a:p>
            <a:pPr algn="ctr"/>
            <a:r>
              <a:rPr sz="1000" b="0" i="0">
                <a:solidFill>
                  <a:srgbClr val="0C649C"/>
                </a:solidFill>
                <a:latin typeface="Segoe UI"/>
              </a:rPr>
              <a:t>÷ p99</a:t>
            </a:r>
          </a:p>
        </p:txBody>
      </p:sp>
      <p:sp>
        <p:nvSpPr>
          <p:cNvPr id="45" name="Rounded Rectangle 140"/>
          <p:cNvSpPr/>
          <p:nvPr/>
        </p:nvSpPr>
        <p:spPr>
          <a:xfrm>
            <a:off x="7589520" y="3703320"/>
            <a:ext cx="640080" cy="36576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141"/>
          <p:cNvSpPr txBox="1"/>
          <p:nvPr/>
        </p:nvSpPr>
        <p:spPr>
          <a:xfrm>
            <a:off x="7589520" y="3703320"/>
            <a:ext cx="640080" cy="365760"/>
          </a:xfrm>
          <a:prstGeom prst="rect">
            <a:avLst/>
          </a:prstGeom>
          <a:noFill/>
        </p:spPr>
        <p:txBody>
          <a:bodyPr wrap="square" lIns="0" rIns="0" tIns="0" bIns="0" anchor="ctr">
            <a:spAutoFit/>
          </a:bodyPr>
          <a:lstStyle/>
          <a:p>
            <a:pPr algn="ctr"/>
            <a:r>
              <a:rPr sz="1000" b="0" i="0">
                <a:solidFill>
                  <a:srgbClr val="C98A3E"/>
                </a:solidFill>
                <a:latin typeface="Segoe UI"/>
              </a:rPr>
              <a:t>÷ p99</a:t>
            </a:r>
          </a:p>
        </p:txBody>
      </p:sp>
      <p:cxnSp>
        <p:nvCxnSpPr>
          <p:cNvPr id="47" name="Connector 142"/>
          <p:cNvCxnSpPr/>
          <p:nvPr/>
        </p:nvCxnSpPr>
        <p:spPr>
          <a:xfrm>
            <a:off x="7434072" y="2926080"/>
            <a:ext cx="137160"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143"/>
          <p:cNvCxnSpPr/>
          <p:nvPr/>
        </p:nvCxnSpPr>
        <p:spPr>
          <a:xfrm>
            <a:off x="7434072" y="3886200"/>
            <a:ext cx="137160" cy="0"/>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Oval 144"/>
          <p:cNvSpPr/>
          <p:nvPr/>
        </p:nvSpPr>
        <p:spPr>
          <a:xfrm>
            <a:off x="8275320" y="3291840"/>
            <a:ext cx="457200" cy="457200"/>
          </a:xfrm>
          <a:prstGeom prst="ellipse">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145"/>
          <p:cNvSpPr txBox="1"/>
          <p:nvPr/>
        </p:nvSpPr>
        <p:spPr>
          <a:xfrm>
            <a:off x="8275320" y="3291840"/>
            <a:ext cx="457200" cy="457200"/>
          </a:xfrm>
          <a:prstGeom prst="rect">
            <a:avLst/>
          </a:prstGeom>
          <a:noFill/>
        </p:spPr>
        <p:txBody>
          <a:bodyPr wrap="square" lIns="0" rIns="0" tIns="0" bIns="0" anchor="ctr">
            <a:spAutoFit/>
          </a:bodyPr>
          <a:lstStyle/>
          <a:p>
            <a:pPr algn="ctr"/>
            <a:r>
              <a:rPr sz="1500" b="0" i="1">
                <a:solidFill>
                  <a:srgbClr val="FFFFFF"/>
                </a:solidFill>
                <a:latin typeface="Georgia"/>
              </a:rPr>
              <a:t>μ</a:t>
            </a:r>
          </a:p>
        </p:txBody>
      </p:sp>
      <p:cxnSp>
        <p:nvCxnSpPr>
          <p:cNvPr id="51" name="Connector 146"/>
          <p:cNvCxnSpPr/>
          <p:nvPr/>
        </p:nvCxnSpPr>
        <p:spPr>
          <a:xfrm>
            <a:off x="8247888" y="3035808"/>
            <a:ext cx="118872" cy="301752"/>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147"/>
          <p:cNvCxnSpPr/>
          <p:nvPr/>
        </p:nvCxnSpPr>
        <p:spPr>
          <a:xfrm flipV="1">
            <a:off x="8247888" y="3675888"/>
            <a:ext cx="118872" cy="164592"/>
          </a:xfrm>
          <a:prstGeom prst="line">
            <a:avLst/>
          </a:prstGeom>
          <a:ln w="1270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148"/>
          <p:cNvSpPr/>
          <p:nvPr/>
        </p:nvSpPr>
        <p:spPr>
          <a:xfrm>
            <a:off x="4846320" y="4617720"/>
            <a:ext cx="3886200" cy="640080"/>
          </a:xfrm>
          <a:prstGeom prst="roundRect">
            <a:avLst>
              <a:gd name="adj" fmla="val 20000"/>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149"/>
          <p:cNvSpPr txBox="1"/>
          <p:nvPr/>
        </p:nvSpPr>
        <p:spPr>
          <a:xfrm>
            <a:off x="4846320" y="4617720"/>
            <a:ext cx="3886200" cy="640080"/>
          </a:xfrm>
          <a:prstGeom prst="rect">
            <a:avLst/>
          </a:prstGeom>
          <a:noFill/>
        </p:spPr>
        <p:txBody>
          <a:bodyPr wrap="square" lIns="0" rIns="0" tIns="0" bIns="0" anchor="ctr">
            <a:spAutoFit/>
          </a:bodyPr>
          <a:lstStyle/>
          <a:p>
            <a:pPr algn="ctr"/>
            <a:r>
              <a:rPr sz="1250" b="0" i="0">
                <a:solidFill>
                  <a:srgbClr val="FFFFFF"/>
                </a:solidFill>
                <a:latin typeface="Georgia"/>
              </a:rPr>
              <a:t>punteggio = media dei due errori</a:t>
            </a:r>
          </a:p>
        </p:txBody>
      </p:sp>
      <p:cxnSp>
        <p:nvCxnSpPr>
          <p:cNvPr id="55" name="Connector 150"/>
          <p:cNvCxnSpPr/>
          <p:nvPr/>
        </p:nvCxnSpPr>
        <p:spPr>
          <a:xfrm>
            <a:off x="8503920" y="3776472"/>
            <a:ext cx="0" cy="822960"/>
          </a:xfrm>
          <a:prstGeom prst="line">
            <a:avLst/>
          </a:prstGeom>
          <a:ln w="15240">
            <a:solidFill>
              <a:srgbClr val="84A0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151"/>
          <p:cNvSpPr txBox="1"/>
          <p:nvPr/>
        </p:nvSpPr>
        <p:spPr>
          <a:xfrm>
            <a:off x="4846320" y="5349240"/>
            <a:ext cx="3886200" cy="457200"/>
          </a:xfrm>
          <a:prstGeom prst="rect">
            <a:avLst/>
          </a:prstGeom>
          <a:noFill/>
        </p:spPr>
        <p:txBody>
          <a:bodyPr wrap="square" lIns="0" rIns="0" tIns="0" bIns="0" anchor="t">
            <a:spAutoFit/>
          </a:bodyPr>
          <a:lstStyle/>
          <a:p>
            <a:pPr algn="ctr"/>
            <a:r>
              <a:rPr sz="950" b="0" i="0">
                <a:solidFill>
                  <a:srgbClr val="4A6478"/>
                </a:solidFill>
                <a:latin typeface="Segoe UI"/>
              </a:rPr>
              <a:t>ogni errore diviso per il proprio 99° percentile sul Benign di validation</a:t>
            </a:r>
          </a:p>
        </p:txBody>
      </p:sp>
      <p:sp>
        <p:nvSpPr>
          <p:cNvPr id="57" name="TextBox 152"/>
          <p:cNvSpPr txBox="1"/>
          <p:nvPr/>
        </p:nvSpPr>
        <p:spPr>
          <a:xfrm>
            <a:off x="8915400" y="2157984"/>
            <a:ext cx="2103120" cy="237744"/>
          </a:xfrm>
          <a:prstGeom prst="rect">
            <a:avLst/>
          </a:prstGeom>
          <a:noFill/>
        </p:spPr>
        <p:txBody>
          <a:bodyPr wrap="square" lIns="0" rIns="0" tIns="0" bIns="0" anchor="t">
            <a:spAutoFit/>
          </a:bodyPr>
          <a:lstStyle/>
          <a:p>
            <a:pPr algn="l"/>
            <a:r>
              <a:rPr sz="1050" b="0" i="0" spc="100">
                <a:solidFill>
                  <a:srgbClr val="4A6478"/>
                </a:solidFill>
                <a:latin typeface="Segoe UI Semibold"/>
              </a:rPr>
              <a:t>VALIDATION</a:t>
            </a:r>
          </a:p>
        </p:txBody>
      </p:sp>
      <p:sp>
        <p:nvSpPr>
          <p:cNvPr id="58" name="Rounded Rectangle 153"/>
          <p:cNvSpPr/>
          <p:nvPr/>
        </p:nvSpPr>
        <p:spPr>
          <a:xfrm>
            <a:off x="8915400" y="2487168"/>
            <a:ext cx="2039112" cy="896112"/>
          </a:xfrm>
          <a:prstGeom prst="roundRect">
            <a:avLst>
              <a:gd name="adj" fmla="val 1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154"/>
          <p:cNvSpPr txBox="1"/>
          <p:nvPr/>
        </p:nvSpPr>
        <p:spPr>
          <a:xfrm>
            <a:off x="8915400" y="2542032"/>
            <a:ext cx="2039112" cy="201168"/>
          </a:xfrm>
          <a:prstGeom prst="rect">
            <a:avLst/>
          </a:prstGeom>
          <a:noFill/>
        </p:spPr>
        <p:txBody>
          <a:bodyPr wrap="square" lIns="0" rIns="0" tIns="0" bIns="0" anchor="t">
            <a:spAutoFit/>
          </a:bodyPr>
          <a:lstStyle/>
          <a:p>
            <a:pPr algn="ctr"/>
            <a:r>
              <a:rPr sz="900" b="0" i="0">
                <a:solidFill>
                  <a:srgbClr val="4A6478"/>
                </a:solidFill>
                <a:latin typeface="Segoe UI"/>
              </a:rPr>
              <a:t>attacchi recuperati</a:t>
            </a:r>
          </a:p>
        </p:txBody>
      </p:sp>
      <p:sp>
        <p:nvSpPr>
          <p:cNvPr id="60" name="TextBox 155"/>
          <p:cNvSpPr txBox="1"/>
          <p:nvPr/>
        </p:nvSpPr>
        <p:spPr>
          <a:xfrm>
            <a:off x="8915400" y="2779776"/>
            <a:ext cx="2039112" cy="548640"/>
          </a:xfrm>
          <a:prstGeom prst="rect">
            <a:avLst/>
          </a:prstGeom>
          <a:noFill/>
        </p:spPr>
        <p:txBody>
          <a:bodyPr wrap="square" lIns="0" rIns="0" tIns="0" bIns="0" anchor="ctr">
            <a:spAutoFit/>
          </a:bodyPr>
          <a:lstStyle/>
          <a:p>
            <a:pPr algn="ctr"/>
            <a:r>
              <a:rPr sz="1500" b="0" i="0">
                <a:solidFill>
                  <a:srgbClr val="C98A3E"/>
                </a:solidFill>
                <a:latin typeface="Georgia"/>
              </a:rPr>
              <a:t>209</a:t>
            </a:r>
            <a:r>
              <a:rPr sz="1200" b="0" i="0">
                <a:solidFill>
                  <a:srgbClr val="4A6478"/>
                </a:solidFill>
                <a:latin typeface="Georgia"/>
              </a:rPr>
              <a:t> → </a:t>
            </a:r>
            <a:r>
              <a:rPr sz="1500" b="0" i="0">
                <a:solidFill>
                  <a:srgbClr val="0C649C"/>
                </a:solidFill>
                <a:latin typeface="Georgia"/>
              </a:rPr>
              <a:t>304</a:t>
            </a:r>
          </a:p>
        </p:txBody>
      </p:sp>
      <p:sp>
        <p:nvSpPr>
          <p:cNvPr id="61" name="Rounded Rectangle 156"/>
          <p:cNvSpPr/>
          <p:nvPr/>
        </p:nvSpPr>
        <p:spPr>
          <a:xfrm>
            <a:off x="8915400" y="3511296"/>
            <a:ext cx="2039112" cy="896112"/>
          </a:xfrm>
          <a:prstGeom prst="roundRect">
            <a:avLst>
              <a:gd name="adj" fmla="val 1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157"/>
          <p:cNvSpPr txBox="1"/>
          <p:nvPr/>
        </p:nvSpPr>
        <p:spPr>
          <a:xfrm>
            <a:off x="8915400" y="3566160"/>
            <a:ext cx="2039112" cy="201168"/>
          </a:xfrm>
          <a:prstGeom prst="rect">
            <a:avLst/>
          </a:prstGeom>
          <a:noFill/>
        </p:spPr>
        <p:txBody>
          <a:bodyPr wrap="square" lIns="0" rIns="0" tIns="0" bIns="0" anchor="t">
            <a:spAutoFit/>
          </a:bodyPr>
          <a:lstStyle/>
          <a:p>
            <a:pPr algn="ctr"/>
            <a:r>
              <a:rPr sz="900" b="0" i="0">
                <a:solidFill>
                  <a:srgbClr val="4A6478"/>
                </a:solidFill>
                <a:latin typeface="Segoe UI"/>
              </a:rPr>
              <a:t>falsi allarmi extra</a:t>
            </a:r>
          </a:p>
        </p:txBody>
      </p:sp>
      <p:sp>
        <p:nvSpPr>
          <p:cNvPr id="63" name="TextBox 158"/>
          <p:cNvSpPr txBox="1"/>
          <p:nvPr/>
        </p:nvSpPr>
        <p:spPr>
          <a:xfrm>
            <a:off x="8915400" y="3803904"/>
            <a:ext cx="2039112" cy="548640"/>
          </a:xfrm>
          <a:prstGeom prst="rect">
            <a:avLst/>
          </a:prstGeom>
          <a:noFill/>
        </p:spPr>
        <p:txBody>
          <a:bodyPr wrap="square" lIns="0" rIns="0" tIns="0" bIns="0" anchor="ctr">
            <a:spAutoFit/>
          </a:bodyPr>
          <a:lstStyle/>
          <a:p>
            <a:pPr algn="ctr"/>
            <a:r>
              <a:rPr sz="1500" b="0" i="0">
                <a:solidFill>
                  <a:srgbClr val="C98A3E"/>
                </a:solidFill>
                <a:latin typeface="Georgia"/>
              </a:rPr>
              <a:t>3.813</a:t>
            </a:r>
            <a:r>
              <a:rPr sz="1200" b="0" i="0">
                <a:solidFill>
                  <a:srgbClr val="4A6478"/>
                </a:solidFill>
                <a:latin typeface="Georgia"/>
              </a:rPr>
              <a:t> → </a:t>
            </a:r>
            <a:r>
              <a:rPr sz="1500" b="0" i="0">
                <a:solidFill>
                  <a:srgbClr val="0C649C"/>
                </a:solidFill>
                <a:latin typeface="Georgia"/>
              </a:rPr>
              <a:t>3.751</a:t>
            </a:r>
          </a:p>
        </p:txBody>
      </p:sp>
      <p:sp>
        <p:nvSpPr>
          <p:cNvPr id="64" name="Rounded Rectangle 159"/>
          <p:cNvSpPr/>
          <p:nvPr/>
        </p:nvSpPr>
        <p:spPr>
          <a:xfrm>
            <a:off x="8915400" y="4535424"/>
            <a:ext cx="2039112" cy="896112"/>
          </a:xfrm>
          <a:prstGeom prst="roundRect">
            <a:avLst>
              <a:gd name="adj" fmla="val 1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160"/>
          <p:cNvSpPr txBox="1"/>
          <p:nvPr/>
        </p:nvSpPr>
        <p:spPr>
          <a:xfrm>
            <a:off x="8915400" y="4590288"/>
            <a:ext cx="2039112" cy="201168"/>
          </a:xfrm>
          <a:prstGeom prst="rect">
            <a:avLst/>
          </a:prstGeom>
          <a:noFill/>
        </p:spPr>
        <p:txBody>
          <a:bodyPr wrap="square" lIns="0" rIns="0" tIns="0" bIns="0" anchor="t">
            <a:spAutoFit/>
          </a:bodyPr>
          <a:lstStyle/>
          <a:p>
            <a:pPr algn="ctr"/>
            <a:r>
              <a:rPr sz="900" b="0" i="0">
                <a:solidFill>
                  <a:srgbClr val="4A6478"/>
                </a:solidFill>
                <a:latin typeface="Segoe UI"/>
              </a:rPr>
              <a:t>recall</a:t>
            </a:r>
          </a:p>
        </p:txBody>
      </p:sp>
      <p:sp>
        <p:nvSpPr>
          <p:cNvPr id="66" name="TextBox 161"/>
          <p:cNvSpPr txBox="1"/>
          <p:nvPr/>
        </p:nvSpPr>
        <p:spPr>
          <a:xfrm>
            <a:off x="8915400" y="4828032"/>
            <a:ext cx="2039112" cy="548640"/>
          </a:xfrm>
          <a:prstGeom prst="rect">
            <a:avLst/>
          </a:prstGeom>
          <a:noFill/>
        </p:spPr>
        <p:txBody>
          <a:bodyPr wrap="square" lIns="0" rIns="0" tIns="0" bIns="0" anchor="ctr">
            <a:spAutoFit/>
          </a:bodyPr>
          <a:lstStyle/>
          <a:p>
            <a:pPr algn="ctr"/>
            <a:r>
              <a:rPr sz="1500" b="0" i="0">
                <a:solidFill>
                  <a:srgbClr val="C98A3E"/>
                </a:solidFill>
                <a:latin typeface="Georgia"/>
              </a:rPr>
              <a:t>98,37%</a:t>
            </a:r>
            <a:r>
              <a:rPr sz="1200" b="0" i="0">
                <a:solidFill>
                  <a:srgbClr val="4A6478"/>
                </a:solidFill>
                <a:latin typeface="Georgia"/>
              </a:rPr>
              <a:t> → </a:t>
            </a:r>
            <a:r>
              <a:rPr sz="1500" b="0" i="0">
                <a:solidFill>
                  <a:srgbClr val="0C649C"/>
                </a:solidFill>
                <a:latin typeface="Georgia"/>
              </a:rPr>
              <a:t>98,51%</a:t>
            </a:r>
          </a:p>
        </p:txBody>
      </p:sp>
      <p:sp>
        <p:nvSpPr>
          <p:cNvPr id="67" name="TextBox 162"/>
          <p:cNvSpPr txBox="1"/>
          <p:nvPr/>
        </p:nvSpPr>
        <p:spPr>
          <a:xfrm>
            <a:off x="8915400" y="5577840"/>
            <a:ext cx="2039112" cy="457200"/>
          </a:xfrm>
          <a:prstGeom prst="rect">
            <a:avLst/>
          </a:prstGeom>
          <a:noFill/>
        </p:spPr>
        <p:txBody>
          <a:bodyPr wrap="square" lIns="0" rIns="0" tIns="0" bIns="0" anchor="t">
            <a:spAutoFit/>
          </a:bodyPr>
          <a:lstStyle/>
          <a:p>
            <a:pPr algn="ctr"/>
            <a:r>
              <a:rPr sz="900" b="0" i="0">
                <a:solidFill>
                  <a:srgbClr val="4A6478"/>
                </a:solidFill>
                <a:latin typeface="Segoe UI"/>
              </a:rPr>
              <a:t>un AE singolo → ensemble</a:t>
            </a:r>
          </a:p>
        </p:txBody>
      </p:sp>
      <p:sp>
        <p:nvSpPr>
          <p:cNvPr id="68" name="Rounded Rectangle 163"/>
          <p:cNvSpPr/>
          <p:nvPr/>
        </p:nvSpPr>
        <p:spPr>
          <a:xfrm>
            <a:off x="1234440" y="5852160"/>
            <a:ext cx="9720072" cy="457200"/>
          </a:xfrm>
          <a:prstGeom prst="roundRect">
            <a:avLst>
              <a:gd name="adj" fmla="val 30000"/>
            </a:avLst>
          </a:prstGeom>
          <a:solidFill>
            <a:srgbClr val="D6E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164"/>
          <p:cNvSpPr txBox="1"/>
          <p:nvPr/>
        </p:nvSpPr>
        <p:spPr>
          <a:xfrm>
            <a:off x="1325880" y="5852160"/>
            <a:ext cx="9537192" cy="457200"/>
          </a:xfrm>
          <a:prstGeom prst="rect">
            <a:avLst/>
          </a:prstGeom>
          <a:noFill/>
        </p:spPr>
        <p:txBody>
          <a:bodyPr wrap="square" lIns="0" rIns="0" tIns="0" bIns="0" anchor="ctr">
            <a:spAutoFit/>
          </a:bodyPr>
          <a:lstStyle/>
          <a:p>
            <a:pPr algn="ctr"/>
            <a:r>
              <a:rPr sz="1150" b="0" i="1">
                <a:solidFill>
                  <a:srgbClr val="0B2438"/>
                </a:solidFill>
                <a:latin typeface="Georgia"/>
              </a:rPr>
              <a:t>Da solo il secondo AE è un po’ peggiore, ma intercetta attacchi diversi: meglio su DoS lente e DDoS, peggio su DoS Hulk.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270862" y="384048"/>
            <a:ext cx="165027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06 · ZERO-DAY</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Escludere una famiglia, </a:t>
            </a:r>
            <a:r>
              <a:rPr sz="3400" b="0" i="1">
                <a:solidFill>
                  <a:srgbClr val="BCD1DE"/>
                </a:solidFill>
                <a:latin typeface="Georgia"/>
              </a:rPr>
              <a:t>cercarla</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07 / 08</a:t>
            </a:r>
          </a:p>
        </p:txBody>
      </p:sp>
      <p:sp>
        <p:nvSpPr>
          <p:cNvPr id="11" name="TextBox 106"/>
          <p:cNvSpPr txBox="1"/>
          <p:nvPr/>
        </p:nvSpPr>
        <p:spPr>
          <a:xfrm>
            <a:off x="1234440" y="2157984"/>
            <a:ext cx="5120640" cy="237744"/>
          </a:xfrm>
          <a:prstGeom prst="rect">
            <a:avLst/>
          </a:prstGeom>
          <a:noFill/>
        </p:spPr>
        <p:txBody>
          <a:bodyPr wrap="square" lIns="0" rIns="0" tIns="0" bIns="0" anchor="t">
            <a:spAutoFit/>
          </a:bodyPr>
          <a:lstStyle/>
          <a:p>
            <a:pPr algn="l"/>
            <a:r>
              <a:rPr sz="1050" b="0" i="0" spc="100">
                <a:solidFill>
                  <a:srgbClr val="4A6478"/>
                </a:solidFill>
                <a:latin typeface="Segoe UI Semibold"/>
              </a:rPr>
              <a:t>UNA FAMIGLIA SPARISCE DAL TRAINING DI XGBOOST</a:t>
            </a:r>
          </a:p>
        </p:txBody>
      </p:sp>
      <p:sp>
        <p:nvSpPr>
          <p:cNvPr id="12" name="Rounded Rectangle 107"/>
          <p:cNvSpPr/>
          <p:nvPr/>
        </p:nvSpPr>
        <p:spPr>
          <a:xfrm>
            <a:off x="1234440" y="2432304"/>
            <a:ext cx="396850" cy="274320"/>
          </a:xfrm>
          <a:prstGeom prst="roundRect">
            <a:avLst>
              <a:gd name="adj" fmla="val 50000"/>
            </a:avLst>
          </a:prstGeom>
          <a:solidFill>
            <a:srgbClr val="9A3B1B"/>
          </a:solidFill>
          <a:ln w="9525">
            <a:solidFill>
              <a:srgbClr val="9A3B1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08"/>
          <p:cNvSpPr txBox="1"/>
          <p:nvPr/>
        </p:nvSpPr>
        <p:spPr>
          <a:xfrm>
            <a:off x="1234440" y="2432304"/>
            <a:ext cx="396850" cy="274320"/>
          </a:xfrm>
          <a:prstGeom prst="rect">
            <a:avLst/>
          </a:prstGeom>
          <a:noFill/>
        </p:spPr>
        <p:txBody>
          <a:bodyPr wrap="square" lIns="0" rIns="0" tIns="0" bIns="0" anchor="ctr">
            <a:spAutoFit/>
          </a:bodyPr>
          <a:lstStyle/>
          <a:p>
            <a:pPr algn="ctr"/>
            <a:r>
              <a:rPr sz="900" b="1" i="0">
                <a:solidFill>
                  <a:srgbClr val="FFFFFF"/>
                </a:solidFill>
                <a:latin typeface="Segoe UI"/>
              </a:rPr>
              <a:t>DoS ✕</a:t>
            </a:r>
          </a:p>
        </p:txBody>
      </p:sp>
      <p:sp>
        <p:nvSpPr>
          <p:cNvPr id="14" name="Rounded Rectangle 109"/>
          <p:cNvSpPr/>
          <p:nvPr/>
        </p:nvSpPr>
        <p:spPr>
          <a:xfrm>
            <a:off x="1686154" y="2432304"/>
            <a:ext cx="662026" cy="27432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10"/>
          <p:cNvSpPr txBox="1"/>
          <p:nvPr/>
        </p:nvSpPr>
        <p:spPr>
          <a:xfrm>
            <a:off x="1686154" y="2432304"/>
            <a:ext cx="662026" cy="274320"/>
          </a:xfrm>
          <a:prstGeom prst="rect">
            <a:avLst/>
          </a:prstGeom>
          <a:noFill/>
        </p:spPr>
        <p:txBody>
          <a:bodyPr wrap="square" lIns="0" rIns="0" tIns="0" bIns="0" anchor="ctr">
            <a:spAutoFit/>
          </a:bodyPr>
          <a:lstStyle/>
          <a:p>
            <a:pPr algn="ctr"/>
            <a:r>
              <a:rPr sz="900" b="0" i="0">
                <a:solidFill>
                  <a:srgbClr val="0B2438"/>
                </a:solidFill>
                <a:latin typeface="Segoe UI"/>
              </a:rPr>
              <a:t>PortScan</a:t>
            </a:r>
          </a:p>
        </p:txBody>
      </p:sp>
      <p:sp>
        <p:nvSpPr>
          <p:cNvPr id="16" name="Rounded Rectangle 111"/>
          <p:cNvSpPr/>
          <p:nvPr/>
        </p:nvSpPr>
        <p:spPr>
          <a:xfrm>
            <a:off x="2403043" y="2432304"/>
            <a:ext cx="396850" cy="27432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12"/>
          <p:cNvSpPr txBox="1"/>
          <p:nvPr/>
        </p:nvSpPr>
        <p:spPr>
          <a:xfrm>
            <a:off x="2403043" y="2432304"/>
            <a:ext cx="396850" cy="274320"/>
          </a:xfrm>
          <a:prstGeom prst="rect">
            <a:avLst/>
          </a:prstGeom>
          <a:noFill/>
        </p:spPr>
        <p:txBody>
          <a:bodyPr wrap="square" lIns="0" rIns="0" tIns="0" bIns="0" anchor="ctr">
            <a:spAutoFit/>
          </a:bodyPr>
          <a:lstStyle/>
          <a:p>
            <a:pPr algn="ctr"/>
            <a:r>
              <a:rPr sz="900" b="0" i="0">
                <a:solidFill>
                  <a:srgbClr val="0B2438"/>
                </a:solidFill>
                <a:latin typeface="Segoe UI"/>
              </a:rPr>
              <a:t>Bot</a:t>
            </a:r>
          </a:p>
        </p:txBody>
      </p:sp>
      <p:sp>
        <p:nvSpPr>
          <p:cNvPr id="18" name="Rounded Rectangle 113"/>
          <p:cNvSpPr/>
          <p:nvPr/>
        </p:nvSpPr>
        <p:spPr>
          <a:xfrm>
            <a:off x="2854757" y="2432304"/>
            <a:ext cx="821131" cy="27432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14"/>
          <p:cNvSpPr txBox="1"/>
          <p:nvPr/>
        </p:nvSpPr>
        <p:spPr>
          <a:xfrm>
            <a:off x="2854757" y="2432304"/>
            <a:ext cx="821131" cy="274320"/>
          </a:xfrm>
          <a:prstGeom prst="rect">
            <a:avLst/>
          </a:prstGeom>
          <a:noFill/>
        </p:spPr>
        <p:txBody>
          <a:bodyPr wrap="square" lIns="0" rIns="0" tIns="0" bIns="0" anchor="ctr">
            <a:spAutoFit/>
          </a:bodyPr>
          <a:lstStyle/>
          <a:p>
            <a:pPr algn="ctr"/>
            <a:r>
              <a:rPr sz="900" b="0" i="0">
                <a:solidFill>
                  <a:srgbClr val="0B2438"/>
                </a:solidFill>
                <a:latin typeface="Segoe UI"/>
              </a:rPr>
              <a:t>Brute force</a:t>
            </a:r>
          </a:p>
        </p:txBody>
      </p:sp>
      <p:sp>
        <p:nvSpPr>
          <p:cNvPr id="20" name="Rounded Rectangle 115"/>
          <p:cNvSpPr/>
          <p:nvPr/>
        </p:nvSpPr>
        <p:spPr>
          <a:xfrm>
            <a:off x="3730752" y="2432304"/>
            <a:ext cx="768096" cy="27432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116"/>
          <p:cNvSpPr txBox="1"/>
          <p:nvPr/>
        </p:nvSpPr>
        <p:spPr>
          <a:xfrm>
            <a:off x="3730752" y="2432304"/>
            <a:ext cx="768096" cy="274320"/>
          </a:xfrm>
          <a:prstGeom prst="rect">
            <a:avLst/>
          </a:prstGeom>
          <a:noFill/>
        </p:spPr>
        <p:txBody>
          <a:bodyPr wrap="square" lIns="0" rIns="0" tIns="0" bIns="0" anchor="ctr">
            <a:spAutoFit/>
          </a:bodyPr>
          <a:lstStyle/>
          <a:p>
            <a:pPr algn="ctr"/>
            <a:r>
              <a:rPr sz="900" b="0" i="0">
                <a:solidFill>
                  <a:srgbClr val="0B2438"/>
                </a:solidFill>
                <a:latin typeface="Segoe UI"/>
              </a:rPr>
              <a:t>Web attack</a:t>
            </a:r>
          </a:p>
        </p:txBody>
      </p:sp>
      <p:sp>
        <p:nvSpPr>
          <p:cNvPr id="22" name="Rounded Rectangle 117"/>
          <p:cNvSpPr/>
          <p:nvPr/>
        </p:nvSpPr>
        <p:spPr>
          <a:xfrm>
            <a:off x="4553712" y="2432304"/>
            <a:ext cx="874166" cy="27432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118"/>
          <p:cNvSpPr txBox="1"/>
          <p:nvPr/>
        </p:nvSpPr>
        <p:spPr>
          <a:xfrm>
            <a:off x="4553712" y="2432304"/>
            <a:ext cx="874166" cy="274320"/>
          </a:xfrm>
          <a:prstGeom prst="rect">
            <a:avLst/>
          </a:prstGeom>
          <a:noFill/>
        </p:spPr>
        <p:txBody>
          <a:bodyPr wrap="square" lIns="0" rIns="0" tIns="0" bIns="0" anchor="ctr">
            <a:spAutoFit/>
          </a:bodyPr>
          <a:lstStyle/>
          <a:p>
            <a:pPr algn="ctr"/>
            <a:r>
              <a:rPr sz="900" b="0" i="0">
                <a:solidFill>
                  <a:srgbClr val="0B2438"/>
                </a:solidFill>
                <a:latin typeface="Segoe UI"/>
              </a:rPr>
              <a:t>Infiltration</a:t>
            </a:r>
          </a:p>
        </p:txBody>
      </p:sp>
      <p:sp>
        <p:nvSpPr>
          <p:cNvPr id="24" name="Rounded Rectangle 119"/>
          <p:cNvSpPr/>
          <p:nvPr/>
        </p:nvSpPr>
        <p:spPr>
          <a:xfrm>
            <a:off x="5482742" y="2432304"/>
            <a:ext cx="768096" cy="274320"/>
          </a:xfrm>
          <a:prstGeom prst="roundRect">
            <a:avLst>
              <a:gd name="adj" fmla="val 5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120"/>
          <p:cNvSpPr txBox="1"/>
          <p:nvPr/>
        </p:nvSpPr>
        <p:spPr>
          <a:xfrm>
            <a:off x="5482742" y="2432304"/>
            <a:ext cx="768096" cy="274320"/>
          </a:xfrm>
          <a:prstGeom prst="rect">
            <a:avLst/>
          </a:prstGeom>
          <a:noFill/>
        </p:spPr>
        <p:txBody>
          <a:bodyPr wrap="square" lIns="0" rIns="0" tIns="0" bIns="0" anchor="ctr">
            <a:spAutoFit/>
          </a:bodyPr>
          <a:lstStyle/>
          <a:p>
            <a:pPr algn="ctr"/>
            <a:r>
              <a:rPr sz="900" b="0" i="0">
                <a:solidFill>
                  <a:srgbClr val="0B2438"/>
                </a:solidFill>
                <a:latin typeface="Segoe UI"/>
              </a:rPr>
              <a:t>Heartbleed</a:t>
            </a:r>
          </a:p>
        </p:txBody>
      </p:sp>
      <p:sp>
        <p:nvSpPr>
          <p:cNvPr id="26" name="TextBox 121"/>
          <p:cNvSpPr txBox="1"/>
          <p:nvPr/>
        </p:nvSpPr>
        <p:spPr>
          <a:xfrm>
            <a:off x="1234440" y="2788920"/>
            <a:ext cx="5120640" cy="457200"/>
          </a:xfrm>
          <a:prstGeom prst="rect">
            <a:avLst/>
          </a:prstGeom>
          <a:noFill/>
        </p:spPr>
        <p:txBody>
          <a:bodyPr wrap="square" lIns="0" rIns="0" tIns="0" bIns="0" anchor="t">
            <a:spAutoFit/>
          </a:bodyPr>
          <a:lstStyle/>
          <a:p>
            <a:pPr algn="l"/>
            <a:r>
              <a:rPr sz="1000" b="0" i="0">
                <a:solidFill>
                  <a:srgbClr val="4A6478"/>
                </a:solidFill>
                <a:latin typeface="Segoe UI"/>
              </a:rPr>
              <a:t>Si riaddestra un XGBoost binario senza quella famiglia; gli autoencoder restano uguali. Esempio: DoS.</a:t>
            </a:r>
          </a:p>
        </p:txBody>
      </p:sp>
      <p:sp>
        <p:nvSpPr>
          <p:cNvPr id="27" name="TextBox 122"/>
          <p:cNvSpPr txBox="1"/>
          <p:nvPr/>
        </p:nvSpPr>
        <p:spPr>
          <a:xfrm>
            <a:off x="1234440" y="3273552"/>
            <a:ext cx="5120640" cy="237744"/>
          </a:xfrm>
          <a:prstGeom prst="rect">
            <a:avLst/>
          </a:prstGeom>
          <a:noFill/>
        </p:spPr>
        <p:txBody>
          <a:bodyPr wrap="square" lIns="0" rIns="0" tIns="0" bIns="0" anchor="t">
            <a:spAutoFit/>
          </a:bodyPr>
          <a:lstStyle/>
          <a:p>
            <a:pPr algn="l"/>
            <a:r>
              <a:rPr sz="1050" b="0" i="0" spc="100">
                <a:solidFill>
                  <a:srgbClr val="4A6478"/>
                </a:solidFill>
                <a:latin typeface="Segoe UI Semibold"/>
              </a:rPr>
              <a:t>RECALL SUL TEST · SOGLIA P99</a:t>
            </a:r>
          </a:p>
        </p:txBody>
      </p:sp>
      <p:sp>
        <p:nvSpPr>
          <p:cNvPr id="28" name="TextBox 123"/>
          <p:cNvSpPr txBox="1"/>
          <p:nvPr/>
        </p:nvSpPr>
        <p:spPr>
          <a:xfrm>
            <a:off x="1234440" y="3547872"/>
            <a:ext cx="1508760" cy="365760"/>
          </a:xfrm>
          <a:prstGeom prst="rect">
            <a:avLst/>
          </a:prstGeom>
          <a:noFill/>
        </p:spPr>
        <p:txBody>
          <a:bodyPr wrap="square" lIns="0" rIns="0" tIns="0" bIns="0" anchor="ctr">
            <a:spAutoFit/>
          </a:bodyPr>
          <a:lstStyle/>
          <a:p>
            <a:pPr algn="r"/>
            <a:r>
              <a:rPr sz="1000" b="0" i="0">
                <a:solidFill>
                  <a:srgbClr val="0B2438"/>
                </a:solidFill>
                <a:latin typeface="Segoe UI"/>
              </a:rPr>
              <a:t>DoS (64.317)</a:t>
            </a:r>
          </a:p>
        </p:txBody>
      </p:sp>
      <p:sp>
        <p:nvSpPr>
          <p:cNvPr id="29" name="Rectangle 124"/>
          <p:cNvSpPr/>
          <p:nvPr/>
        </p:nvSpPr>
        <p:spPr>
          <a:xfrm>
            <a:off x="2880360" y="3611880"/>
            <a:ext cx="446867"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125"/>
          <p:cNvSpPr txBox="1"/>
          <p:nvPr/>
        </p:nvSpPr>
        <p:spPr>
          <a:xfrm>
            <a:off x="3372947" y="3584448"/>
            <a:ext cx="640080" cy="155448"/>
          </a:xfrm>
          <a:prstGeom prst="rect">
            <a:avLst/>
          </a:prstGeom>
          <a:noFill/>
        </p:spPr>
        <p:txBody>
          <a:bodyPr wrap="square" lIns="0" rIns="0" tIns="0" bIns="0" anchor="ctr">
            <a:spAutoFit/>
          </a:bodyPr>
          <a:lstStyle/>
          <a:p>
            <a:pPr algn="l"/>
            <a:r>
              <a:rPr sz="800" b="0" i="0">
                <a:solidFill>
                  <a:srgbClr val="4A6478"/>
                </a:solidFill>
                <a:latin typeface="Segoe UI"/>
              </a:rPr>
              <a:t>18,1%</a:t>
            </a:r>
          </a:p>
        </p:txBody>
      </p:sp>
      <p:sp>
        <p:nvSpPr>
          <p:cNvPr id="31" name="Rectangle 126"/>
          <p:cNvSpPr/>
          <p:nvPr/>
        </p:nvSpPr>
        <p:spPr>
          <a:xfrm>
            <a:off x="2880360" y="3730752"/>
            <a:ext cx="1844253"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127"/>
          <p:cNvSpPr txBox="1"/>
          <p:nvPr/>
        </p:nvSpPr>
        <p:spPr>
          <a:xfrm>
            <a:off x="4770333" y="3703320"/>
            <a:ext cx="640080" cy="155448"/>
          </a:xfrm>
          <a:prstGeom prst="rect">
            <a:avLst/>
          </a:prstGeom>
          <a:noFill/>
        </p:spPr>
        <p:txBody>
          <a:bodyPr wrap="square" lIns="0" rIns="0" tIns="0" bIns="0" anchor="ctr">
            <a:spAutoFit/>
          </a:bodyPr>
          <a:lstStyle/>
          <a:p>
            <a:pPr algn="l"/>
            <a:r>
              <a:rPr sz="800" b="0" i="0">
                <a:solidFill>
                  <a:srgbClr val="4A6478"/>
                </a:solidFill>
                <a:latin typeface="Segoe UI"/>
              </a:rPr>
              <a:t>74,7%</a:t>
            </a:r>
          </a:p>
        </p:txBody>
      </p:sp>
      <p:sp>
        <p:nvSpPr>
          <p:cNvPr id="33" name="TextBox 128"/>
          <p:cNvSpPr txBox="1"/>
          <p:nvPr/>
        </p:nvSpPr>
        <p:spPr>
          <a:xfrm>
            <a:off x="1234440" y="3913632"/>
            <a:ext cx="1508760" cy="365760"/>
          </a:xfrm>
          <a:prstGeom prst="rect">
            <a:avLst/>
          </a:prstGeom>
          <a:noFill/>
        </p:spPr>
        <p:txBody>
          <a:bodyPr wrap="square" lIns="0" rIns="0" tIns="0" bIns="0" anchor="ctr">
            <a:spAutoFit/>
          </a:bodyPr>
          <a:lstStyle/>
          <a:p>
            <a:pPr algn="r"/>
            <a:r>
              <a:rPr sz="1000" b="0" i="0">
                <a:solidFill>
                  <a:srgbClr val="0B2438"/>
                </a:solidFill>
                <a:latin typeface="Segoe UI"/>
              </a:rPr>
              <a:t>PortScan (391)</a:t>
            </a:r>
          </a:p>
        </p:txBody>
      </p:sp>
      <p:sp>
        <p:nvSpPr>
          <p:cNvPr id="34" name="Rectangle 129"/>
          <p:cNvSpPr/>
          <p:nvPr/>
        </p:nvSpPr>
        <p:spPr>
          <a:xfrm>
            <a:off x="2880360" y="3977640"/>
            <a:ext cx="316017"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130"/>
          <p:cNvSpPr txBox="1"/>
          <p:nvPr/>
        </p:nvSpPr>
        <p:spPr>
          <a:xfrm>
            <a:off x="3242097" y="3950208"/>
            <a:ext cx="640080" cy="155448"/>
          </a:xfrm>
          <a:prstGeom prst="rect">
            <a:avLst/>
          </a:prstGeom>
          <a:noFill/>
        </p:spPr>
        <p:txBody>
          <a:bodyPr wrap="square" lIns="0" rIns="0" tIns="0" bIns="0" anchor="ctr">
            <a:spAutoFit/>
          </a:bodyPr>
          <a:lstStyle/>
          <a:p>
            <a:pPr algn="l"/>
            <a:r>
              <a:rPr sz="800" b="0" i="0">
                <a:solidFill>
                  <a:srgbClr val="4A6478"/>
                </a:solidFill>
                <a:latin typeface="Segoe UI"/>
              </a:rPr>
              <a:t>12,8%</a:t>
            </a:r>
          </a:p>
        </p:txBody>
      </p:sp>
      <p:sp>
        <p:nvSpPr>
          <p:cNvPr id="36" name="Rectangle 131"/>
          <p:cNvSpPr/>
          <p:nvPr/>
        </p:nvSpPr>
        <p:spPr>
          <a:xfrm>
            <a:off x="2880360" y="4096512"/>
            <a:ext cx="316017"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132"/>
          <p:cNvSpPr txBox="1"/>
          <p:nvPr/>
        </p:nvSpPr>
        <p:spPr>
          <a:xfrm>
            <a:off x="3242097" y="4069080"/>
            <a:ext cx="640080" cy="155448"/>
          </a:xfrm>
          <a:prstGeom prst="rect">
            <a:avLst/>
          </a:prstGeom>
          <a:noFill/>
        </p:spPr>
        <p:txBody>
          <a:bodyPr wrap="square" lIns="0" rIns="0" tIns="0" bIns="0" anchor="ctr">
            <a:spAutoFit/>
          </a:bodyPr>
          <a:lstStyle/>
          <a:p>
            <a:pPr algn="l"/>
            <a:r>
              <a:rPr sz="800" b="0" i="0">
                <a:solidFill>
                  <a:srgbClr val="4A6478"/>
                </a:solidFill>
                <a:latin typeface="Segoe UI"/>
              </a:rPr>
              <a:t>12,8%</a:t>
            </a:r>
          </a:p>
        </p:txBody>
      </p:sp>
      <p:sp>
        <p:nvSpPr>
          <p:cNvPr id="38" name="TextBox 133"/>
          <p:cNvSpPr txBox="1"/>
          <p:nvPr/>
        </p:nvSpPr>
        <p:spPr>
          <a:xfrm>
            <a:off x="1234440" y="4279392"/>
            <a:ext cx="1508760" cy="365760"/>
          </a:xfrm>
          <a:prstGeom prst="rect">
            <a:avLst/>
          </a:prstGeom>
          <a:noFill/>
        </p:spPr>
        <p:txBody>
          <a:bodyPr wrap="square" lIns="0" rIns="0" tIns="0" bIns="0" anchor="ctr">
            <a:spAutoFit/>
          </a:bodyPr>
          <a:lstStyle/>
          <a:p>
            <a:pPr algn="r"/>
            <a:r>
              <a:rPr sz="1000" b="0" i="0">
                <a:solidFill>
                  <a:srgbClr val="0B2438"/>
                </a:solidFill>
                <a:latin typeface="Segoe UI"/>
              </a:rPr>
              <a:t>Bot (287)</a:t>
            </a:r>
          </a:p>
        </p:txBody>
      </p:sp>
      <p:sp>
        <p:nvSpPr>
          <p:cNvPr id="39" name="Rectangle 134"/>
          <p:cNvSpPr/>
          <p:nvPr/>
        </p:nvSpPr>
        <p:spPr>
          <a:xfrm>
            <a:off x="2880360" y="4343400"/>
            <a:ext cx="18288"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135"/>
          <p:cNvSpPr txBox="1"/>
          <p:nvPr/>
        </p:nvSpPr>
        <p:spPr>
          <a:xfrm>
            <a:off x="2944368" y="4315968"/>
            <a:ext cx="640080" cy="155448"/>
          </a:xfrm>
          <a:prstGeom prst="rect">
            <a:avLst/>
          </a:prstGeom>
          <a:noFill/>
        </p:spPr>
        <p:txBody>
          <a:bodyPr wrap="square" lIns="0" rIns="0" tIns="0" bIns="0" anchor="ctr">
            <a:spAutoFit/>
          </a:bodyPr>
          <a:lstStyle/>
          <a:p>
            <a:pPr algn="l"/>
            <a:r>
              <a:rPr sz="800" b="0" i="0">
                <a:solidFill>
                  <a:srgbClr val="4A6478"/>
                </a:solidFill>
                <a:latin typeface="Segoe UI"/>
              </a:rPr>
              <a:t>0,0%</a:t>
            </a:r>
          </a:p>
        </p:txBody>
      </p:sp>
      <p:sp>
        <p:nvSpPr>
          <p:cNvPr id="41" name="Rectangle 136"/>
          <p:cNvSpPr/>
          <p:nvPr/>
        </p:nvSpPr>
        <p:spPr>
          <a:xfrm>
            <a:off x="2880360" y="4462272"/>
            <a:ext cx="93817"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137"/>
          <p:cNvSpPr txBox="1"/>
          <p:nvPr/>
        </p:nvSpPr>
        <p:spPr>
          <a:xfrm>
            <a:off x="3019897" y="4434840"/>
            <a:ext cx="640080" cy="155448"/>
          </a:xfrm>
          <a:prstGeom prst="rect">
            <a:avLst/>
          </a:prstGeom>
          <a:noFill/>
        </p:spPr>
        <p:txBody>
          <a:bodyPr wrap="square" lIns="0" rIns="0" tIns="0" bIns="0" anchor="ctr">
            <a:spAutoFit/>
          </a:bodyPr>
          <a:lstStyle/>
          <a:p>
            <a:pPr algn="l"/>
            <a:r>
              <a:rPr sz="800" b="0" i="0">
                <a:solidFill>
                  <a:srgbClr val="4A6478"/>
                </a:solidFill>
                <a:latin typeface="Segoe UI"/>
              </a:rPr>
              <a:t>3,8%</a:t>
            </a:r>
          </a:p>
        </p:txBody>
      </p:sp>
      <p:sp>
        <p:nvSpPr>
          <p:cNvPr id="43" name="TextBox 138"/>
          <p:cNvSpPr txBox="1"/>
          <p:nvPr/>
        </p:nvSpPr>
        <p:spPr>
          <a:xfrm>
            <a:off x="1234440" y="4645152"/>
            <a:ext cx="1508760" cy="365760"/>
          </a:xfrm>
          <a:prstGeom prst="rect">
            <a:avLst/>
          </a:prstGeom>
          <a:noFill/>
        </p:spPr>
        <p:txBody>
          <a:bodyPr wrap="square" lIns="0" rIns="0" tIns="0" bIns="0" anchor="ctr">
            <a:spAutoFit/>
          </a:bodyPr>
          <a:lstStyle/>
          <a:p>
            <a:pPr algn="r"/>
            <a:r>
              <a:rPr sz="1000" b="0" i="0">
                <a:solidFill>
                  <a:srgbClr val="0B2438"/>
                </a:solidFill>
                <a:latin typeface="Segoe UI"/>
              </a:rPr>
              <a:t>Brute force (1.829)</a:t>
            </a:r>
          </a:p>
        </p:txBody>
      </p:sp>
      <p:sp>
        <p:nvSpPr>
          <p:cNvPr id="44" name="Rectangle 139"/>
          <p:cNvSpPr/>
          <p:nvPr/>
        </p:nvSpPr>
        <p:spPr>
          <a:xfrm>
            <a:off x="2880360" y="4709160"/>
            <a:ext cx="18288"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140"/>
          <p:cNvSpPr txBox="1"/>
          <p:nvPr/>
        </p:nvSpPr>
        <p:spPr>
          <a:xfrm>
            <a:off x="2944368" y="4681728"/>
            <a:ext cx="640080" cy="155448"/>
          </a:xfrm>
          <a:prstGeom prst="rect">
            <a:avLst/>
          </a:prstGeom>
          <a:noFill/>
        </p:spPr>
        <p:txBody>
          <a:bodyPr wrap="square" lIns="0" rIns="0" tIns="0" bIns="0" anchor="ctr">
            <a:spAutoFit/>
          </a:bodyPr>
          <a:lstStyle/>
          <a:p>
            <a:pPr algn="l"/>
            <a:r>
              <a:rPr sz="800" b="0" i="0">
                <a:solidFill>
                  <a:srgbClr val="4A6478"/>
                </a:solidFill>
                <a:latin typeface="Segoe UI"/>
              </a:rPr>
              <a:t>0,3%</a:t>
            </a:r>
          </a:p>
        </p:txBody>
      </p:sp>
      <p:sp>
        <p:nvSpPr>
          <p:cNvPr id="46" name="Rectangle 141"/>
          <p:cNvSpPr/>
          <p:nvPr/>
        </p:nvSpPr>
        <p:spPr>
          <a:xfrm>
            <a:off x="2880360" y="4828032"/>
            <a:ext cx="18288"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142"/>
          <p:cNvSpPr txBox="1"/>
          <p:nvPr/>
        </p:nvSpPr>
        <p:spPr>
          <a:xfrm>
            <a:off x="2944368" y="4800600"/>
            <a:ext cx="640080" cy="155448"/>
          </a:xfrm>
          <a:prstGeom prst="rect">
            <a:avLst/>
          </a:prstGeom>
          <a:noFill/>
        </p:spPr>
        <p:txBody>
          <a:bodyPr wrap="square" lIns="0" rIns="0" tIns="0" bIns="0" anchor="ctr">
            <a:spAutoFit/>
          </a:bodyPr>
          <a:lstStyle/>
          <a:p>
            <a:pPr algn="l"/>
            <a:r>
              <a:rPr sz="800" b="0" i="0">
                <a:solidFill>
                  <a:srgbClr val="4A6478"/>
                </a:solidFill>
                <a:latin typeface="Segoe UI"/>
              </a:rPr>
              <a:t>0,4%</a:t>
            </a:r>
          </a:p>
        </p:txBody>
      </p:sp>
      <p:sp>
        <p:nvSpPr>
          <p:cNvPr id="48" name="TextBox 143"/>
          <p:cNvSpPr txBox="1"/>
          <p:nvPr/>
        </p:nvSpPr>
        <p:spPr>
          <a:xfrm>
            <a:off x="1234440" y="5010912"/>
            <a:ext cx="1508760" cy="365760"/>
          </a:xfrm>
          <a:prstGeom prst="rect">
            <a:avLst/>
          </a:prstGeom>
          <a:noFill/>
        </p:spPr>
        <p:txBody>
          <a:bodyPr wrap="square" lIns="0" rIns="0" tIns="0" bIns="0" anchor="ctr">
            <a:spAutoFit/>
          </a:bodyPr>
          <a:lstStyle/>
          <a:p>
            <a:pPr algn="r"/>
            <a:r>
              <a:rPr sz="1000" b="0" i="0">
                <a:solidFill>
                  <a:srgbClr val="0B2438"/>
                </a:solidFill>
                <a:latin typeface="Segoe UI"/>
              </a:rPr>
              <a:t>Web attack (428)</a:t>
            </a:r>
          </a:p>
        </p:txBody>
      </p:sp>
      <p:sp>
        <p:nvSpPr>
          <p:cNvPr id="49" name="Rectangle 144"/>
          <p:cNvSpPr/>
          <p:nvPr/>
        </p:nvSpPr>
        <p:spPr>
          <a:xfrm>
            <a:off x="2880360" y="5074920"/>
            <a:ext cx="1523299"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145"/>
          <p:cNvSpPr txBox="1"/>
          <p:nvPr/>
        </p:nvSpPr>
        <p:spPr>
          <a:xfrm>
            <a:off x="4449379" y="5047488"/>
            <a:ext cx="640080" cy="155448"/>
          </a:xfrm>
          <a:prstGeom prst="rect">
            <a:avLst/>
          </a:prstGeom>
          <a:noFill/>
        </p:spPr>
        <p:txBody>
          <a:bodyPr wrap="square" lIns="0" rIns="0" tIns="0" bIns="0" anchor="ctr">
            <a:spAutoFit/>
          </a:bodyPr>
          <a:lstStyle/>
          <a:p>
            <a:pPr algn="l"/>
            <a:r>
              <a:rPr sz="800" b="0" i="0">
                <a:solidFill>
                  <a:srgbClr val="4A6478"/>
                </a:solidFill>
                <a:latin typeface="Segoe UI"/>
              </a:rPr>
              <a:t>61,7%</a:t>
            </a:r>
          </a:p>
        </p:txBody>
      </p:sp>
      <p:sp>
        <p:nvSpPr>
          <p:cNvPr id="51" name="Rectangle 146"/>
          <p:cNvSpPr/>
          <p:nvPr/>
        </p:nvSpPr>
        <p:spPr>
          <a:xfrm>
            <a:off x="2880360" y="5193792"/>
            <a:ext cx="1523299"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147"/>
          <p:cNvSpPr txBox="1"/>
          <p:nvPr/>
        </p:nvSpPr>
        <p:spPr>
          <a:xfrm>
            <a:off x="4449379" y="5166360"/>
            <a:ext cx="640080" cy="155448"/>
          </a:xfrm>
          <a:prstGeom prst="rect">
            <a:avLst/>
          </a:prstGeom>
          <a:noFill/>
        </p:spPr>
        <p:txBody>
          <a:bodyPr wrap="square" lIns="0" rIns="0" tIns="0" bIns="0" anchor="ctr">
            <a:spAutoFit/>
          </a:bodyPr>
          <a:lstStyle/>
          <a:p>
            <a:pPr algn="l"/>
            <a:r>
              <a:rPr sz="800" b="0" i="0">
                <a:solidFill>
                  <a:srgbClr val="4A6478"/>
                </a:solidFill>
                <a:latin typeface="Segoe UI"/>
              </a:rPr>
              <a:t>61,7%</a:t>
            </a:r>
          </a:p>
        </p:txBody>
      </p:sp>
      <p:sp>
        <p:nvSpPr>
          <p:cNvPr id="53" name="TextBox 148"/>
          <p:cNvSpPr txBox="1"/>
          <p:nvPr/>
        </p:nvSpPr>
        <p:spPr>
          <a:xfrm>
            <a:off x="1234440" y="5376672"/>
            <a:ext cx="1508760" cy="365760"/>
          </a:xfrm>
          <a:prstGeom prst="rect">
            <a:avLst/>
          </a:prstGeom>
          <a:noFill/>
        </p:spPr>
        <p:txBody>
          <a:bodyPr wrap="square" lIns="0" rIns="0" tIns="0" bIns="0" anchor="ctr">
            <a:spAutoFit/>
          </a:bodyPr>
          <a:lstStyle/>
          <a:p>
            <a:pPr algn="r"/>
            <a:r>
              <a:rPr sz="1000" b="0" i="0">
                <a:solidFill>
                  <a:srgbClr val="0B2438"/>
                </a:solidFill>
                <a:latin typeface="Segoe UI"/>
              </a:rPr>
              <a:t>Infiltration (7)*</a:t>
            </a:r>
          </a:p>
        </p:txBody>
      </p:sp>
      <p:sp>
        <p:nvSpPr>
          <p:cNvPr id="54" name="Rectangle 149"/>
          <p:cNvSpPr/>
          <p:nvPr/>
        </p:nvSpPr>
        <p:spPr>
          <a:xfrm>
            <a:off x="2880360" y="5440680"/>
            <a:ext cx="18288"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150"/>
          <p:cNvSpPr txBox="1"/>
          <p:nvPr/>
        </p:nvSpPr>
        <p:spPr>
          <a:xfrm>
            <a:off x="2944368" y="5413248"/>
            <a:ext cx="640080" cy="155448"/>
          </a:xfrm>
          <a:prstGeom prst="rect">
            <a:avLst/>
          </a:prstGeom>
          <a:noFill/>
        </p:spPr>
        <p:txBody>
          <a:bodyPr wrap="square" lIns="0" rIns="0" tIns="0" bIns="0" anchor="ctr">
            <a:spAutoFit/>
          </a:bodyPr>
          <a:lstStyle/>
          <a:p>
            <a:pPr algn="l"/>
            <a:r>
              <a:rPr sz="800" b="0" i="0">
                <a:solidFill>
                  <a:srgbClr val="4A6478"/>
                </a:solidFill>
                <a:latin typeface="Segoe UI"/>
              </a:rPr>
              <a:t>0,0%</a:t>
            </a:r>
          </a:p>
        </p:txBody>
      </p:sp>
      <p:sp>
        <p:nvSpPr>
          <p:cNvPr id="56" name="Rectangle 151"/>
          <p:cNvSpPr/>
          <p:nvPr/>
        </p:nvSpPr>
        <p:spPr>
          <a:xfrm>
            <a:off x="2880360" y="5559552"/>
            <a:ext cx="1059150"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152"/>
          <p:cNvSpPr txBox="1"/>
          <p:nvPr/>
        </p:nvSpPr>
        <p:spPr>
          <a:xfrm>
            <a:off x="3985230" y="5532120"/>
            <a:ext cx="640080" cy="155448"/>
          </a:xfrm>
          <a:prstGeom prst="rect">
            <a:avLst/>
          </a:prstGeom>
          <a:noFill/>
        </p:spPr>
        <p:txBody>
          <a:bodyPr wrap="square" lIns="0" rIns="0" tIns="0" bIns="0" anchor="ctr">
            <a:spAutoFit/>
          </a:bodyPr>
          <a:lstStyle/>
          <a:p>
            <a:pPr algn="l"/>
            <a:r>
              <a:rPr sz="800" b="0" i="0">
                <a:solidFill>
                  <a:srgbClr val="4A6478"/>
                </a:solidFill>
                <a:latin typeface="Segoe UI"/>
              </a:rPr>
              <a:t>42,9%</a:t>
            </a:r>
          </a:p>
        </p:txBody>
      </p:sp>
      <p:sp>
        <p:nvSpPr>
          <p:cNvPr id="58" name="TextBox 153"/>
          <p:cNvSpPr txBox="1"/>
          <p:nvPr/>
        </p:nvSpPr>
        <p:spPr>
          <a:xfrm>
            <a:off x="1234440" y="5742432"/>
            <a:ext cx="1508760" cy="365760"/>
          </a:xfrm>
          <a:prstGeom prst="rect">
            <a:avLst/>
          </a:prstGeom>
          <a:noFill/>
        </p:spPr>
        <p:txBody>
          <a:bodyPr wrap="square" lIns="0" rIns="0" tIns="0" bIns="0" anchor="ctr">
            <a:spAutoFit/>
          </a:bodyPr>
          <a:lstStyle/>
          <a:p>
            <a:pPr algn="r"/>
            <a:r>
              <a:rPr sz="1000" b="0" i="0">
                <a:solidFill>
                  <a:srgbClr val="0B2438"/>
                </a:solidFill>
                <a:latin typeface="Segoe UI"/>
              </a:rPr>
              <a:t>Heartbleed (1)*</a:t>
            </a:r>
          </a:p>
        </p:txBody>
      </p:sp>
      <p:sp>
        <p:nvSpPr>
          <p:cNvPr id="59" name="Rectangle 154"/>
          <p:cNvSpPr/>
          <p:nvPr/>
        </p:nvSpPr>
        <p:spPr>
          <a:xfrm>
            <a:off x="2880360" y="5806440"/>
            <a:ext cx="18288" cy="100584"/>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155"/>
          <p:cNvSpPr txBox="1"/>
          <p:nvPr/>
        </p:nvSpPr>
        <p:spPr>
          <a:xfrm>
            <a:off x="2944368" y="5779008"/>
            <a:ext cx="640080" cy="155448"/>
          </a:xfrm>
          <a:prstGeom prst="rect">
            <a:avLst/>
          </a:prstGeom>
          <a:noFill/>
        </p:spPr>
        <p:txBody>
          <a:bodyPr wrap="square" lIns="0" rIns="0" tIns="0" bIns="0" anchor="ctr">
            <a:spAutoFit/>
          </a:bodyPr>
          <a:lstStyle/>
          <a:p>
            <a:pPr algn="l"/>
            <a:r>
              <a:rPr sz="800" b="0" i="0">
                <a:solidFill>
                  <a:srgbClr val="4A6478"/>
                </a:solidFill>
                <a:latin typeface="Segoe UI"/>
              </a:rPr>
              <a:t>0,0%</a:t>
            </a:r>
          </a:p>
        </p:txBody>
      </p:sp>
      <p:sp>
        <p:nvSpPr>
          <p:cNvPr id="61" name="Rectangle 156"/>
          <p:cNvSpPr/>
          <p:nvPr/>
        </p:nvSpPr>
        <p:spPr>
          <a:xfrm>
            <a:off x="2880360" y="5925312"/>
            <a:ext cx="2468880" cy="100584"/>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157"/>
          <p:cNvSpPr txBox="1"/>
          <p:nvPr/>
        </p:nvSpPr>
        <p:spPr>
          <a:xfrm>
            <a:off x="5394960" y="5897880"/>
            <a:ext cx="640080" cy="155448"/>
          </a:xfrm>
          <a:prstGeom prst="rect">
            <a:avLst/>
          </a:prstGeom>
          <a:noFill/>
        </p:spPr>
        <p:txBody>
          <a:bodyPr wrap="square" lIns="0" rIns="0" tIns="0" bIns="0" anchor="ctr">
            <a:spAutoFit/>
          </a:bodyPr>
          <a:lstStyle/>
          <a:p>
            <a:pPr algn="l"/>
            <a:r>
              <a:rPr sz="800" b="0" i="0">
                <a:solidFill>
                  <a:srgbClr val="4A6478"/>
                </a:solidFill>
                <a:latin typeface="Segoe UI"/>
              </a:rPr>
              <a:t>100,0%</a:t>
            </a:r>
          </a:p>
        </p:txBody>
      </p:sp>
      <p:sp>
        <p:nvSpPr>
          <p:cNvPr id="63" name="Rectangle 158"/>
          <p:cNvSpPr/>
          <p:nvPr/>
        </p:nvSpPr>
        <p:spPr>
          <a:xfrm>
            <a:off x="1280160" y="6144768"/>
            <a:ext cx="109728" cy="109728"/>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159"/>
          <p:cNvSpPr txBox="1"/>
          <p:nvPr/>
        </p:nvSpPr>
        <p:spPr>
          <a:xfrm>
            <a:off x="1444752" y="6099048"/>
            <a:ext cx="2103120" cy="201168"/>
          </a:xfrm>
          <a:prstGeom prst="rect">
            <a:avLst/>
          </a:prstGeom>
          <a:noFill/>
        </p:spPr>
        <p:txBody>
          <a:bodyPr wrap="square" lIns="0" rIns="0" tIns="0" bIns="0" anchor="ctr">
            <a:spAutoFit/>
          </a:bodyPr>
          <a:lstStyle/>
          <a:p>
            <a:pPr algn="l"/>
            <a:r>
              <a:rPr sz="900" b="0" i="0">
                <a:solidFill>
                  <a:srgbClr val="4A6478"/>
                </a:solidFill>
                <a:latin typeface="Segoe UI"/>
              </a:rPr>
              <a:t>XGBoost, famiglia mai vista</a:t>
            </a:r>
          </a:p>
        </p:txBody>
      </p:sp>
      <p:sp>
        <p:nvSpPr>
          <p:cNvPr id="65" name="Rectangle 160"/>
          <p:cNvSpPr/>
          <p:nvPr/>
        </p:nvSpPr>
        <p:spPr>
          <a:xfrm>
            <a:off x="3657600" y="6144768"/>
            <a:ext cx="109728" cy="109728"/>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161"/>
          <p:cNvSpPr txBox="1"/>
          <p:nvPr/>
        </p:nvSpPr>
        <p:spPr>
          <a:xfrm>
            <a:off x="3822192" y="6099048"/>
            <a:ext cx="1645920" cy="201168"/>
          </a:xfrm>
          <a:prstGeom prst="rect">
            <a:avLst/>
          </a:prstGeom>
          <a:noFill/>
        </p:spPr>
        <p:txBody>
          <a:bodyPr wrap="square" lIns="0" rIns="0" tIns="0" bIns="0" anchor="ctr">
            <a:spAutoFit/>
          </a:bodyPr>
          <a:lstStyle/>
          <a:p>
            <a:pPr algn="l"/>
            <a:r>
              <a:rPr sz="900" b="0" i="0">
                <a:solidFill>
                  <a:srgbClr val="4A6478"/>
                </a:solidFill>
                <a:latin typeface="Segoe UI"/>
              </a:rPr>
              <a:t>+ autoencoder</a:t>
            </a:r>
          </a:p>
        </p:txBody>
      </p:sp>
      <p:sp>
        <p:nvSpPr>
          <p:cNvPr id="67" name="TextBox 162"/>
          <p:cNvSpPr txBox="1"/>
          <p:nvPr/>
        </p:nvSpPr>
        <p:spPr>
          <a:xfrm>
            <a:off x="5486400" y="6099048"/>
            <a:ext cx="1097280" cy="201168"/>
          </a:xfrm>
          <a:prstGeom prst="rect">
            <a:avLst/>
          </a:prstGeom>
          <a:noFill/>
        </p:spPr>
        <p:txBody>
          <a:bodyPr wrap="square" lIns="0" rIns="0" tIns="0" bIns="0" anchor="ctr">
            <a:spAutoFit/>
          </a:bodyPr>
          <a:lstStyle/>
          <a:p>
            <a:pPr algn="l"/>
            <a:r>
              <a:rPr sz="850" b="0" i="1">
                <a:solidFill>
                  <a:srgbClr val="9A3B1B"/>
                </a:solidFill>
                <a:latin typeface="Segoe UI"/>
              </a:rPr>
              <a:t>* 1 e 7 casi</a:t>
            </a:r>
          </a:p>
        </p:txBody>
      </p:sp>
      <p:sp>
        <p:nvSpPr>
          <p:cNvPr id="68" name="TextBox 163"/>
          <p:cNvSpPr txBox="1"/>
          <p:nvPr/>
        </p:nvSpPr>
        <p:spPr>
          <a:xfrm>
            <a:off x="6812280" y="2157984"/>
            <a:ext cx="4206240" cy="237744"/>
          </a:xfrm>
          <a:prstGeom prst="rect">
            <a:avLst/>
          </a:prstGeom>
          <a:noFill/>
        </p:spPr>
        <p:txBody>
          <a:bodyPr wrap="square" lIns="0" rIns="0" tIns="0" bIns="0" anchor="t">
            <a:spAutoFit/>
          </a:bodyPr>
          <a:lstStyle/>
          <a:p>
            <a:pPr algn="l"/>
            <a:r>
              <a:rPr sz="1050" b="0" i="0" spc="100">
                <a:solidFill>
                  <a:srgbClr val="4A6478"/>
                </a:solidFill>
                <a:latin typeface="Segoe UI Semibold"/>
              </a:rPr>
              <a:t>ALLARMI PER FASCIA DI PUNTEGGIO · VALIDATION</a:t>
            </a:r>
          </a:p>
        </p:txBody>
      </p:sp>
      <p:sp>
        <p:nvSpPr>
          <p:cNvPr id="69" name="TextBox 164"/>
          <p:cNvSpPr txBox="1"/>
          <p:nvPr/>
        </p:nvSpPr>
        <p:spPr>
          <a:xfrm>
            <a:off x="6812280" y="2514600"/>
            <a:ext cx="960120" cy="548640"/>
          </a:xfrm>
          <a:prstGeom prst="rect">
            <a:avLst/>
          </a:prstGeom>
          <a:noFill/>
        </p:spPr>
        <p:txBody>
          <a:bodyPr wrap="square" lIns="0" rIns="0" tIns="0" bIns="0" anchor="ctr">
            <a:spAutoFit/>
          </a:bodyPr>
          <a:lstStyle/>
          <a:p>
            <a:pPr algn="r"/>
            <a:r>
              <a:rPr sz="950" b="0" i="0">
                <a:solidFill>
                  <a:srgbClr val="0B2438"/>
                </a:solidFill>
                <a:latin typeface="Segoe UI"/>
              </a:rPr>
              <a:t>99–99,5°</a:t>
            </a:r>
          </a:p>
        </p:txBody>
      </p:sp>
      <p:sp>
        <p:nvSpPr>
          <p:cNvPr id="70" name="Rectangle 165"/>
          <p:cNvSpPr/>
          <p:nvPr/>
        </p:nvSpPr>
        <p:spPr>
          <a:xfrm>
            <a:off x="7909560" y="2514600"/>
            <a:ext cx="114986"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166"/>
          <p:cNvSpPr/>
          <p:nvPr/>
        </p:nvSpPr>
        <p:spPr>
          <a:xfrm>
            <a:off x="8024546" y="2514600"/>
            <a:ext cx="2216734"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167"/>
          <p:cNvSpPr txBox="1"/>
          <p:nvPr/>
        </p:nvSpPr>
        <p:spPr>
          <a:xfrm>
            <a:off x="10296144" y="2514600"/>
            <a:ext cx="731520" cy="210312"/>
          </a:xfrm>
          <a:prstGeom prst="rect">
            <a:avLst/>
          </a:prstGeom>
          <a:noFill/>
        </p:spPr>
        <p:txBody>
          <a:bodyPr wrap="square" lIns="0" rIns="0" tIns="0" bIns="0" anchor="ctr">
            <a:spAutoFit/>
          </a:bodyPr>
          <a:lstStyle/>
          <a:p>
            <a:pPr algn="l"/>
            <a:r>
              <a:rPr sz="850" b="0" i="0">
                <a:solidFill>
                  <a:srgbClr val="4A6478"/>
                </a:solidFill>
                <a:latin typeface="Segoe UI"/>
              </a:rPr>
              <a:t>1.967</a:t>
            </a:r>
          </a:p>
        </p:txBody>
      </p:sp>
      <p:sp>
        <p:nvSpPr>
          <p:cNvPr id="73" name="TextBox 168"/>
          <p:cNvSpPr txBox="1"/>
          <p:nvPr/>
        </p:nvSpPr>
        <p:spPr>
          <a:xfrm>
            <a:off x="7955280" y="2514600"/>
            <a:ext cx="731520" cy="210312"/>
          </a:xfrm>
          <a:prstGeom prst="rect">
            <a:avLst/>
          </a:prstGeom>
          <a:noFill/>
        </p:spPr>
        <p:txBody>
          <a:bodyPr wrap="square" lIns="0" rIns="0" tIns="0" bIns="0" anchor="ctr">
            <a:spAutoFit/>
          </a:bodyPr>
          <a:lstStyle/>
          <a:p>
            <a:pPr algn="l"/>
            <a:r>
              <a:rPr sz="750" b="0" i="0">
                <a:solidFill>
                  <a:srgbClr val="FFFFFF"/>
                </a:solidFill>
                <a:latin typeface="Segoe UI"/>
              </a:rPr>
              <a:t>normale</a:t>
            </a:r>
          </a:p>
        </p:txBody>
      </p:sp>
      <p:sp>
        <p:nvSpPr>
          <p:cNvPr id="74" name="Rectangle 169"/>
          <p:cNvSpPr/>
          <p:nvPr/>
        </p:nvSpPr>
        <p:spPr>
          <a:xfrm>
            <a:off x="7909560" y="2779776"/>
            <a:ext cx="1136819"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170"/>
          <p:cNvSpPr/>
          <p:nvPr/>
        </p:nvSpPr>
        <p:spPr>
          <a:xfrm>
            <a:off x="9046379" y="2779776"/>
            <a:ext cx="1194901"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171"/>
          <p:cNvSpPr txBox="1"/>
          <p:nvPr/>
        </p:nvSpPr>
        <p:spPr>
          <a:xfrm>
            <a:off x="10296144" y="2779776"/>
            <a:ext cx="731520" cy="210312"/>
          </a:xfrm>
          <a:prstGeom prst="rect">
            <a:avLst/>
          </a:prstGeom>
          <a:noFill/>
        </p:spPr>
        <p:txBody>
          <a:bodyPr wrap="square" lIns="0" rIns="0" tIns="0" bIns="0" anchor="ctr">
            <a:spAutoFit/>
          </a:bodyPr>
          <a:lstStyle/>
          <a:p>
            <a:pPr algn="l"/>
            <a:r>
              <a:rPr sz="850" b="0" i="0">
                <a:solidFill>
                  <a:srgbClr val="4A6478"/>
                </a:solidFill>
                <a:latin typeface="Segoe UI"/>
              </a:rPr>
              <a:t>3.854</a:t>
            </a:r>
          </a:p>
        </p:txBody>
      </p:sp>
      <p:sp>
        <p:nvSpPr>
          <p:cNvPr id="77" name="TextBox 172"/>
          <p:cNvSpPr txBox="1"/>
          <p:nvPr/>
        </p:nvSpPr>
        <p:spPr>
          <a:xfrm>
            <a:off x="7955280" y="2779776"/>
            <a:ext cx="731520" cy="210312"/>
          </a:xfrm>
          <a:prstGeom prst="rect">
            <a:avLst/>
          </a:prstGeom>
          <a:noFill/>
        </p:spPr>
        <p:txBody>
          <a:bodyPr wrap="square" lIns="0" rIns="0" tIns="0" bIns="0" anchor="ctr">
            <a:spAutoFit/>
          </a:bodyPr>
          <a:lstStyle/>
          <a:p>
            <a:pPr algn="l"/>
            <a:r>
              <a:rPr sz="750" b="0" i="0">
                <a:solidFill>
                  <a:srgbClr val="FFFFFF"/>
                </a:solidFill>
                <a:latin typeface="Segoe UI"/>
              </a:rPr>
              <a:t>zero-day</a:t>
            </a:r>
          </a:p>
        </p:txBody>
      </p:sp>
      <p:sp>
        <p:nvSpPr>
          <p:cNvPr id="78" name="TextBox 173"/>
          <p:cNvSpPr txBox="1"/>
          <p:nvPr/>
        </p:nvSpPr>
        <p:spPr>
          <a:xfrm>
            <a:off x="6812280" y="3227832"/>
            <a:ext cx="960120" cy="548640"/>
          </a:xfrm>
          <a:prstGeom prst="rect">
            <a:avLst/>
          </a:prstGeom>
          <a:noFill/>
        </p:spPr>
        <p:txBody>
          <a:bodyPr wrap="square" lIns="0" rIns="0" tIns="0" bIns="0" anchor="ctr">
            <a:spAutoFit/>
          </a:bodyPr>
          <a:lstStyle/>
          <a:p>
            <a:pPr algn="r"/>
            <a:r>
              <a:rPr sz="950" b="0" i="0">
                <a:solidFill>
                  <a:srgbClr val="0B2438"/>
                </a:solidFill>
                <a:latin typeface="Segoe UI"/>
              </a:rPr>
              <a:t>99,5–99,9°</a:t>
            </a:r>
          </a:p>
        </p:txBody>
      </p:sp>
      <p:sp>
        <p:nvSpPr>
          <p:cNvPr id="79" name="Rectangle 174"/>
          <p:cNvSpPr/>
          <p:nvPr/>
        </p:nvSpPr>
        <p:spPr>
          <a:xfrm>
            <a:off x="7909560" y="3227832"/>
            <a:ext cx="105921"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175"/>
          <p:cNvSpPr/>
          <p:nvPr/>
        </p:nvSpPr>
        <p:spPr>
          <a:xfrm>
            <a:off x="8015481" y="3227832"/>
            <a:ext cx="2225799"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176"/>
          <p:cNvSpPr txBox="1"/>
          <p:nvPr/>
        </p:nvSpPr>
        <p:spPr>
          <a:xfrm>
            <a:off x="10296144" y="3227832"/>
            <a:ext cx="731520" cy="210312"/>
          </a:xfrm>
          <a:prstGeom prst="rect">
            <a:avLst/>
          </a:prstGeom>
          <a:noFill/>
        </p:spPr>
        <p:txBody>
          <a:bodyPr wrap="square" lIns="0" rIns="0" tIns="0" bIns="0" anchor="ctr">
            <a:spAutoFit/>
          </a:bodyPr>
          <a:lstStyle/>
          <a:p>
            <a:pPr algn="l"/>
            <a:r>
              <a:rPr sz="850" b="0" i="0">
                <a:solidFill>
                  <a:srgbClr val="4A6478"/>
                </a:solidFill>
                <a:latin typeface="Segoe UI"/>
              </a:rPr>
              <a:t>1.607</a:t>
            </a:r>
          </a:p>
        </p:txBody>
      </p:sp>
      <p:sp>
        <p:nvSpPr>
          <p:cNvPr id="82" name="TextBox 177"/>
          <p:cNvSpPr txBox="1"/>
          <p:nvPr/>
        </p:nvSpPr>
        <p:spPr>
          <a:xfrm>
            <a:off x="7955280" y="3227832"/>
            <a:ext cx="731520" cy="210312"/>
          </a:xfrm>
          <a:prstGeom prst="rect">
            <a:avLst/>
          </a:prstGeom>
          <a:noFill/>
        </p:spPr>
        <p:txBody>
          <a:bodyPr wrap="square" lIns="0" rIns="0" tIns="0" bIns="0" anchor="ctr">
            <a:spAutoFit/>
          </a:bodyPr>
          <a:lstStyle/>
          <a:p>
            <a:pPr algn="l"/>
            <a:r>
              <a:rPr sz="750" b="0" i="0">
                <a:solidFill>
                  <a:srgbClr val="FFFFFF"/>
                </a:solidFill>
                <a:latin typeface="Segoe UI"/>
              </a:rPr>
              <a:t>normale</a:t>
            </a:r>
          </a:p>
        </p:txBody>
      </p:sp>
      <p:sp>
        <p:nvSpPr>
          <p:cNvPr id="83" name="Rectangle 178"/>
          <p:cNvSpPr/>
          <p:nvPr/>
        </p:nvSpPr>
        <p:spPr>
          <a:xfrm>
            <a:off x="7909560" y="3493008"/>
            <a:ext cx="2123120"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179"/>
          <p:cNvSpPr/>
          <p:nvPr/>
        </p:nvSpPr>
        <p:spPr>
          <a:xfrm>
            <a:off x="10032680" y="3493008"/>
            <a:ext cx="208600"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180"/>
          <p:cNvSpPr txBox="1"/>
          <p:nvPr/>
        </p:nvSpPr>
        <p:spPr>
          <a:xfrm>
            <a:off x="10296144" y="3493008"/>
            <a:ext cx="731520" cy="210312"/>
          </a:xfrm>
          <a:prstGeom prst="rect">
            <a:avLst/>
          </a:prstGeom>
          <a:noFill/>
        </p:spPr>
        <p:txBody>
          <a:bodyPr wrap="square" lIns="0" rIns="0" tIns="0" bIns="0" anchor="ctr">
            <a:spAutoFit/>
          </a:bodyPr>
          <a:lstStyle/>
          <a:p>
            <a:pPr algn="l"/>
            <a:r>
              <a:rPr sz="850" b="0" i="0">
                <a:solidFill>
                  <a:srgbClr val="4A6478"/>
                </a:solidFill>
                <a:latin typeface="Segoe UI"/>
              </a:rPr>
              <a:t>17.650</a:t>
            </a:r>
          </a:p>
        </p:txBody>
      </p:sp>
      <p:sp>
        <p:nvSpPr>
          <p:cNvPr id="86" name="TextBox 181"/>
          <p:cNvSpPr txBox="1"/>
          <p:nvPr/>
        </p:nvSpPr>
        <p:spPr>
          <a:xfrm>
            <a:off x="7955280" y="3493008"/>
            <a:ext cx="731520" cy="210312"/>
          </a:xfrm>
          <a:prstGeom prst="rect">
            <a:avLst/>
          </a:prstGeom>
          <a:noFill/>
        </p:spPr>
        <p:txBody>
          <a:bodyPr wrap="square" lIns="0" rIns="0" tIns="0" bIns="0" anchor="ctr">
            <a:spAutoFit/>
          </a:bodyPr>
          <a:lstStyle/>
          <a:p>
            <a:pPr algn="l"/>
            <a:r>
              <a:rPr sz="750" b="0" i="0">
                <a:solidFill>
                  <a:srgbClr val="FFFFFF"/>
                </a:solidFill>
                <a:latin typeface="Segoe UI"/>
              </a:rPr>
              <a:t>zero-day</a:t>
            </a:r>
          </a:p>
        </p:txBody>
      </p:sp>
      <p:sp>
        <p:nvSpPr>
          <p:cNvPr id="87" name="TextBox 182"/>
          <p:cNvSpPr txBox="1"/>
          <p:nvPr/>
        </p:nvSpPr>
        <p:spPr>
          <a:xfrm>
            <a:off x="6812280" y="3941064"/>
            <a:ext cx="960120" cy="548640"/>
          </a:xfrm>
          <a:prstGeom prst="rect">
            <a:avLst/>
          </a:prstGeom>
          <a:noFill/>
        </p:spPr>
        <p:txBody>
          <a:bodyPr wrap="square" lIns="0" rIns="0" tIns="0" bIns="0" anchor="ctr">
            <a:spAutoFit/>
          </a:bodyPr>
          <a:lstStyle/>
          <a:p>
            <a:pPr algn="r"/>
            <a:r>
              <a:rPr sz="950" b="0" i="0">
                <a:solidFill>
                  <a:srgbClr val="0B2438"/>
                </a:solidFill>
                <a:latin typeface="Segoe UI"/>
              </a:rPr>
              <a:t>99,9–99,99°</a:t>
            </a:r>
          </a:p>
        </p:txBody>
      </p:sp>
      <p:sp>
        <p:nvSpPr>
          <p:cNvPr id="88" name="Rectangle 183"/>
          <p:cNvSpPr/>
          <p:nvPr/>
        </p:nvSpPr>
        <p:spPr>
          <a:xfrm>
            <a:off x="7909560" y="3941064"/>
            <a:ext cx="694217"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184"/>
          <p:cNvSpPr/>
          <p:nvPr/>
        </p:nvSpPr>
        <p:spPr>
          <a:xfrm>
            <a:off x="8603777" y="3941064"/>
            <a:ext cx="1637503"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185"/>
          <p:cNvSpPr txBox="1"/>
          <p:nvPr/>
        </p:nvSpPr>
        <p:spPr>
          <a:xfrm>
            <a:off x="10296144" y="3941064"/>
            <a:ext cx="731520" cy="210312"/>
          </a:xfrm>
          <a:prstGeom prst="rect">
            <a:avLst/>
          </a:prstGeom>
          <a:noFill/>
        </p:spPr>
        <p:txBody>
          <a:bodyPr wrap="square" lIns="0" rIns="0" tIns="0" bIns="0" anchor="ctr">
            <a:spAutoFit/>
          </a:bodyPr>
          <a:lstStyle/>
          <a:p>
            <a:pPr algn="l"/>
            <a:r>
              <a:rPr sz="850" b="0" i="0">
                <a:solidFill>
                  <a:srgbClr val="4A6478"/>
                </a:solidFill>
                <a:latin typeface="Segoe UI"/>
              </a:rPr>
              <a:t>440</a:t>
            </a:r>
          </a:p>
        </p:txBody>
      </p:sp>
      <p:sp>
        <p:nvSpPr>
          <p:cNvPr id="91" name="TextBox 186"/>
          <p:cNvSpPr txBox="1"/>
          <p:nvPr/>
        </p:nvSpPr>
        <p:spPr>
          <a:xfrm>
            <a:off x="7955280" y="3941064"/>
            <a:ext cx="731520" cy="210312"/>
          </a:xfrm>
          <a:prstGeom prst="rect">
            <a:avLst/>
          </a:prstGeom>
          <a:noFill/>
        </p:spPr>
        <p:txBody>
          <a:bodyPr wrap="square" lIns="0" rIns="0" tIns="0" bIns="0" anchor="ctr">
            <a:spAutoFit/>
          </a:bodyPr>
          <a:lstStyle/>
          <a:p>
            <a:pPr algn="l"/>
            <a:r>
              <a:rPr sz="750" b="0" i="0">
                <a:solidFill>
                  <a:srgbClr val="FFFFFF"/>
                </a:solidFill>
                <a:latin typeface="Segoe UI"/>
              </a:rPr>
              <a:t>normale</a:t>
            </a:r>
          </a:p>
        </p:txBody>
      </p:sp>
      <p:sp>
        <p:nvSpPr>
          <p:cNvPr id="92" name="Rectangle 187"/>
          <p:cNvSpPr/>
          <p:nvPr/>
        </p:nvSpPr>
        <p:spPr>
          <a:xfrm>
            <a:off x="7909560" y="4206240"/>
            <a:ext cx="2288194"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188"/>
          <p:cNvSpPr/>
          <p:nvPr/>
        </p:nvSpPr>
        <p:spPr>
          <a:xfrm>
            <a:off x="10197754" y="4206240"/>
            <a:ext cx="43526"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189"/>
          <p:cNvSpPr txBox="1"/>
          <p:nvPr/>
        </p:nvSpPr>
        <p:spPr>
          <a:xfrm>
            <a:off x="10296144" y="4206240"/>
            <a:ext cx="731520" cy="210312"/>
          </a:xfrm>
          <a:prstGeom prst="rect">
            <a:avLst/>
          </a:prstGeom>
          <a:noFill/>
        </p:spPr>
        <p:txBody>
          <a:bodyPr wrap="square" lIns="0" rIns="0" tIns="0" bIns="0" anchor="ctr">
            <a:spAutoFit/>
          </a:bodyPr>
          <a:lstStyle/>
          <a:p>
            <a:pPr algn="l"/>
            <a:r>
              <a:rPr sz="850" b="0" i="0">
                <a:solidFill>
                  <a:srgbClr val="4A6478"/>
                </a:solidFill>
                <a:latin typeface="Segoe UI"/>
              </a:rPr>
              <a:t>18.964</a:t>
            </a:r>
          </a:p>
        </p:txBody>
      </p:sp>
      <p:sp>
        <p:nvSpPr>
          <p:cNvPr id="95" name="TextBox 190"/>
          <p:cNvSpPr txBox="1"/>
          <p:nvPr/>
        </p:nvSpPr>
        <p:spPr>
          <a:xfrm>
            <a:off x="7955280" y="4206240"/>
            <a:ext cx="731520" cy="210312"/>
          </a:xfrm>
          <a:prstGeom prst="rect">
            <a:avLst/>
          </a:prstGeom>
          <a:noFill/>
        </p:spPr>
        <p:txBody>
          <a:bodyPr wrap="square" lIns="0" rIns="0" tIns="0" bIns="0" anchor="ctr">
            <a:spAutoFit/>
          </a:bodyPr>
          <a:lstStyle/>
          <a:p>
            <a:pPr algn="l"/>
            <a:r>
              <a:rPr sz="750" b="0" i="0">
                <a:solidFill>
                  <a:srgbClr val="FFFFFF"/>
                </a:solidFill>
                <a:latin typeface="Segoe UI"/>
              </a:rPr>
              <a:t>zero-day</a:t>
            </a:r>
          </a:p>
        </p:txBody>
      </p:sp>
      <p:sp>
        <p:nvSpPr>
          <p:cNvPr id="96" name="TextBox 191"/>
          <p:cNvSpPr txBox="1"/>
          <p:nvPr/>
        </p:nvSpPr>
        <p:spPr>
          <a:xfrm>
            <a:off x="6812280" y="4654296"/>
            <a:ext cx="960120" cy="548640"/>
          </a:xfrm>
          <a:prstGeom prst="rect">
            <a:avLst/>
          </a:prstGeom>
          <a:noFill/>
        </p:spPr>
        <p:txBody>
          <a:bodyPr wrap="square" lIns="0" rIns="0" tIns="0" bIns="0" anchor="ctr">
            <a:spAutoFit/>
          </a:bodyPr>
          <a:lstStyle/>
          <a:p>
            <a:pPr algn="r"/>
            <a:r>
              <a:rPr sz="950" b="0" i="0">
                <a:solidFill>
                  <a:srgbClr val="0B2438"/>
                </a:solidFill>
                <a:latin typeface="Segoe UI"/>
              </a:rPr>
              <a:t>&gt;99,99°</a:t>
            </a:r>
          </a:p>
        </p:txBody>
      </p:sp>
      <p:sp>
        <p:nvSpPr>
          <p:cNvPr id="97" name="Rectangle 192"/>
          <p:cNvSpPr/>
          <p:nvPr/>
        </p:nvSpPr>
        <p:spPr>
          <a:xfrm>
            <a:off x="7909560" y="4654296"/>
            <a:ext cx="170614"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193"/>
          <p:cNvSpPr/>
          <p:nvPr/>
        </p:nvSpPr>
        <p:spPr>
          <a:xfrm>
            <a:off x="8080174" y="4654296"/>
            <a:ext cx="2161106"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194"/>
          <p:cNvSpPr txBox="1"/>
          <p:nvPr/>
        </p:nvSpPr>
        <p:spPr>
          <a:xfrm>
            <a:off x="10296144" y="4654296"/>
            <a:ext cx="731520" cy="210312"/>
          </a:xfrm>
          <a:prstGeom prst="rect">
            <a:avLst/>
          </a:prstGeom>
          <a:noFill/>
        </p:spPr>
        <p:txBody>
          <a:bodyPr wrap="square" lIns="0" rIns="0" tIns="0" bIns="0" anchor="ctr">
            <a:spAutoFit/>
          </a:bodyPr>
          <a:lstStyle/>
          <a:p>
            <a:pPr algn="l"/>
            <a:r>
              <a:rPr sz="850" b="0" i="0">
                <a:solidFill>
                  <a:srgbClr val="4A6478"/>
                </a:solidFill>
                <a:latin typeface="Segoe UI"/>
              </a:rPr>
              <a:t>41</a:t>
            </a:r>
          </a:p>
        </p:txBody>
      </p:sp>
      <p:sp>
        <p:nvSpPr>
          <p:cNvPr id="100" name="TextBox 195"/>
          <p:cNvSpPr txBox="1"/>
          <p:nvPr/>
        </p:nvSpPr>
        <p:spPr>
          <a:xfrm>
            <a:off x="7955280" y="4654296"/>
            <a:ext cx="731520" cy="210312"/>
          </a:xfrm>
          <a:prstGeom prst="rect">
            <a:avLst/>
          </a:prstGeom>
          <a:noFill/>
        </p:spPr>
        <p:txBody>
          <a:bodyPr wrap="square" lIns="0" rIns="0" tIns="0" bIns="0" anchor="ctr">
            <a:spAutoFit/>
          </a:bodyPr>
          <a:lstStyle/>
          <a:p>
            <a:pPr algn="l"/>
            <a:r>
              <a:rPr sz="750" b="0" i="0">
                <a:solidFill>
                  <a:srgbClr val="FFFFFF"/>
                </a:solidFill>
                <a:latin typeface="Segoe UI"/>
              </a:rPr>
              <a:t>normale</a:t>
            </a:r>
          </a:p>
        </p:txBody>
      </p:sp>
      <p:sp>
        <p:nvSpPr>
          <p:cNvPr id="101" name="Rectangle 196"/>
          <p:cNvSpPr/>
          <p:nvPr/>
        </p:nvSpPr>
        <p:spPr>
          <a:xfrm>
            <a:off x="7909560" y="4919472"/>
            <a:ext cx="910828" cy="210312"/>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97"/>
          <p:cNvSpPr/>
          <p:nvPr/>
        </p:nvSpPr>
        <p:spPr>
          <a:xfrm>
            <a:off x="8820388" y="4919472"/>
            <a:ext cx="1420892" cy="210312"/>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98"/>
          <p:cNvSpPr txBox="1"/>
          <p:nvPr/>
        </p:nvSpPr>
        <p:spPr>
          <a:xfrm>
            <a:off x="10296144" y="4919472"/>
            <a:ext cx="731520" cy="210312"/>
          </a:xfrm>
          <a:prstGeom prst="rect">
            <a:avLst/>
          </a:prstGeom>
          <a:noFill/>
        </p:spPr>
        <p:txBody>
          <a:bodyPr wrap="square" lIns="0" rIns="0" tIns="0" bIns="0" anchor="ctr">
            <a:spAutoFit/>
          </a:bodyPr>
          <a:lstStyle/>
          <a:p>
            <a:pPr algn="l"/>
            <a:r>
              <a:rPr sz="850" b="0" i="0">
                <a:solidFill>
                  <a:srgbClr val="4A6478"/>
                </a:solidFill>
                <a:latin typeface="Segoe UI"/>
              </a:rPr>
              <a:t>64</a:t>
            </a:r>
          </a:p>
        </p:txBody>
      </p:sp>
      <p:sp>
        <p:nvSpPr>
          <p:cNvPr id="104" name="TextBox 199"/>
          <p:cNvSpPr txBox="1"/>
          <p:nvPr/>
        </p:nvSpPr>
        <p:spPr>
          <a:xfrm>
            <a:off x="7955280" y="4919472"/>
            <a:ext cx="731520" cy="210312"/>
          </a:xfrm>
          <a:prstGeom prst="rect">
            <a:avLst/>
          </a:prstGeom>
          <a:noFill/>
        </p:spPr>
        <p:txBody>
          <a:bodyPr wrap="square" lIns="0" rIns="0" tIns="0" bIns="0" anchor="ctr">
            <a:spAutoFit/>
          </a:bodyPr>
          <a:lstStyle/>
          <a:p>
            <a:pPr algn="l"/>
            <a:r>
              <a:rPr sz="750" b="0" i="0">
                <a:solidFill>
                  <a:srgbClr val="FFFFFF"/>
                </a:solidFill>
                <a:latin typeface="Segoe UI"/>
              </a:rPr>
              <a:t>zero-day</a:t>
            </a:r>
          </a:p>
        </p:txBody>
      </p:sp>
      <p:sp>
        <p:nvSpPr>
          <p:cNvPr id="105" name="Rectangle 200"/>
          <p:cNvSpPr/>
          <p:nvPr/>
        </p:nvSpPr>
        <p:spPr>
          <a:xfrm>
            <a:off x="7955280" y="5413248"/>
            <a:ext cx="109728" cy="109728"/>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201"/>
          <p:cNvSpPr txBox="1"/>
          <p:nvPr/>
        </p:nvSpPr>
        <p:spPr>
          <a:xfrm>
            <a:off x="8119872" y="5367528"/>
            <a:ext cx="1280160" cy="201168"/>
          </a:xfrm>
          <a:prstGeom prst="rect">
            <a:avLst/>
          </a:prstGeom>
          <a:noFill/>
        </p:spPr>
        <p:txBody>
          <a:bodyPr wrap="square" lIns="0" rIns="0" tIns="0" bIns="0" anchor="ctr">
            <a:spAutoFit/>
          </a:bodyPr>
          <a:lstStyle/>
          <a:p>
            <a:pPr algn="l"/>
            <a:r>
              <a:rPr sz="900" b="0" i="0">
                <a:solidFill>
                  <a:srgbClr val="4A6478"/>
                </a:solidFill>
                <a:latin typeface="Segoe UI"/>
              </a:rPr>
              <a:t>attacchi veri</a:t>
            </a:r>
          </a:p>
        </p:txBody>
      </p:sp>
      <p:sp>
        <p:nvSpPr>
          <p:cNvPr id="107" name="Rectangle 202"/>
          <p:cNvSpPr/>
          <p:nvPr/>
        </p:nvSpPr>
        <p:spPr>
          <a:xfrm>
            <a:off x="9418320" y="5413248"/>
            <a:ext cx="109728" cy="109728"/>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203"/>
          <p:cNvSpPr txBox="1"/>
          <p:nvPr/>
        </p:nvSpPr>
        <p:spPr>
          <a:xfrm>
            <a:off x="9582912" y="5367528"/>
            <a:ext cx="1371600" cy="201168"/>
          </a:xfrm>
          <a:prstGeom prst="rect">
            <a:avLst/>
          </a:prstGeom>
          <a:noFill/>
        </p:spPr>
        <p:txBody>
          <a:bodyPr wrap="square" lIns="0" rIns="0" tIns="0" bIns="0" anchor="ctr">
            <a:spAutoFit/>
          </a:bodyPr>
          <a:lstStyle/>
          <a:p>
            <a:pPr algn="l"/>
            <a:r>
              <a:rPr sz="900" b="0" i="0">
                <a:solidFill>
                  <a:srgbClr val="4A6478"/>
                </a:solidFill>
                <a:latin typeface="Segoe UI"/>
              </a:rPr>
              <a:t>falsi allarmi</a:t>
            </a:r>
          </a:p>
        </p:txBody>
      </p:sp>
      <p:sp>
        <p:nvSpPr>
          <p:cNvPr id="109" name="TextBox 204"/>
          <p:cNvSpPr txBox="1"/>
          <p:nvPr/>
        </p:nvSpPr>
        <p:spPr>
          <a:xfrm>
            <a:off x="6812280" y="5596128"/>
            <a:ext cx="4114800" cy="228600"/>
          </a:xfrm>
          <a:prstGeom prst="rect">
            <a:avLst/>
          </a:prstGeom>
          <a:noFill/>
        </p:spPr>
        <p:txBody>
          <a:bodyPr wrap="square" lIns="0" rIns="0" tIns="0" bIns="0" anchor="t">
            <a:spAutoFit/>
          </a:bodyPr>
          <a:lstStyle/>
          <a:p>
            <a:pPr algn="l"/>
            <a:r>
              <a:rPr sz="850" b="0" i="1">
                <a:solidFill>
                  <a:srgbClr val="4A6478"/>
                </a:solidFill>
                <a:latin typeface="Segoe UI"/>
              </a:rPr>
              <a:t>prima riga: giorno normale · seconda: zero-day senza DoS · a destra gli allarmi totali</a:t>
            </a:r>
          </a:p>
        </p:txBody>
      </p:sp>
      <p:sp>
        <p:nvSpPr>
          <p:cNvPr id="110" name="Rounded Rectangle 205"/>
          <p:cNvSpPr/>
          <p:nvPr/>
        </p:nvSpPr>
        <p:spPr>
          <a:xfrm>
            <a:off x="6812280" y="5897880"/>
            <a:ext cx="4142232" cy="411480"/>
          </a:xfrm>
          <a:prstGeom prst="roundRect">
            <a:avLst>
              <a:gd name="adj" fmla="val 30000"/>
            </a:avLst>
          </a:prstGeom>
          <a:solidFill>
            <a:srgbClr val="D6E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206"/>
          <p:cNvSpPr txBox="1"/>
          <p:nvPr/>
        </p:nvSpPr>
        <p:spPr>
          <a:xfrm>
            <a:off x="6858000" y="5897880"/>
            <a:ext cx="4050792" cy="411480"/>
          </a:xfrm>
          <a:prstGeom prst="rect">
            <a:avLst/>
          </a:prstGeom>
          <a:noFill/>
        </p:spPr>
        <p:txBody>
          <a:bodyPr wrap="square" lIns="0" rIns="0" tIns="0" bIns="0" anchor="ctr">
            <a:spAutoFit/>
          </a:bodyPr>
          <a:lstStyle/>
          <a:p>
            <a:pPr algn="ctr"/>
            <a:r>
              <a:rPr sz="1050" b="1" i="0">
                <a:solidFill>
                  <a:srgbClr val="0B2438"/>
                </a:solidFill>
                <a:latin typeface="Segoe UI"/>
              </a:rPr>
              <a:t>DoS: </a:t>
            </a:r>
            <a:r>
              <a:rPr sz="1050" b="0" i="0">
                <a:solidFill>
                  <a:srgbClr val="0B2438"/>
                </a:solidFill>
                <a:latin typeface="Segoe UI"/>
              </a:rPr>
              <a:t>74,7% a p99 · 47,4% a p99,9 (393 falsi allarmi)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2" name=""/>
        <p:cNvGrpSpPr/>
        <p:nvPr/>
      </p:nvGrpSpPr>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Picture 102" descr="image.png"/>
          <p:cNvPicPr>
            <a:picLocks noChangeAspect="1"/>
          </p:cNvPicPr>
          <p:nvPr/>
        </p:nvPicPr>
        <p:blipFill>
          <a:blip r:embed="rId3"/>
          <a:stretch>
            <a:fillRect/>
          </a:stretch>
        </p:blipFill>
        <p:spPr>
          <a:xfrm>
            <a:off x="11023092" y="274320"/>
            <a:ext cx="566014" cy="640080"/>
          </a:xfrm>
          <a:prstGeom prst="rect">
            <a:avLst/>
          </a:prstGeom>
        </p:spPr>
      </p:pic>
      <p:sp>
        <p:nvSpPr>
          <p:cNvPr id="6" name="Text 2"/>
          <p:cNvSpPr/>
          <p:nvPr/>
        </p:nvSpPr>
        <p:spPr>
          <a:xfrm>
            <a:off x="5270862" y="384048"/>
            <a:ext cx="165027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07 · VERIFICA</a:t>
            </a:r>
            <a:endParaRPr lang="en-US" sz="1050" dirty="0"/>
          </a:p>
        </p:txBody>
      </p:sp>
      <p:sp>
        <p:nvSpPr>
          <p:cNvPr id="7" name="TextBox 103"/>
          <p:cNvSpPr txBox="1"/>
          <p:nvPr/>
        </p:nvSpPr>
        <p:spPr>
          <a:xfrm>
            <a:off x="822960" y="868680"/>
            <a:ext cx="10543032" cy="822960"/>
          </a:xfrm>
          <a:prstGeom prst="rect">
            <a:avLst/>
          </a:prstGeom>
          <a:noFill/>
        </p:spPr>
        <p:txBody>
          <a:bodyPr wrap="square" lIns="0" rIns="0" tIns="0" bIns="0" anchor="ctr">
            <a:spAutoFit/>
          </a:bodyPr>
          <a:lstStyle/>
          <a:p>
            <a:pPr algn="ctr"/>
            <a:r>
              <a:rPr sz="3400" b="0" i="0">
                <a:solidFill>
                  <a:srgbClr val="FFFFFF"/>
                </a:solidFill>
                <a:latin typeface="Georgia"/>
              </a:rPr>
              <a:t>Test finale e </a:t>
            </a:r>
            <a:r>
              <a:rPr sz="3400" b="0" i="1">
                <a:solidFill>
                  <a:srgbClr val="BCD1DE"/>
                </a:solidFill>
                <a:latin typeface="Georgia"/>
              </a:rPr>
              <a:t>limiti</a:t>
            </a:r>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Box 105"/>
          <p:cNvSpPr txBox="1"/>
          <p:nvPr/>
        </p:nvSpPr>
        <p:spPr>
          <a:xfrm>
            <a:off x="9966960" y="6473952"/>
            <a:ext cx="1097280" cy="228600"/>
          </a:xfrm>
          <a:prstGeom prst="rect">
            <a:avLst/>
          </a:prstGeom>
          <a:noFill/>
        </p:spPr>
        <p:txBody>
          <a:bodyPr wrap="square" lIns="0" rIns="0" tIns="0" bIns="0" anchor="t">
            <a:spAutoFit/>
          </a:bodyPr>
          <a:lstStyle/>
          <a:p>
            <a:pPr algn="r"/>
            <a:r>
              <a:rPr sz="1000" b="0" i="0">
                <a:solidFill>
                  <a:srgbClr val="84A0B4"/>
                </a:solidFill>
                <a:latin typeface="Segoe UI"/>
              </a:rPr>
              <a:t>08 / 08</a:t>
            </a:r>
          </a:p>
        </p:txBody>
      </p:sp>
      <p:sp>
        <p:nvSpPr>
          <p:cNvPr id="11" name="TextBox 106"/>
          <p:cNvSpPr txBox="1"/>
          <p:nvPr/>
        </p:nvSpPr>
        <p:spPr>
          <a:xfrm>
            <a:off x="1234440" y="2157984"/>
            <a:ext cx="4754880" cy="237744"/>
          </a:xfrm>
          <a:prstGeom prst="rect">
            <a:avLst/>
          </a:prstGeom>
          <a:noFill/>
        </p:spPr>
        <p:txBody>
          <a:bodyPr wrap="square" lIns="0" rIns="0" tIns="0" bIns="0" anchor="t">
            <a:spAutoFit/>
          </a:bodyPr>
          <a:lstStyle/>
          <a:p>
            <a:pPr algn="l"/>
            <a:r>
              <a:rPr sz="1050" b="0" i="0" spc="100">
                <a:solidFill>
                  <a:srgbClr val="4A6478"/>
                </a:solidFill>
                <a:latin typeface="Segoe UI Semibold"/>
              </a:rPr>
              <a:t>TEST SET · SOGLIE FISSATE SULLA VALIDATION</a:t>
            </a:r>
          </a:p>
        </p:txBody>
      </p:sp>
      <p:sp>
        <p:nvSpPr>
          <p:cNvPr id="12" name="Rounded Rectangle 107"/>
          <p:cNvSpPr/>
          <p:nvPr/>
        </p:nvSpPr>
        <p:spPr>
          <a:xfrm>
            <a:off x="1234440" y="2468880"/>
            <a:ext cx="2286000" cy="1051560"/>
          </a:xfrm>
          <a:prstGeom prst="roundRect">
            <a:avLst>
              <a:gd name="adj" fmla="val 1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08"/>
          <p:cNvSpPr txBox="1"/>
          <p:nvPr/>
        </p:nvSpPr>
        <p:spPr>
          <a:xfrm>
            <a:off x="1234440" y="2523744"/>
            <a:ext cx="2286000" cy="201168"/>
          </a:xfrm>
          <a:prstGeom prst="rect">
            <a:avLst/>
          </a:prstGeom>
          <a:noFill/>
        </p:spPr>
        <p:txBody>
          <a:bodyPr wrap="square" lIns="0" rIns="0" tIns="0" bIns="0" anchor="t">
            <a:spAutoFit/>
          </a:bodyPr>
          <a:lstStyle/>
          <a:p>
            <a:pPr algn="ctr"/>
            <a:r>
              <a:rPr sz="900" b="0" i="0">
                <a:solidFill>
                  <a:srgbClr val="4A6478"/>
                </a:solidFill>
                <a:latin typeface="Segoe UI"/>
              </a:rPr>
              <a:t>già visti (in-dominio)</a:t>
            </a:r>
          </a:p>
        </p:txBody>
      </p:sp>
      <p:sp>
        <p:nvSpPr>
          <p:cNvPr id="14" name="TextBox 109"/>
          <p:cNvSpPr txBox="1"/>
          <p:nvPr/>
        </p:nvSpPr>
        <p:spPr>
          <a:xfrm>
            <a:off x="1234440" y="2788920"/>
            <a:ext cx="2286000" cy="640080"/>
          </a:xfrm>
          <a:prstGeom prst="rect">
            <a:avLst/>
          </a:prstGeom>
          <a:noFill/>
        </p:spPr>
        <p:txBody>
          <a:bodyPr wrap="square" lIns="0" rIns="0" tIns="0" bIns="0" anchor="ctr">
            <a:spAutoFit/>
          </a:bodyPr>
          <a:lstStyle/>
          <a:p>
            <a:pPr algn="ctr"/>
            <a:r>
              <a:rPr sz="2400" b="0" i="0">
                <a:solidFill>
                  <a:srgbClr val="C98A3E"/>
                </a:solidFill>
                <a:latin typeface="Georgia"/>
              </a:rPr>
              <a:t>97,9%</a:t>
            </a:r>
            <a:r>
              <a:rPr sz="1500" b="0" i="0">
                <a:solidFill>
                  <a:srgbClr val="4A6478"/>
                </a:solidFill>
                <a:latin typeface="Georgia"/>
              </a:rPr>
              <a:t> → </a:t>
            </a:r>
            <a:r>
              <a:rPr sz="2400" b="0" i="0">
                <a:solidFill>
                  <a:srgbClr val="0C649C"/>
                </a:solidFill>
                <a:latin typeface="Georgia"/>
              </a:rPr>
              <a:t>98,4%</a:t>
            </a:r>
          </a:p>
        </p:txBody>
      </p:sp>
      <p:sp>
        <p:nvSpPr>
          <p:cNvPr id="15" name="Rounded Rectangle 110"/>
          <p:cNvSpPr/>
          <p:nvPr/>
        </p:nvSpPr>
        <p:spPr>
          <a:xfrm>
            <a:off x="3657600" y="2468880"/>
            <a:ext cx="2286000" cy="1051560"/>
          </a:xfrm>
          <a:prstGeom prst="roundRect">
            <a:avLst>
              <a:gd name="adj" fmla="val 10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11"/>
          <p:cNvSpPr txBox="1"/>
          <p:nvPr/>
        </p:nvSpPr>
        <p:spPr>
          <a:xfrm>
            <a:off x="3657600" y="2523744"/>
            <a:ext cx="2286000" cy="201168"/>
          </a:xfrm>
          <a:prstGeom prst="rect">
            <a:avLst/>
          </a:prstGeom>
          <a:noFill/>
        </p:spPr>
        <p:txBody>
          <a:bodyPr wrap="square" lIns="0" rIns="0" tIns="0" bIns="0" anchor="t">
            <a:spAutoFit/>
          </a:bodyPr>
          <a:lstStyle/>
          <a:p>
            <a:pPr algn="ctr"/>
            <a:r>
              <a:rPr sz="900" b="0" i="0">
                <a:solidFill>
                  <a:srgbClr val="4A6478"/>
                </a:solidFill>
                <a:latin typeface="Segoe UI"/>
              </a:rPr>
              <a:t>zero-day · famiglia DoS</a:t>
            </a:r>
          </a:p>
        </p:txBody>
      </p:sp>
      <p:sp>
        <p:nvSpPr>
          <p:cNvPr id="17" name="TextBox 112"/>
          <p:cNvSpPr txBox="1"/>
          <p:nvPr/>
        </p:nvSpPr>
        <p:spPr>
          <a:xfrm>
            <a:off x="3657600" y="2788920"/>
            <a:ext cx="2286000" cy="640080"/>
          </a:xfrm>
          <a:prstGeom prst="rect">
            <a:avLst/>
          </a:prstGeom>
          <a:noFill/>
        </p:spPr>
        <p:txBody>
          <a:bodyPr wrap="square" lIns="0" rIns="0" tIns="0" bIns="0" anchor="ctr">
            <a:spAutoFit/>
          </a:bodyPr>
          <a:lstStyle/>
          <a:p>
            <a:pPr algn="ctr"/>
            <a:r>
              <a:rPr sz="2400" b="0" i="0">
                <a:solidFill>
                  <a:srgbClr val="C98A3E"/>
                </a:solidFill>
                <a:latin typeface="Georgia"/>
              </a:rPr>
              <a:t>18,1%</a:t>
            </a:r>
            <a:r>
              <a:rPr sz="1500" b="0" i="0">
                <a:solidFill>
                  <a:srgbClr val="4A6478"/>
                </a:solidFill>
                <a:latin typeface="Georgia"/>
              </a:rPr>
              <a:t> → </a:t>
            </a:r>
            <a:r>
              <a:rPr sz="2400" b="0" i="0">
                <a:solidFill>
                  <a:srgbClr val="0C649C"/>
                </a:solidFill>
                <a:latin typeface="Georgia"/>
              </a:rPr>
              <a:t>74,7%</a:t>
            </a:r>
          </a:p>
        </p:txBody>
      </p:sp>
      <p:sp>
        <p:nvSpPr>
          <p:cNvPr id="18" name="TextBox 113"/>
          <p:cNvSpPr txBox="1"/>
          <p:nvPr/>
        </p:nvSpPr>
        <p:spPr>
          <a:xfrm>
            <a:off x="1234440" y="3703320"/>
            <a:ext cx="4754880" cy="237744"/>
          </a:xfrm>
          <a:prstGeom prst="rect">
            <a:avLst/>
          </a:prstGeom>
          <a:noFill/>
        </p:spPr>
        <p:txBody>
          <a:bodyPr wrap="square" lIns="0" rIns="0" tIns="0" bIns="0" anchor="t">
            <a:spAutoFit/>
          </a:bodyPr>
          <a:lstStyle/>
          <a:p>
            <a:pPr algn="l"/>
            <a:r>
              <a:rPr sz="1050" b="0" i="0" spc="100">
                <a:solidFill>
                  <a:srgbClr val="4A6478"/>
                </a:solidFill>
                <a:latin typeface="Segoe UI Semibold"/>
              </a:rPr>
              <a:t>CINQUE SEED DEGLI AUTOENCODER · RECALL DOS</a:t>
            </a:r>
          </a:p>
        </p:txBody>
      </p:sp>
      <p:sp>
        <p:nvSpPr>
          <p:cNvPr id="19" name="TextBox 114"/>
          <p:cNvSpPr txBox="1"/>
          <p:nvPr/>
        </p:nvSpPr>
        <p:spPr>
          <a:xfrm>
            <a:off x="1234440" y="4050792"/>
            <a:ext cx="594360" cy="274320"/>
          </a:xfrm>
          <a:prstGeom prst="rect">
            <a:avLst/>
          </a:prstGeom>
          <a:noFill/>
        </p:spPr>
        <p:txBody>
          <a:bodyPr wrap="square" lIns="0" rIns="0" tIns="0" bIns="0" anchor="ctr">
            <a:spAutoFit/>
          </a:bodyPr>
          <a:lstStyle/>
          <a:p>
            <a:pPr algn="r"/>
            <a:r>
              <a:rPr sz="1050" b="0" i="0">
                <a:solidFill>
                  <a:srgbClr val="0B2438"/>
                </a:solidFill>
                <a:latin typeface="Segoe UI"/>
              </a:rPr>
              <a:t>p99</a:t>
            </a:r>
          </a:p>
        </p:txBody>
      </p:sp>
      <p:cxnSp>
        <p:nvCxnSpPr>
          <p:cNvPr id="20" name="Connector 115"/>
          <p:cNvCxnSpPr/>
          <p:nvPr/>
        </p:nvCxnSpPr>
        <p:spPr>
          <a:xfrm>
            <a:off x="1965960" y="4187952"/>
            <a:ext cx="2743200" cy="0"/>
          </a:xfrm>
          <a:prstGeom prst="line">
            <a:avLst/>
          </a:prstGeom>
          <a:ln w="25400">
            <a:solidFill>
              <a:srgbClr val="BCD1DE"/>
            </a:solidFill>
          </a:ln>
        </p:spPr>
        <p:style>
          <a:lnRef idx="2">
            <a:schemeClr val="accent1"/>
          </a:lnRef>
          <a:fillRef idx="0">
            <a:schemeClr val="accent1"/>
          </a:fillRef>
          <a:effectRef idx="1">
            <a:schemeClr val="accent1"/>
          </a:effectRef>
          <a:fontRef idx="minor">
            <a:schemeClr val="tx1"/>
          </a:fontRef>
        </p:style>
      </p:cxnSp>
      <p:sp>
        <p:nvSpPr>
          <p:cNvPr id="21" name="Rectangle 116"/>
          <p:cNvSpPr/>
          <p:nvPr/>
        </p:nvSpPr>
        <p:spPr>
          <a:xfrm>
            <a:off x="3364078" y="4069080"/>
            <a:ext cx="22860" cy="237744"/>
          </a:xfrm>
          <a:prstGeom prst="rect">
            <a:avLst/>
          </a:prstGeom>
          <a:solidFill>
            <a:srgbClr val="0B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117"/>
          <p:cNvSpPr/>
          <p:nvPr/>
        </p:nvSpPr>
        <p:spPr>
          <a:xfrm>
            <a:off x="3498723" y="4133088"/>
            <a:ext cx="109728" cy="109728"/>
          </a:xfrm>
          <a:prstGeom prst="ellipse">
            <a:avLst/>
          </a:prstGeom>
          <a:solidFill>
            <a:srgbClr val="0C649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118"/>
          <p:cNvSpPr/>
          <p:nvPr/>
        </p:nvSpPr>
        <p:spPr>
          <a:xfrm>
            <a:off x="3073527" y="4133088"/>
            <a:ext cx="109728" cy="109728"/>
          </a:xfrm>
          <a:prstGeom prst="ellipse">
            <a:avLst/>
          </a:prstGeom>
          <a:solidFill>
            <a:srgbClr val="0C649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119"/>
          <p:cNvSpPr/>
          <p:nvPr/>
        </p:nvSpPr>
        <p:spPr>
          <a:xfrm>
            <a:off x="3292983" y="4133088"/>
            <a:ext cx="109728" cy="109728"/>
          </a:xfrm>
          <a:prstGeom prst="ellipse">
            <a:avLst/>
          </a:prstGeom>
          <a:solidFill>
            <a:srgbClr val="0C649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120"/>
          <p:cNvSpPr/>
          <p:nvPr/>
        </p:nvSpPr>
        <p:spPr>
          <a:xfrm>
            <a:off x="3447288" y="4133088"/>
            <a:ext cx="109728" cy="109728"/>
          </a:xfrm>
          <a:prstGeom prst="ellipse">
            <a:avLst/>
          </a:prstGeom>
          <a:solidFill>
            <a:srgbClr val="0C649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121"/>
          <p:cNvSpPr/>
          <p:nvPr/>
        </p:nvSpPr>
        <p:spPr>
          <a:xfrm>
            <a:off x="3279267" y="4133088"/>
            <a:ext cx="109728" cy="109728"/>
          </a:xfrm>
          <a:prstGeom prst="ellipse">
            <a:avLst/>
          </a:prstGeom>
          <a:solidFill>
            <a:srgbClr val="0C649C">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122"/>
          <p:cNvSpPr txBox="1"/>
          <p:nvPr/>
        </p:nvSpPr>
        <p:spPr>
          <a:xfrm>
            <a:off x="1783080" y="4343400"/>
            <a:ext cx="457200" cy="164592"/>
          </a:xfrm>
          <a:prstGeom prst="rect">
            <a:avLst/>
          </a:prstGeom>
          <a:noFill/>
        </p:spPr>
        <p:txBody>
          <a:bodyPr wrap="square" lIns="0" rIns="0" tIns="0" bIns="0" anchor="t">
            <a:spAutoFit/>
          </a:bodyPr>
          <a:lstStyle/>
          <a:p>
            <a:pPr algn="ctr"/>
            <a:r>
              <a:rPr sz="800" b="0" i="0">
                <a:solidFill>
                  <a:srgbClr val="84A0B4"/>
                </a:solidFill>
                <a:latin typeface="Segoe UI"/>
              </a:rPr>
              <a:t>70%</a:t>
            </a:r>
          </a:p>
        </p:txBody>
      </p:sp>
      <p:sp>
        <p:nvSpPr>
          <p:cNvPr id="28" name="TextBox 123"/>
          <p:cNvSpPr txBox="1"/>
          <p:nvPr/>
        </p:nvSpPr>
        <p:spPr>
          <a:xfrm>
            <a:off x="4434840" y="4343400"/>
            <a:ext cx="548640" cy="164592"/>
          </a:xfrm>
          <a:prstGeom prst="rect">
            <a:avLst/>
          </a:prstGeom>
          <a:noFill/>
        </p:spPr>
        <p:txBody>
          <a:bodyPr wrap="square" lIns="0" rIns="0" tIns="0" bIns="0" anchor="t">
            <a:spAutoFit/>
          </a:bodyPr>
          <a:lstStyle/>
          <a:p>
            <a:pPr algn="ctr"/>
            <a:r>
              <a:rPr sz="800" b="0" i="0">
                <a:solidFill>
                  <a:srgbClr val="84A0B4"/>
                </a:solidFill>
                <a:latin typeface="Segoe UI"/>
              </a:rPr>
              <a:t>78%</a:t>
            </a:r>
          </a:p>
        </p:txBody>
      </p:sp>
      <p:sp>
        <p:nvSpPr>
          <p:cNvPr id="29" name="TextBox 124"/>
          <p:cNvSpPr txBox="1"/>
          <p:nvPr/>
        </p:nvSpPr>
        <p:spPr>
          <a:xfrm>
            <a:off x="4846320" y="4050792"/>
            <a:ext cx="1188720" cy="274320"/>
          </a:xfrm>
          <a:prstGeom prst="rect">
            <a:avLst/>
          </a:prstGeom>
          <a:noFill/>
        </p:spPr>
        <p:txBody>
          <a:bodyPr wrap="square" lIns="0" rIns="0" tIns="0" bIns="0" anchor="ctr">
            <a:spAutoFit/>
          </a:bodyPr>
          <a:lstStyle/>
          <a:p>
            <a:pPr algn="l"/>
            <a:r>
              <a:rPr sz="1050" b="0" i="0">
                <a:solidFill>
                  <a:srgbClr val="0B2438"/>
                </a:solidFill>
                <a:latin typeface="Georgia"/>
              </a:rPr>
              <a:t>74,1% ± 0,5%</a:t>
            </a:r>
          </a:p>
        </p:txBody>
      </p:sp>
      <p:sp>
        <p:nvSpPr>
          <p:cNvPr id="30" name="TextBox 125"/>
          <p:cNvSpPr txBox="1"/>
          <p:nvPr/>
        </p:nvSpPr>
        <p:spPr>
          <a:xfrm>
            <a:off x="1234440" y="4782312"/>
            <a:ext cx="594360" cy="274320"/>
          </a:xfrm>
          <a:prstGeom prst="rect">
            <a:avLst/>
          </a:prstGeom>
          <a:noFill/>
        </p:spPr>
        <p:txBody>
          <a:bodyPr wrap="square" lIns="0" rIns="0" tIns="0" bIns="0" anchor="ctr">
            <a:spAutoFit/>
          </a:bodyPr>
          <a:lstStyle/>
          <a:p>
            <a:pPr algn="r"/>
            <a:r>
              <a:rPr sz="1050" b="0" i="0">
                <a:solidFill>
                  <a:srgbClr val="0B2438"/>
                </a:solidFill>
                <a:latin typeface="Segoe UI"/>
              </a:rPr>
              <a:t>p99,9</a:t>
            </a:r>
          </a:p>
        </p:txBody>
      </p:sp>
      <p:cxnSp>
        <p:nvCxnSpPr>
          <p:cNvPr id="31" name="Connector 126"/>
          <p:cNvCxnSpPr/>
          <p:nvPr/>
        </p:nvCxnSpPr>
        <p:spPr>
          <a:xfrm>
            <a:off x="1965960" y="4919472"/>
            <a:ext cx="2743200" cy="0"/>
          </a:xfrm>
          <a:prstGeom prst="line">
            <a:avLst/>
          </a:prstGeom>
          <a:ln w="25400">
            <a:solidFill>
              <a:srgbClr val="BCD1DE"/>
            </a:solidFill>
          </a:ln>
        </p:spPr>
        <p:style>
          <a:lnRef idx="2">
            <a:schemeClr val="accent1"/>
          </a:lnRef>
          <a:fillRef idx="0">
            <a:schemeClr val="accent1"/>
          </a:fillRef>
          <a:effectRef idx="1">
            <a:schemeClr val="accent1"/>
          </a:effectRef>
          <a:fontRef idx="minor">
            <a:schemeClr val="tx1"/>
          </a:fontRef>
        </p:style>
      </p:cxnSp>
      <p:sp>
        <p:nvSpPr>
          <p:cNvPr id="32" name="Rectangle 127"/>
          <p:cNvSpPr/>
          <p:nvPr/>
        </p:nvSpPr>
        <p:spPr>
          <a:xfrm>
            <a:off x="3342818" y="4800600"/>
            <a:ext cx="22860" cy="237744"/>
          </a:xfrm>
          <a:prstGeom prst="rect">
            <a:avLst/>
          </a:prstGeom>
          <a:solidFill>
            <a:srgbClr val="0B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128"/>
          <p:cNvSpPr/>
          <p:nvPr/>
        </p:nvSpPr>
        <p:spPr>
          <a:xfrm>
            <a:off x="3351276" y="4864608"/>
            <a:ext cx="109728" cy="109728"/>
          </a:xfrm>
          <a:prstGeom prst="ellipse">
            <a:avLst/>
          </a:prstGeom>
          <a:solidFill>
            <a:srgbClr val="C98A3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129"/>
          <p:cNvSpPr/>
          <p:nvPr/>
        </p:nvSpPr>
        <p:spPr>
          <a:xfrm>
            <a:off x="2905506" y="4864608"/>
            <a:ext cx="109728" cy="109728"/>
          </a:xfrm>
          <a:prstGeom prst="ellipse">
            <a:avLst/>
          </a:prstGeom>
          <a:solidFill>
            <a:srgbClr val="C98A3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130"/>
          <p:cNvSpPr/>
          <p:nvPr/>
        </p:nvSpPr>
        <p:spPr>
          <a:xfrm>
            <a:off x="2603754" y="4864608"/>
            <a:ext cx="109728" cy="109728"/>
          </a:xfrm>
          <a:prstGeom prst="ellipse">
            <a:avLst/>
          </a:prstGeom>
          <a:solidFill>
            <a:srgbClr val="C98A3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131"/>
          <p:cNvSpPr/>
          <p:nvPr/>
        </p:nvSpPr>
        <p:spPr>
          <a:xfrm>
            <a:off x="3923919" y="4864608"/>
            <a:ext cx="109728" cy="109728"/>
          </a:xfrm>
          <a:prstGeom prst="ellipse">
            <a:avLst/>
          </a:prstGeom>
          <a:solidFill>
            <a:srgbClr val="C98A3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132"/>
          <p:cNvSpPr/>
          <p:nvPr/>
        </p:nvSpPr>
        <p:spPr>
          <a:xfrm>
            <a:off x="3701034" y="4864608"/>
            <a:ext cx="109728" cy="109728"/>
          </a:xfrm>
          <a:prstGeom prst="ellipse">
            <a:avLst/>
          </a:prstGeom>
          <a:solidFill>
            <a:srgbClr val="C98A3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133"/>
          <p:cNvSpPr txBox="1"/>
          <p:nvPr/>
        </p:nvSpPr>
        <p:spPr>
          <a:xfrm>
            <a:off x="1783080" y="5074920"/>
            <a:ext cx="457200" cy="164592"/>
          </a:xfrm>
          <a:prstGeom prst="rect">
            <a:avLst/>
          </a:prstGeom>
          <a:noFill/>
        </p:spPr>
        <p:txBody>
          <a:bodyPr wrap="square" lIns="0" rIns="0" tIns="0" bIns="0" anchor="t">
            <a:spAutoFit/>
          </a:bodyPr>
          <a:lstStyle/>
          <a:p>
            <a:pPr algn="ctr"/>
            <a:r>
              <a:rPr sz="800" b="0" i="0">
                <a:solidFill>
                  <a:srgbClr val="84A0B4"/>
                </a:solidFill>
                <a:latin typeface="Segoe UI"/>
              </a:rPr>
              <a:t>40%</a:t>
            </a:r>
          </a:p>
        </p:txBody>
      </p:sp>
      <p:sp>
        <p:nvSpPr>
          <p:cNvPr id="39" name="TextBox 134"/>
          <p:cNvSpPr txBox="1"/>
          <p:nvPr/>
        </p:nvSpPr>
        <p:spPr>
          <a:xfrm>
            <a:off x="4434840" y="5074920"/>
            <a:ext cx="548640" cy="164592"/>
          </a:xfrm>
          <a:prstGeom prst="rect">
            <a:avLst/>
          </a:prstGeom>
          <a:noFill/>
        </p:spPr>
        <p:txBody>
          <a:bodyPr wrap="square" lIns="0" rIns="0" tIns="0" bIns="0" anchor="t">
            <a:spAutoFit/>
          </a:bodyPr>
          <a:lstStyle/>
          <a:p>
            <a:pPr algn="ctr"/>
            <a:r>
              <a:rPr sz="800" b="0" i="0">
                <a:solidFill>
                  <a:srgbClr val="84A0B4"/>
                </a:solidFill>
                <a:latin typeface="Segoe UI"/>
              </a:rPr>
              <a:t>48%</a:t>
            </a:r>
          </a:p>
        </p:txBody>
      </p:sp>
      <p:sp>
        <p:nvSpPr>
          <p:cNvPr id="40" name="TextBox 135"/>
          <p:cNvSpPr txBox="1"/>
          <p:nvPr/>
        </p:nvSpPr>
        <p:spPr>
          <a:xfrm>
            <a:off x="4846320" y="4782312"/>
            <a:ext cx="1188720" cy="274320"/>
          </a:xfrm>
          <a:prstGeom prst="rect">
            <a:avLst/>
          </a:prstGeom>
          <a:noFill/>
        </p:spPr>
        <p:txBody>
          <a:bodyPr wrap="square" lIns="0" rIns="0" tIns="0" bIns="0" anchor="ctr">
            <a:spAutoFit/>
          </a:bodyPr>
          <a:lstStyle/>
          <a:p>
            <a:pPr algn="l"/>
            <a:r>
              <a:rPr sz="1050" b="0" i="0">
                <a:solidFill>
                  <a:srgbClr val="0B2438"/>
                </a:solidFill>
                <a:latin typeface="Georgia"/>
              </a:rPr>
              <a:t>44,0% ± 1,6%</a:t>
            </a:r>
          </a:p>
        </p:txBody>
      </p:sp>
      <p:sp>
        <p:nvSpPr>
          <p:cNvPr id="41" name="TextBox 136"/>
          <p:cNvSpPr txBox="1"/>
          <p:nvPr/>
        </p:nvSpPr>
        <p:spPr>
          <a:xfrm>
            <a:off x="1234440" y="5440680"/>
            <a:ext cx="4754880" cy="201168"/>
          </a:xfrm>
          <a:prstGeom prst="rect">
            <a:avLst/>
          </a:prstGeom>
          <a:noFill/>
        </p:spPr>
        <p:txBody>
          <a:bodyPr wrap="square" lIns="0" rIns="0" tIns="0" bIns="0" anchor="t">
            <a:spAutoFit/>
          </a:bodyPr>
          <a:lstStyle/>
          <a:p>
            <a:pPr algn="l"/>
            <a:r>
              <a:rPr sz="950" b="0" i="1">
                <a:solidFill>
                  <a:srgbClr val="4A6478"/>
                </a:solidFill>
                <a:latin typeface="Segoe UI"/>
              </a:rPr>
              <a:t>Ogni seed: nuova inizializzazione dei pesi; soglie sempre dalla validation.</a:t>
            </a:r>
          </a:p>
        </p:txBody>
      </p:sp>
      <p:sp>
        <p:nvSpPr>
          <p:cNvPr id="42" name="TextBox 137"/>
          <p:cNvSpPr txBox="1"/>
          <p:nvPr/>
        </p:nvSpPr>
        <p:spPr>
          <a:xfrm>
            <a:off x="6400800" y="2157984"/>
            <a:ext cx="4572000" cy="237744"/>
          </a:xfrm>
          <a:prstGeom prst="rect">
            <a:avLst/>
          </a:prstGeom>
          <a:noFill/>
        </p:spPr>
        <p:txBody>
          <a:bodyPr wrap="square" lIns="0" rIns="0" tIns="0" bIns="0" anchor="t">
            <a:spAutoFit/>
          </a:bodyPr>
          <a:lstStyle/>
          <a:p>
            <a:pPr algn="l"/>
            <a:r>
              <a:rPr sz="1050" b="0" i="0" spc="100">
                <a:solidFill>
                  <a:srgbClr val="4A6478"/>
                </a:solidFill>
                <a:latin typeface="Segoe UI Semibold"/>
              </a:rPr>
              <a:t>LIMITI</a:t>
            </a:r>
          </a:p>
        </p:txBody>
      </p:sp>
      <p:sp>
        <p:nvSpPr>
          <p:cNvPr id="43" name="Rounded Rectangle 138"/>
          <p:cNvSpPr/>
          <p:nvPr/>
        </p:nvSpPr>
        <p:spPr>
          <a:xfrm>
            <a:off x="6400800" y="2468880"/>
            <a:ext cx="2194560" cy="1280160"/>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139"/>
          <p:cNvSpPr/>
          <p:nvPr/>
        </p:nvSpPr>
        <p:spPr>
          <a:xfrm>
            <a:off x="6537960" y="2624328"/>
            <a:ext cx="73152" cy="274320"/>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140"/>
          <p:cNvSpPr txBox="1"/>
          <p:nvPr/>
        </p:nvSpPr>
        <p:spPr>
          <a:xfrm>
            <a:off x="6693408" y="2578608"/>
            <a:ext cx="1828800" cy="365760"/>
          </a:xfrm>
          <a:prstGeom prst="rect">
            <a:avLst/>
          </a:prstGeom>
          <a:noFill/>
        </p:spPr>
        <p:txBody>
          <a:bodyPr wrap="square" lIns="0" rIns="0" tIns="0" bIns="0" anchor="ctr">
            <a:spAutoFit/>
          </a:bodyPr>
          <a:lstStyle/>
          <a:p>
            <a:pPr algn="l"/>
            <a:r>
              <a:rPr sz="1200" b="0" i="0">
                <a:solidFill>
                  <a:srgbClr val="0B2438"/>
                </a:solidFill>
                <a:latin typeface="Georgia"/>
              </a:rPr>
              <a:t>Split casuale</a:t>
            </a:r>
          </a:p>
        </p:txBody>
      </p:sp>
      <p:sp>
        <p:nvSpPr>
          <p:cNvPr id="46" name="TextBox 141"/>
          <p:cNvSpPr txBox="1"/>
          <p:nvPr/>
        </p:nvSpPr>
        <p:spPr>
          <a:xfrm>
            <a:off x="6537960" y="3017520"/>
            <a:ext cx="1938528" cy="731520"/>
          </a:xfrm>
          <a:prstGeom prst="rect">
            <a:avLst/>
          </a:prstGeom>
          <a:noFill/>
        </p:spPr>
        <p:txBody>
          <a:bodyPr wrap="square" lIns="0" rIns="0" tIns="0" bIns="0" anchor="t">
            <a:spAutoFit/>
          </a:bodyPr>
          <a:lstStyle/>
          <a:p>
            <a:pPr algn="l"/>
            <a:r>
              <a:rPr sz="1000" b="0" i="0">
                <a:solidFill>
                  <a:srgbClr val="4A6478"/>
                </a:solidFill>
                <a:latin typeface="Segoe UI"/>
              </a:rPr>
              <a:t>Flussi della stessa sessione d’attacco finiscono sia in train sia in test: i numeri in-dominio sono ottimistici.</a:t>
            </a:r>
          </a:p>
        </p:txBody>
      </p:sp>
      <p:sp>
        <p:nvSpPr>
          <p:cNvPr id="47" name="Rounded Rectangle 142"/>
          <p:cNvSpPr/>
          <p:nvPr/>
        </p:nvSpPr>
        <p:spPr>
          <a:xfrm>
            <a:off x="8732520" y="2468880"/>
            <a:ext cx="2194560" cy="1280160"/>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143"/>
          <p:cNvSpPr/>
          <p:nvPr/>
        </p:nvSpPr>
        <p:spPr>
          <a:xfrm>
            <a:off x="8869680" y="2624328"/>
            <a:ext cx="73152" cy="274320"/>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144"/>
          <p:cNvSpPr txBox="1"/>
          <p:nvPr/>
        </p:nvSpPr>
        <p:spPr>
          <a:xfrm>
            <a:off x="9025128" y="2578608"/>
            <a:ext cx="1828800" cy="365760"/>
          </a:xfrm>
          <a:prstGeom prst="rect">
            <a:avLst/>
          </a:prstGeom>
          <a:noFill/>
        </p:spPr>
        <p:txBody>
          <a:bodyPr wrap="square" lIns="0" rIns="0" tIns="0" bIns="0" anchor="ctr">
            <a:spAutoFit/>
          </a:bodyPr>
          <a:lstStyle/>
          <a:p>
            <a:pPr algn="l"/>
            <a:r>
              <a:rPr sz="1200" b="0" i="0">
                <a:solidFill>
                  <a:srgbClr val="0B2438"/>
                </a:solidFill>
                <a:latin typeface="Georgia"/>
              </a:rPr>
              <a:t>Zero-day solo DoS</a:t>
            </a:r>
          </a:p>
        </p:txBody>
      </p:sp>
      <p:sp>
        <p:nvSpPr>
          <p:cNvPr id="50" name="TextBox 145"/>
          <p:cNvSpPr txBox="1"/>
          <p:nvPr/>
        </p:nvSpPr>
        <p:spPr>
          <a:xfrm>
            <a:off x="8869680" y="3017520"/>
            <a:ext cx="1938528" cy="731520"/>
          </a:xfrm>
          <a:prstGeom prst="rect">
            <a:avLst/>
          </a:prstGeom>
          <a:noFill/>
        </p:spPr>
        <p:txBody>
          <a:bodyPr wrap="square" lIns="0" rIns="0" tIns="0" bIns="0" anchor="t">
            <a:spAutoFit/>
          </a:bodyPr>
          <a:lstStyle/>
          <a:p>
            <a:pPr algn="l"/>
            <a:r>
              <a:rPr sz="1000" b="0" i="0">
                <a:solidFill>
                  <a:srgbClr val="4A6478"/>
                </a:solidFill>
                <a:latin typeface="Segoe UI"/>
              </a:rPr>
              <a:t>Infiltration (7 casi) e Heartbleed (1) non sono stime. Affidabile solo la famiglia DoS.</a:t>
            </a:r>
          </a:p>
        </p:txBody>
      </p:sp>
      <p:sp>
        <p:nvSpPr>
          <p:cNvPr id="51" name="Rounded Rectangle 146"/>
          <p:cNvSpPr/>
          <p:nvPr/>
        </p:nvSpPr>
        <p:spPr>
          <a:xfrm>
            <a:off x="6400800" y="3840480"/>
            <a:ext cx="2194560" cy="1280160"/>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147"/>
          <p:cNvSpPr/>
          <p:nvPr/>
        </p:nvSpPr>
        <p:spPr>
          <a:xfrm>
            <a:off x="6537960" y="3995928"/>
            <a:ext cx="73152" cy="274320"/>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148"/>
          <p:cNvSpPr txBox="1"/>
          <p:nvPr/>
        </p:nvSpPr>
        <p:spPr>
          <a:xfrm>
            <a:off x="6693408" y="3950208"/>
            <a:ext cx="1828800" cy="365760"/>
          </a:xfrm>
          <a:prstGeom prst="rect">
            <a:avLst/>
          </a:prstGeom>
          <a:noFill/>
        </p:spPr>
        <p:txBody>
          <a:bodyPr wrap="square" lIns="0" rIns="0" tIns="0" bIns="0" anchor="ctr">
            <a:spAutoFit/>
          </a:bodyPr>
          <a:lstStyle/>
          <a:p>
            <a:pPr algn="l"/>
            <a:r>
              <a:rPr sz="1200" b="0" i="0">
                <a:solidFill>
                  <a:srgbClr val="0B2438"/>
                </a:solidFill>
                <a:latin typeface="Georgia"/>
              </a:rPr>
              <a:t>Nessun trasferimento</a:t>
            </a:r>
          </a:p>
        </p:txBody>
      </p:sp>
      <p:sp>
        <p:nvSpPr>
          <p:cNvPr id="54" name="TextBox 149"/>
          <p:cNvSpPr txBox="1"/>
          <p:nvPr/>
        </p:nvSpPr>
        <p:spPr>
          <a:xfrm>
            <a:off x="6537960" y="4389120"/>
            <a:ext cx="1938528" cy="731520"/>
          </a:xfrm>
          <a:prstGeom prst="rect">
            <a:avLst/>
          </a:prstGeom>
          <a:noFill/>
        </p:spPr>
        <p:txBody>
          <a:bodyPr wrap="square" lIns="0" rIns="0" tIns="0" bIns="0" anchor="t">
            <a:spAutoFit/>
          </a:bodyPr>
          <a:lstStyle/>
          <a:p>
            <a:pPr algn="l"/>
            <a:r>
              <a:rPr sz="1000" b="0" i="0">
                <a:solidFill>
                  <a:srgbClr val="4A6478"/>
                </a:solidFill>
                <a:latin typeface="Segoe UI"/>
              </a:rPr>
              <a:t>Il modello è addestrato su una rete: per un’altra serve una nuova baseline (sezione 9, disattivata di default).</a:t>
            </a:r>
          </a:p>
        </p:txBody>
      </p:sp>
      <p:sp>
        <p:nvSpPr>
          <p:cNvPr id="55" name="Rounded Rectangle 150"/>
          <p:cNvSpPr/>
          <p:nvPr/>
        </p:nvSpPr>
        <p:spPr>
          <a:xfrm>
            <a:off x="8732520" y="3840480"/>
            <a:ext cx="2194560" cy="1280160"/>
          </a:xfrm>
          <a:prstGeom prst="roundRect">
            <a:avLst>
              <a:gd name="adj" fmla="val 8000"/>
            </a:avLst>
          </a:prstGeom>
          <a:solidFill>
            <a:srgbClr val="FFFFFF"/>
          </a:solidFill>
          <a:ln w="9525">
            <a:solidFill>
              <a:srgbClr val="D6E3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151"/>
          <p:cNvSpPr/>
          <p:nvPr/>
        </p:nvSpPr>
        <p:spPr>
          <a:xfrm>
            <a:off x="8869680" y="3995928"/>
            <a:ext cx="73152" cy="274320"/>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152"/>
          <p:cNvSpPr txBox="1"/>
          <p:nvPr/>
        </p:nvSpPr>
        <p:spPr>
          <a:xfrm>
            <a:off x="9025128" y="3950208"/>
            <a:ext cx="1828800" cy="365760"/>
          </a:xfrm>
          <a:prstGeom prst="rect">
            <a:avLst/>
          </a:prstGeom>
          <a:noFill/>
        </p:spPr>
        <p:txBody>
          <a:bodyPr wrap="square" lIns="0" rIns="0" tIns="0" bIns="0" anchor="ctr">
            <a:spAutoFit/>
          </a:bodyPr>
          <a:lstStyle/>
          <a:p>
            <a:pPr algn="l"/>
            <a:r>
              <a:rPr sz="1200" b="0" i="0">
                <a:solidFill>
                  <a:srgbClr val="0B2438"/>
                </a:solidFill>
                <a:latin typeface="Georgia"/>
              </a:rPr>
              <a:t>Solo feature di flusso</a:t>
            </a:r>
          </a:p>
        </p:txBody>
      </p:sp>
      <p:sp>
        <p:nvSpPr>
          <p:cNvPr id="58" name="TextBox 153"/>
          <p:cNvSpPr txBox="1"/>
          <p:nvPr/>
        </p:nvSpPr>
        <p:spPr>
          <a:xfrm>
            <a:off x="8869680" y="4389120"/>
            <a:ext cx="1938528" cy="731520"/>
          </a:xfrm>
          <a:prstGeom prst="rect">
            <a:avLst/>
          </a:prstGeom>
          <a:noFill/>
        </p:spPr>
        <p:txBody>
          <a:bodyPr wrap="square" lIns="0" rIns="0" tIns="0" bIns="0" anchor="t">
            <a:spAutoFit/>
          </a:bodyPr>
          <a:lstStyle/>
          <a:p>
            <a:pPr algn="l"/>
            <a:r>
              <a:rPr sz="1000" b="0" i="0">
                <a:solidFill>
                  <a:srgbClr val="4A6478"/>
                </a:solidFill>
                <a:latin typeface="Segoe UI"/>
              </a:rPr>
              <a:t>Niente payload né sequenza di flussi: scan, brute force e bot sembrano normali un flusso alla volta.</a:t>
            </a:r>
          </a:p>
        </p:txBody>
      </p:sp>
      <p:sp>
        <p:nvSpPr>
          <p:cNvPr id="59" name="Rounded Rectangle 154"/>
          <p:cNvSpPr/>
          <p:nvPr/>
        </p:nvSpPr>
        <p:spPr>
          <a:xfrm>
            <a:off x="6400800" y="5230368"/>
            <a:ext cx="4553712" cy="457200"/>
          </a:xfrm>
          <a:prstGeom prst="roundRect">
            <a:avLst>
              <a:gd name="adj" fmla="val 30000"/>
            </a:avLst>
          </a:prstGeom>
          <a:solidFill>
            <a:srgbClr val="D6E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155"/>
          <p:cNvSpPr txBox="1"/>
          <p:nvPr/>
        </p:nvSpPr>
        <p:spPr>
          <a:xfrm>
            <a:off x="6510528" y="5230368"/>
            <a:ext cx="4334256" cy="457200"/>
          </a:xfrm>
          <a:prstGeom prst="rect">
            <a:avLst/>
          </a:prstGeom>
          <a:noFill/>
        </p:spPr>
        <p:txBody>
          <a:bodyPr wrap="square" lIns="0" rIns="0" tIns="0" bIns="0" anchor="ctr">
            <a:spAutoFit/>
          </a:bodyPr>
          <a:lstStyle/>
          <a:p>
            <a:pPr algn="l"/>
            <a:r>
              <a:rPr sz="1000" b="1" i="0">
                <a:solidFill>
                  <a:srgbClr val="0C649C"/>
                </a:solidFill>
                <a:latin typeface="Segoe UI"/>
              </a:rPr>
              <a:t>Sviluppo futuro: </a:t>
            </a:r>
            <a:r>
              <a:rPr sz="1000" b="0" i="0">
                <a:solidFill>
                  <a:srgbClr val="0B2438"/>
                </a:solidFill>
                <a:latin typeface="Segoe UI"/>
              </a:rPr>
              <a:t>affiancare un EDR (agente sull’host: processi, utenti, payload decifrato)</a:t>
            </a:r>
          </a:p>
        </p:txBody>
      </p:sp>
      <p:sp>
        <p:nvSpPr>
          <p:cNvPr id="61" name="Rounded Rectangle 156"/>
          <p:cNvSpPr/>
          <p:nvPr/>
        </p:nvSpPr>
        <p:spPr>
          <a:xfrm>
            <a:off x="1234440" y="5760720"/>
            <a:ext cx="9720072" cy="566928"/>
          </a:xfrm>
          <a:prstGeom prst="roundRect">
            <a:avLst>
              <a:gd name="adj" fmla="val 25000"/>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157"/>
          <p:cNvSpPr txBox="1"/>
          <p:nvPr/>
        </p:nvSpPr>
        <p:spPr>
          <a:xfrm>
            <a:off x="1371600" y="5760720"/>
            <a:ext cx="9445752" cy="566928"/>
          </a:xfrm>
          <a:prstGeom prst="rect">
            <a:avLst/>
          </a:prstGeom>
          <a:noFill/>
        </p:spPr>
        <p:txBody>
          <a:bodyPr wrap="square" lIns="0" rIns="0" tIns="0" bIns="0" anchor="ctr">
            <a:spAutoFit/>
          </a:bodyPr>
          <a:lstStyle/>
          <a:p>
            <a:pPr algn="ctr"/>
            <a:r>
              <a:rPr sz="1300" b="0" i="1">
                <a:solidFill>
                  <a:srgbClr val="FFFFFF"/>
                </a:solidFill>
                <a:latin typeface="Georgia"/>
              </a:rPr>
              <a:t>Un secondo livello non sostituisce il classificatore: rende visibile una parte degli zero-day, a un costo di falsi allarmi misurato.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IDS ibrido per il traffico di rete</dc:title>
  <dc:subject>PptxGenJS Presentation</dc:subject>
  <dc:creator>PptxGenJS</dc:creator>
  <cp:lastModifiedBy>PptxGenJS</cp:lastModifiedBy>
  <cp:revision>1</cp:revision>
  <dcterms:created xsi:type="dcterms:W3CDTF">2026-10-08T08:44:45Z</dcterms:created>
  <dcterms:modified xsi:type="dcterms:W3CDTF">2026-10-08T08:44:45Z</dcterms:modified>
</cp:coreProperties>
</file>